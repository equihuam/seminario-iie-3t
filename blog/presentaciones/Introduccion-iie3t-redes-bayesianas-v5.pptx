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2.xml" ContentType="application/vnd.openxmlformats-officedocument.presentationml.slide+xml"/>
  <Override PartName="/ppt/notesSlides/notesSlide12.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72" r:id="rId23"/>
    <p:sldId id="267" r:id="rId13"/>
    <p:sldId id="268" r:id="rId14"/>
    <p:sldId id="269" r:id="rId15"/>
    <p:sldId id="270" r:id="rId16"/>
    <p:sldId id="271" r:id="rId17"/>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AFAF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423"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3.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7.xml"/><Relationship Id="rId2" Type="http://schemas.openxmlformats.org/officeDocument/2006/relationships/slide" Target="slides/slide1.xml"/><Relationship Id="rId16" Type="http://schemas.openxmlformats.org/officeDocument/2006/relationships/slide" Target="slides/slide16.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5.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4.xml"/><Relationship Id="rId22" Type="http://schemas.openxmlformats.org/officeDocument/2006/relationships/tableStyles" Target="tableStyles.xml"/><Relationship Id="rId23"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Type="http://schemas.openxmlformats.org/officeDocument/2006/relationships/slide" Target="../slides/slide12.xml" Id="Rb922f3a065d1482d" /><Relationship Type="http://schemas.openxmlformats.org/officeDocument/2006/relationships/notesMaster" Target="../notesMasters/notesMaster1.xml" Id="Ref858e1d5b084473"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Fuente: iie-teoria/iie-teoria.qmd, documento de trabajo del equipo, versión 2e3d3773b0f67a09a9f0935804ccf79d19450ca4, §§3–5, 8 y 21. Marco conceptual y propuestas, no validación empírica de este ejemplo. Antecedente didáctico: presentación v3 y docs/FUENTES-Y-DECISIONES.md, D14–D15.</a:t>
            </a:r>
          </a:p>
          <a:p>
            <a:r>
              <a:t>Objetivos: distinguir contexto, detección y condición; explicar una actualización del diagnóstico; reconocer qué se repite por sitio y qué requiere tiempo. Público sin formación numérica formal. Ruta orientativa de 30–40 minutos, adaptable. La diapositiva 12 puede reservarse para una segunda conversación. Portada: presentaciones/img/portada_integridad_redes_es.jpg, ilustración generada y aprobada en P043. Su red es evocativa, no un modelo formal del IIE.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Fuente: iie-teoria/iie-teoria.qmd, documento de trabajo del equipo, versión 2e3d3773b0f67a09a9f0935804ccf79d19450ca4, §§3–5, 8 y 21. Marco conceptual y propuestas, no validación empírica de este ejemplo. Antecedente didáctico: presentación v3 y docs/FUENTES-Y-DECISIONES.md, D14–D15.</a:t>
            </a:r>
          </a:p>
          <a:p>
            <a:r>
              <a:t>Caso hipotético, sin datos ni umbrales definidos. Pedir una respuesta inicial de treinta segundos. Una regeneración observada baja puede sugerir deterioro, pero también depende de historia, contexto, esfuerzo y error de observación. La actividad pide reconocer información faltante, no etiquetar un bosque como degradado.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Fuente: iie-teoria/iie-teoria.qmd, documento de trabajo del equipo, versión 2e3d3773b0f67a09a9f0935804ccf79d19450ca4, §§3–5, 8 y 21. Marco conceptual y propuestas, no validación empírica de este ejemplo. Antecedente didáctico: presentación v3 y docs/FUENTES-Y-DECISIONES.md, D14–D15.</a:t>
            </a:r>
          </a:p>
          <a:p>
            <a:r>
              <a:t>Fuente específica: §3.4, correspondencia funcional entre diagnóstico médico y ecosistémico. También: Equihua Zamora, Miguel; Pérez-Maqueo, Octavio; Equihua Benítez, Ana, Integridad ecosistémica: el tejido de la vida y la salud, manuscrito referencias/Salud_e_integridad-entrrega-2.docx, pasaje de apariencia corporal y campo de golf. Dos personas de aspecto musculoso pueden requerir pruebas para distinguir su condición. El verdor de un campo de golf no permite estimar cuánto conserva de los procesos del ecosistema reemplazado. La analogía no implica un organismo literal ni un estado sano universal. Mantener como preguntas distintas diagnóstico, etiología, pronóstico y tratamiento. Evitar introducir autopoiesis como requisito formal del IIE operativo. El énfasis de Margulis en la simbiosis invita a considerar a los organismos junto con sus asociaciones con otros seres vivos. Las relaciones con microorganismos pueden contribuir a su nutrición y a su capacidad de vivir en determinados ambientes. Esta perspectiva ayuda a formular preguntas sobre funciones que dependen de relaciones. Fuentes: O’Malley, M. A. (2017), From endosymbiosis to holobionts: Evaluating a conceptual legacy, Journal of Theoretical Biology 434:34–41, https://doi.org/10.1016/j.jtbi.2017.03.008; Koide, R. T. (2023; en línea 2022), On Holobionts, Holospecies, and Holoniches, Microbial Ecology 85:1143–1149, https://doi.org/10.1007/s00248-022-02005-9. El legado conceptual y los ejemplos funcionales motivan preguntas; no validan por sí mismos el IIE ni implican que todo ecosistema sea un organismo.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Fuente: iie-teoria/iie-teoria.qmd, documento de trabajo del equipo, versión 2e3d3773b0f67a09a9f0935804ccf79d19450ca4, §§3–5, 8 y 21. Marco conceptual y propuestas, no validación empírica de este ejemplo. Antecedente didáctico: presentación v3 y docs/FUENTES-Y-DECISIONES.md, D14–D15.</a:t>
            </a:r>
          </a:p>
          <a:p>
            <a:r>
              <a:t>X, Y y Z pueden representar conjuntos de variables. La capa de detección reúne atributos medidos; sensores y muestreo pertenecen al proceso de observación. Separar condición, estado biótico real, existencias y observaciones cuando la pregunta lo requiera. Estructura, composición y función describen atributos, no son los nombres de las capas.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Fuente: iie-teoria/iie-teoria.qmd, documento de trabajo del equipo, versión 2e3d3773b0f67a09a9f0935804ccf79d19450ca4, §§3–5, 8 y 21. Marco conceptual y propuestas, no validación empírica de este ejemplo. Antecedente didáctico: presentación v3 y docs/FUENTES-Y-DECISIONES.md, D14–D15.</a:t>
            </a:r>
          </a:p>
          <a:p>
            <a:r>
              <a:t>La analogía de la pecera procede del manuscrito de Equihua Zamora, Pérez-Maqueo y Equihua Benítez, referencias/Salud_e_integridad-entrrega-2.docx, capítulo ¿Por qué hay ecosistemas distintos? Acumulaciones, flujos y retardos: https://donellameadows.org/systems-thinking-resources/. Un cambio de alimentación puede producir efectos posteriores en la calidad del agua. Una señal aislada puede ser insuficiente, sin implicar que siempre fracase. Aquí se usa como motivación de interdependencias, no como validación de una arquitectura causal. Una red bayesiana especifica una distribución conjunta sobre las variables incluidas. El DAG expresa una factorización e independencias supuestas. Un DAG no garantiza inferencia exacta eficiente. Formalización opcional para el facilitador: P(V_1,...,V_n)=producto_i P(V_i|padres(V_i)). La conjunta refiere a las variables incluidas, no al ecosistema completo. Los parámetros completan la especificación del grafo.</a:t>
            </a:r>
          </a:p>
          <a:p>
            <a:r>
              <a:t>Imagen reutilizada: presentaciones/img/sistemico_pecera_microcosmos_es.jpg, generada para v4. Ilustración de interconexiones, no balance químico validado. Sus rótulos pequeños no constituyen contenido exigible; términos como autosostenible no demuestran cierre material ni autosuficiencia de una pecera.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Fuente: iie-teoria/iie-teoria.qmd, documento de trabajo del equipo, versión 2e3d3773b0f67a09a9f0935804ccf79d19450ca4, §§3–5, 8 y 21. Marco conceptual y propuestas, no validación empírica de este ejemplo. Antecedente didáctico: presentación v3 y docs/FUENTES-Y-DECISIONES.md, D14–D15.</a:t>
            </a:r>
          </a:p>
          <a:p>
            <a:r>
              <a:t>El arco X→Z permanece en evaluación. Su trazo discontinuo es una anotación editorial de incertidumbre estructural. Cada modelo que se calcule incluye o excluye ese arco. Los arcos continuos tampoco demuestran causalidad. No resolver aquí la cuestión mediante una prueba no significativa.</a:t>
            </a:r>
          </a:p>
          <a:p>
            <a:r>
              <a:t>Simplificación pedagógica: X y Z parametrizan la distribución de Y. La inferencia p(Z|X,Y) aplica Bayes y no invierte el DAG. El nodo Z es condición latente, no equivale al estado biótico real. En una versión más detallada se separan estado real y observación.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Fuente: iie-teoria/iie-teoria.qmd, documento de trabajo del equipo, versión 2e3d3773b0f67a09a9f0935804ccf79d19450ca4, §§3–5, 8 y 21. Marco conceptual y propuestas, no validación empírica de este ejemplo. Antecedente didáctico: presentación v3 y docs/FUENTES-Y-DECISIONES.md, D14–D15.</a:t>
            </a:r>
          </a:p>
          <a:p>
            <a:r>
              <a:t>Ejemplo hipotético creado para enseñar actualización bayesiana. X=x es un contexto fijado. Z tiene estados favorable y alterada; Y es una observación de regeneración con estados alta y baja. Se estipula P(Z=favorable|X=x)=0.5, P(Y=alta|Z=favorable,X=x)=0.8 y P(Y=alta|Z=alterada,X=x)=0.2. Las categorías no son clases expertas del IIE, no establecen umbrales de campo y no representan una calibración empírica. Se simplifican deliberadamente estado biótico real y proceso de observación dentro de la distribución de Y.</a:t>
            </a:r>
          </a:p>
          <a:p>
            <a:r>
              <a:t>Definir primero los estados y leer una fila completa. Al observar, comparamos qué tan esperable sería esa señal bajo cada condición. Este es el puente intuitivo a la verosimilitud. Comprobación: si la regeneración no es alta, ¿qué probabilidad queda en cada fila? Respuesta: 0.2 y 0.8. La probabilidad de una observación bajo una condición no es automáticamente la probabilidad de esa condición dada la observación.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Fuente: iie-teoria/iie-teoria.qmd, documento de trabajo del equipo, versión 2e3d3773b0f67a09a9f0935804ccf79d19450ca4, §§3–5, 8 y 21. Marco conceptual y propuestas, no validación empírica de este ejemplo. Antecedente didáctico: presentación v3 y docs/FUENTES-Y-DECISIONES.md, D14–D15.</a:t>
            </a:r>
          </a:p>
          <a:p>
            <a:r>
              <a:t>Ejemplo hipotético creado para enseñar actualización bayesiana. X=x es un contexto fijado. Z tiene estados favorable y alterada; Y es una observación de regeneración con estados alta y baja. Se estipula P(Z=favorable|X=x)=0.5, P(Y=alta|Z=favorable,X=x)=0.8 y P(Y=alta|Z=alterada,X=x)=0.2. Las categorías no son clases expertas del IIE, no establecen umbrales de campo y no representan una calibración empírica. Se simplifican deliberadamente estado biótico real y proceso de observación dentro de la distribución de Y.</a:t>
            </a:r>
          </a:p>
          <a:p>
            <a:r>
              <a:t>A priori: probabilidades antes de incorporar esta observación, que pueden apoyarse en datos anteriores. A posteriori: probabilidades actualizadas con esa evidencia según el modelo. El diagnóstico cambia nuestro conocimiento, no implica un cambio del ecosistema. Cálculo: P(Y=alta|x)=0.5×0.8+0.5×0.2=0.5. P(Z=favorable|Y=alta,x)=0.4/0.5=0.8; alterada=0.2. Con Y=baja, favorable=0.2. Si el prior favorable fuese 0.2, la misma observación daría 0.16/(0.16+0.16)=0.5. Esta sensibilidad permite explicar el papel del conocimiento previo sin afirmar que una única señal sea diagnóstica por sí sola.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Fuente: iie-teoria/iie-teoria.qmd, documento de trabajo del equipo, versión 2e3d3773b0f67a09a9f0935804ccf79d19450ca4, §§3–5, 8 y 21. Marco conceptual y propuestas, no validación empírica de este ejemplo. Antecedente didáctico: presentación v3 y docs/FUENTES-Y-DECISIONES.md, D14–D15.</a:t>
            </a:r>
          </a:p>
          <a:p>
            <a:r>
              <a:t>Fuente: §16.2 y revisión conceptual del ejemplo climático. La distribución observacional no identifica por sí sola efectos de intervención. El grafo puede ayudar a formular qué medir y qué hipótesis contrastar. No toda variable informativa es manipulable. Distinguir además una evaluación causal de una decisión, que requiere objetivos, costos y restricciones.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Fuente: iie-teoria/iie-teoria.qmd, documento de trabajo del equipo, versión 2e3d3773b0f67a09a9f0935804ccf79d19450ca4, §§3–5, 8 y 21. Marco conceptual y propuestas, no validación empírica de este ejemplo. Antecedente didáctico: presentación v3 y docs/FUENTES-Y-DECISIONES.md, D14–D15.</a:t>
            </a:r>
          </a:p>
          <a:p>
            <a:r>
              <a:t>El arco X→Z permanece en evaluación. Su trazo discontinuo es una anotación editorial de incertidumbre estructural. Cada modelo que se calcule incluye o excluye ese arco. Los arcos continuos tampoco demuestran causalidad. No resolver aquí la cuestión mediante una prueba no significativa.</a:t>
            </a:r>
          </a:p>
          <a:p>
            <a:r>
              <a:t>Antecedente: v3, diapositivas 7–9. i recorre M sitios. θ representa aquí únicamente parámetros compartidos de p(Y_i|X_i,Z_i). El rectángulo expresa repetición; no impone por sí mismo independencia espacial. En esta simplificación las observaciones son independientes entre sitios dadas las condiciones, contextos y parámetros. La evaluación del modelo debe considerar dependencia espacial si existe.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Fuente: iie-teoria/iie-teoria.qmd, documento de trabajo del equipo, versión 2e3d3773b0f67a09a9f0935804ccf79d19450ca4, §§3–5, 8 y 21. Marco conceptual y propuestas, no validación empírica de este ejemplo. Antecedente didáctico: presentación v3 y docs/FUENTES-Y-DECISIONES.md, D14–D15.</a:t>
            </a:r>
          </a:p>
          <a:p>
            <a:r>
              <a:t>Fuente gráfica: img/Mapa_México_Página_3.png, original del equipo usado en v3, D15; rotulado 2018. Se conserva completa su leyenda y proporciones. No inferir resolución, fórmula o validación del mapa a partir de esta imagen. La escala 0–1 del índice no se redefine como probabilidad. El mapa ilustra la aplicación repetida, no verifica aquí el DAG operativo.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Fuentes: presentaciones/img/ie_2018_st_v2.tif y zvh-mx3qw-mexico-Albers.tif, aportados por Miguel. Figura: presentaciones/img/iie-2018-pixeles-holdridge.png, con ajuste gráfico de Miguel aprobado en P-ME-062. Procedencia y método en presentaciones/figura-iie-pixeles.md y JSON homónimo. IIE: celdas nativas de 250 m; Holdridge: aproximadamente 850 m. Detalle de 64 valores originales, redondeados a dos decimales; asignación de clases por vecino más cercano al centro de celda. El triángulo amarillo conecta visualmente el lugar y su ampliación: no representa una región ecológica ni cambia los valores del mapa. Códigos 18 y 22 sin catálogo nominal aportado. Paleta propuesta. La escala 0–1 expresa un índice sintético, no porcentaje determinista ni probabilidad escalar pura. θ permanece fijo según la descripción del equipo; no se ejecuta nuevamente el modelo. X reúne contexto y Y detección. Los rectángulos indican repetición de clases j y de sus píxeles i; no son un DAG ni demuestran independencia espacial. Compartir una clase no obliga a obtener el mismo IIE. Pregunta: ¿por qué dos píxeles de la misma clase pueden tener distinto IIE? Respuesta esperada: pueden diferir las detecciones y otras covariables. No se puede atribuir la diferencia a una causa concreta solo a partir del mapa. La distribución posterior no está disponible en estos GeoTIFF. Los rótulos de detalle pueden ampliarse durante la exposición.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Fuente: iie-teoria/iie-teoria.qmd, documento de trabajo del equipo, versión 2e3d3773b0f67a09a9f0935804ccf79d19450ca4, §§3–5, 8 y 21. Marco conceptual y propuestas, no validación empírica de este ejemplo. Antecedente didáctico: presentación v3 y docs/FUENTES-Y-DECISIONES.md, D14–D15.</a:t>
            </a:r>
          </a:p>
          <a:p>
            <a:r>
              <a:t>El arco X→Z permanece en evaluación. Su trazo discontinuo es una anotación editorial de incertidumbre estructural. Cada modelo que se calcule incluye o excluye ese arco. Los arcos continuos tampoco demuestran causalidad. No resolver aquí la cuestión mediante una prueba no significativa.</a:t>
            </a:r>
          </a:p>
          <a:p>
            <a:r>
              <a:t>Profundización opcional, antecedente v3 diapositiva 11 y D15. j recorre J zonas o clases; i recorre n_j píxeles de j. Cada píxel pertenece a una sola clase en esta simplificación. X_j es el componente compartido del contexto, otras covariables pueden variar localmente. Las clases pueden ser discontinuas; no se infieren efectos aleatorios ni independencia espacial de la notación. θ reúne parámetros compartidos de observación.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Fuente: iie-teoria/iie-teoria.qmd, documento de trabajo del equipo, versión 2e3d3773b0f67a09a9f0935804ccf79d19450ca4, §§3–5, 8 y 21. Marco conceptual y propuestas, no validación empírica de este ejemplo. Antecedente didáctico: presentación v3 y docs/FUENTES-Y-DECISIONES.md, D14–D15.</a:t>
            </a:r>
          </a:p>
          <a:p>
            <a:r>
              <a:t>Fuente: iie-teoria §§12–14 y docs/REVISION-CONCEPTUAL-CLIMA.md. Murphy, Kevin P. (2002), Dynamic Bayesian Networks, introducción y §2, https://www.cs.ubc.ca/~murphyk/Papers/dbnchapter.pdf. Las DBN permiten representar influencias retardadas sin ciclos dirigidos en el grafo desplegado. La aciclicidad no garantiza inferencia exacta sencilla; existen métodos exactos y aproximados. Esquema hipotético para ilustrar una DBN, no implementación del IIE. V es vegetación y S es humedad del suelo. V_t→S_(t+1) y S_t→V_(t+1) representan influencias recíprocas retardadas propuestas. Para un modelo ejecutable faltan distribución inicial, probabilidades de transición, observación y justificación de retardos; persistencia propia y causas externas pueden añadirse. El grafo desplegado sigue siendo acíclico. Una actualización de evidencia en una red estática no constituye una transición temporal.</a:t>
            </a:r>
          </a:p>
          <a:p>
            <a:r>
              <a:t>Ilustración creada para esta diapositiva: presentaciones/img/bosque-suelo-transicion-v5.png. Dos escenas evocan el mismo bosque y suelo en momentos sucesivos; los cambios visuales son ilustrativos, no observaciones ni predicciones. Sin letras ni flechas incrustadas: los símbolos y conexiones son objetos nativos editables. Los cruces de líneas no son nodos. V_t→S_(t+1) y S_t→V_(t+1) son hipótesis de influencias retardadas, no inferidas de la imagen. No se afirma recuperación ni degradación, ni que el fragmento incluya todas las dependencias de una DBN. Para explicitar un recorrido de retorno, continuar mentalmente V_t→S_(t+1)→V_(t+2).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Fuente: iie-teoria/iie-teoria.qmd, documento de trabajo del equipo, versión 2e3d3773b0f67a09a9f0935804ccf79d19450ca4, §§3–5, 8 y 21. Marco conceptual y propuestas, no validación empírica de este ejemplo. Antecedente didáctico: presentación v3 y docs/FUENTES-Y-DECISIONES.md, D14–D15.</a:t>
            </a:r>
          </a:p>
          <a:p>
            <a:r>
              <a:t>Fuente específica: §21.3, 21.4, 21.7, 21.18–21.23 y 21.26. La experiencia operativa combina anclaje experto y dependencias entre indicadores representadas por TAN. No implica estimar primero un vector completo y después agregarlo. TAN significa Tree Augmented Naive Bayes y no identifica mecanismos causales ecológicos por sus arcos. Conservar incertidumbre y justificar clases, puntuaciones, referencia y validación independiente.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Fuente: iie-teoria/iie-teoria.qmd, documento de trabajo del equipo, versión 2e3d3773b0f67a09a9f0935804ccf79d19450ca4, §§3–5, 8 y 21. Marco conceptual y propuestas, no validación empírica de este ejemplo. Antecedente didáctico: presentación v3 y docs/FUENTES-Y-DECISIONES.md, D14–D15.</a:t>
            </a:r>
          </a:p>
          <a:p>
            <a:r>
              <a:t>Actividad de cinco minutos, en parejas. Respuestas esperadas: (1) cobertura semejante no basta; contexto, regeneración, otras señales y observación pueden modificar el diagnóstico. (2) El nuevo sitio añade X_(M+1),Y_(M+1),Z_(M+1) y cambia M a M+1; θ permanece compartido si aplicamos el mismo modelo fijado. (3) Observar nueva evidencia modifica la posterior, no los mecanismos ecológicos. Para evaluar extracción se requiere una estructura causal y para futuro una transición temporal. Recoger una explicación oral y una pregunta sin resolver. Si confunden señal y condición, volver a diapositiva 4; si invierten arcos, volver a 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Fuente: blog/semillero/index.qmd y plantilla.qmd, piloto acordado en P025–P027. Dar dos minutos para redactar una pregunta y por qué importa. La coordinación registra la atribución acordada. Revisor y didacta valoran la precisión conceptual y el aprendizaje posible. Una pregunta que requiera más desarrollo se vincula a una exploración, conservando su origen. No exigir completar una página.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FDC75C44-530C-4810-B9D5-1167BEDE84DB}"/>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4F5922AC-F9C6-46BA-BADF-4E32C0F9DC50}"/>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1C067500-6E24-4500-8465-6396DDA50358}"/>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CA4A07F9-9383-4976-BD5B-AE2857BAA264}"/>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073F8D5F-40A5-46DE-8FF1-85933B4E8AC1}"/>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E6174FEE-8958-44D9-B6CA-05B3D998F9BB}"/>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8E2BA43A-609C-4FA1-952D-30654A8DB139}"/>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52FED53C-16C1-4748-BEEC-180FBEFD04C1}"/>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150DC50D-9078-4339-A0B6-4B240335FEEE}"/>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7C1666B3-5D8B-436D-86B3-7D8870AC5E6C}"/>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Relationships xmlns="http://schemas.openxmlformats.org/package/2006/relationships"><Relationship Type="http://schemas.openxmlformats.org/officeDocument/2006/relationships/slideLayout" Target="../slideLayouts/slideLayout6.xml" Id="R2e2b564ff57a40fc" /><Relationship Type="http://schemas.openxmlformats.org/officeDocument/2006/relationships/image" Target="../media/iie-pixeles-aprobado.png" Id="R554695027aec4b9f" /><Relationship Type="http://schemas.openxmlformats.org/officeDocument/2006/relationships/notesSlide" Target="../notesSlides/notesSlide12.xml" Id="Ra37971c4cc2e4d93" /></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5" name="obj-1">
            <a:extLst>
              <a:ext uri="{FF2B5EF4-FFF2-40B4-BE49-F238E27FC236}">
                <a16:creationId xmlns:a16="http://schemas.microsoft.com/office/drawing/2014/main" id="{1D9403C1-968A-4C38-8E88-CCFE8FB01D05}"/>
              </a:ext>
            </a:extLst>
          </p:cNvPr>
          <p:cNvSpPr>
            <a:spLocks noGrp="1"/>
          </p:cNvSpPr>
          <p:nvPr/>
        </p:nvSpPr>
        <p:spPr>
          <a:xfrm>
            <a:off x="609600" y="381000"/>
            <a:ext cx="10953750" cy="762000"/>
          </a:xfrm>
          <a:prstGeom prst="rect">
            <a:avLst/>
          </a:prstGeom>
          <a:noFill/>
          <a:ln w="0">
            <a:noFill/>
            <a:prstDash val="solid"/>
          </a:ln>
        </p:spPr>
        <p:txBody>
          <a:bodyPr wrap="square" lIns="0" tIns="0" rIns="0" bIns="0">
            <a:noAutofit/>
          </a:bodyPr>
          <a:lstStyle>
            <a:defPPr>
              <a:defRPr sz="3300" b="1">
                <a:solidFill>
                  <a:srgbClr val="18343A"/>
                </a:solidFill>
                <a:latin typeface="Arial"/>
                <a:ea typeface="Arial"/>
                <a:cs typeface="Arial"/>
              </a:defRPr>
            </a:defPPr>
          </a:lstStyle>
          <a:p>
            <a:pPr>
              <a:defRPr sz="3300" b="1">
                <a:solidFill>
                  <a:srgbClr val="18343A"/>
                </a:solidFill>
                <a:latin typeface="Arial"/>
                <a:ea typeface="Arial"/>
                <a:cs typeface="Arial"/>
              </a:defRPr>
            </a:pPr>
            <a:r>
              <a:rPr sz="3300" b="1">
                <a:solidFill>
                  <a:srgbClr val="18343A"/>
                </a:solidFill>
                <a:latin typeface="Arial"/>
                <a:ea typeface="Arial"/>
                <a:cs typeface="Arial"/>
              </a:rPr>
              <a:t>Integridad ecosistémica y diagnóstico</a:t>
            </a:r>
          </a:p>
        </p:txBody>
      </p:sp>
      <p:sp>
        <p:nvSpPr>
          <p:cNvPr id="2" name="obj-2">
            <a:extLst>
              <a:ext uri="{FF2B5EF4-FFF2-40B4-BE49-F238E27FC236}">
                <a16:creationId xmlns:a16="http://schemas.microsoft.com/office/drawing/2014/main" id="{CD40A6F6-ACFB-4DF6-9EF1-1327B311E64C}"/>
              </a:ext>
            </a:extLst>
          </p:cNvPr>
          <p:cNvSpPr>
            <a:spLocks noGrp="1"/>
          </p:cNvSpPr>
          <p:nvPr/>
        </p:nvSpPr>
        <p:spPr>
          <a:xfrm>
            <a:off x="11144250" y="6410325"/>
            <a:ext cx="428625" cy="247650"/>
          </a:xfrm>
          <a:prstGeom prst="rect">
            <a:avLst/>
          </a:prstGeom>
          <a:noFill/>
          <a:ln w="0">
            <a:noFill/>
            <a:prstDash val="solid"/>
          </a:ln>
        </p:spPr>
        <p:txBody>
          <a:bodyPr wrap="square" lIns="0" tIns="0" rIns="0" bIns="0">
            <a:noAutofit/>
          </a:bodyPr>
          <a:lstStyle>
            <a:defPPr>
              <a:defRPr sz="1350" b="0">
                <a:solidFill>
                  <a:srgbClr val="52656A"/>
                </a:solidFill>
                <a:latin typeface="Arial"/>
                <a:ea typeface="Arial"/>
                <a:cs typeface="Arial"/>
              </a:defRPr>
            </a:defPPr>
          </a:lstStyle>
          <a:p>
            <a:pPr>
              <a:defRPr sz="1350" b="0">
                <a:solidFill>
                  <a:srgbClr val="52656A"/>
                </a:solidFill>
                <a:latin typeface="Arial"/>
                <a:ea typeface="Arial"/>
                <a:cs typeface="Arial"/>
              </a:defRPr>
            </a:pPr>
            <a:r>
              <a:rPr sz="1350" b="0">
                <a:solidFill>
                  <a:srgbClr val="52656A"/>
                </a:solidFill>
                <a:latin typeface="Arial"/>
                <a:ea typeface="Arial"/>
                <a:cs typeface="Arial"/>
              </a:rPr>
              <a:t>01</a:t>
            </a:r>
          </a:p>
        </p:txBody>
      </p:sp>
      <p:pic>
        <p:nvPicPr>
          <p:cNvPr id="3" name="Imagen 2">
            <a:extLst>
              <a:ext uri="{FF2B5EF4-FFF2-40B4-BE49-F238E27FC236}">
                <a16:creationId xmlns:a16="http://schemas.microsoft.com/office/drawing/2014/main" id="{39EBC6A9-8AB3-4D47-A91E-92D88C4655CF}"/>
              </a:ext>
            </a:extLst>
          </p:cNvPr>
          <p:cNvPicPr>
            <a:picLocks noChangeAspect="1"/>
          </p:cNvPicPr>
          <p:nvPr/>
        </p:nvPicPr>
        <p:blipFill>
          <a:blip r:embed="rId3"/>
          <a:stretch/>
        </p:blipFill>
        <p:spPr>
          <a:xfrm>
            <a:off x="1573609" y="1266825"/>
            <a:ext cx="9044781" cy="5048250"/>
          </a:xfrm>
          <a:prstGeom prst="rect">
            <a:avLst/>
          </a:prstGeom>
        </p:spPr>
      </p:pic>
      <p:sp>
        <p:nvSpPr>
          <p:cNvPr id="4" name="obj-3">
            <a:extLst>
              <a:ext uri="{FF2B5EF4-FFF2-40B4-BE49-F238E27FC236}">
                <a16:creationId xmlns:a16="http://schemas.microsoft.com/office/drawing/2014/main" id="{2DAC3368-1BF6-4DD9-BDCF-9CFC272E29D6}"/>
              </a:ext>
            </a:extLst>
          </p:cNvPr>
          <p:cNvSpPr>
            <a:spLocks noGrp="1"/>
          </p:cNvSpPr>
          <p:nvPr/>
        </p:nvSpPr>
        <p:spPr>
          <a:xfrm>
            <a:off x="609600" y="6429375"/>
            <a:ext cx="3810000" cy="238125"/>
          </a:xfrm>
          <a:prstGeom prst="rect">
            <a:avLst/>
          </a:prstGeom>
          <a:noFill/>
          <a:ln w="0">
            <a:noFill/>
            <a:prstDash val="solid"/>
          </a:ln>
        </p:spPr>
        <p:txBody>
          <a:bodyPr wrap="square" lIns="0" tIns="0" rIns="0" bIns="0">
            <a:noAutofit/>
          </a:bodyPr>
          <a:lstStyle>
            <a:defPPr>
              <a:defRPr sz="1425" b="0">
                <a:solidFill>
                  <a:srgbClr val="52656A"/>
                </a:solidFill>
                <a:latin typeface="Arial"/>
                <a:ea typeface="Arial"/>
                <a:cs typeface="Arial"/>
              </a:defRPr>
            </a:defPPr>
          </a:lstStyle>
          <a:p>
            <a:pPr>
              <a:defRPr sz="1425" b="0">
                <a:solidFill>
                  <a:srgbClr val="52656A"/>
                </a:solidFill>
                <a:latin typeface="Arial"/>
                <a:ea typeface="Arial"/>
                <a:cs typeface="Arial"/>
              </a:defRPr>
            </a:pPr>
            <a:r>
              <a:rPr sz="1425" b="0">
                <a:solidFill>
                  <a:srgbClr val="52656A"/>
                </a:solidFill>
                <a:latin typeface="Arial"/>
                <a:ea typeface="Arial"/>
                <a:cs typeface="Arial"/>
              </a:rPr>
              <a:t>Seminario IIE-3T</a:t>
            </a:r>
          </a:p>
        </p:txBody>
      </p:sp>
    </p:spTree>
    <p:extLst>
      <p:ext uri="{BB962C8B-B14F-4D97-AF65-F5344CB8AC3E}">
        <p14:creationId xmlns:p14="http://schemas.microsoft.com/office/powerpoint/2010/main" val="155753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7" name="obj-4">
            <a:extLst>
              <a:ext uri="{FF2B5EF4-FFF2-40B4-BE49-F238E27FC236}">
                <a16:creationId xmlns:a16="http://schemas.microsoft.com/office/drawing/2014/main" id="{2EEA7080-0CC8-42C0-9915-FE8B05F5BBCC}"/>
              </a:ext>
            </a:extLst>
          </p:cNvPr>
          <p:cNvSpPr>
            <a:spLocks noGrp="1"/>
          </p:cNvSpPr>
          <p:nvPr/>
        </p:nvSpPr>
        <p:spPr>
          <a:xfrm>
            <a:off x="609600" y="381000"/>
            <a:ext cx="10953750" cy="762000"/>
          </a:xfrm>
          <a:prstGeom prst="rect">
            <a:avLst/>
          </a:prstGeom>
          <a:noFill/>
          <a:ln w="0">
            <a:noFill/>
            <a:prstDash val="solid"/>
          </a:ln>
        </p:spPr>
        <p:txBody>
          <a:bodyPr wrap="square" lIns="0" tIns="0" rIns="0" bIns="0">
            <a:noAutofit/>
          </a:bodyPr>
          <a:lstStyle>
            <a:defPPr>
              <a:defRPr sz="3300" b="1">
                <a:solidFill>
                  <a:srgbClr val="18343A"/>
                </a:solidFill>
                <a:latin typeface="Arial"/>
                <a:ea typeface="Arial"/>
                <a:cs typeface="Arial"/>
              </a:defRPr>
            </a:defPPr>
          </a:lstStyle>
          <a:p>
            <a:pPr>
              <a:defRPr sz="3300" b="1">
                <a:solidFill>
                  <a:srgbClr val="18343A"/>
                </a:solidFill>
                <a:latin typeface="Arial"/>
                <a:ea typeface="Arial"/>
                <a:cs typeface="Arial"/>
              </a:defRPr>
            </a:pPr>
            <a:r>
              <a:rPr sz="3300" b="1">
                <a:solidFill>
                  <a:srgbClr val="18343A"/>
                </a:solidFill>
                <a:latin typeface="Arial"/>
                <a:ea typeface="Arial"/>
                <a:cs typeface="Arial"/>
              </a:rPr>
              <a:t>Dos bosques, una pregunta</a:t>
            </a:r>
          </a:p>
        </p:txBody>
      </p:sp>
      <p:sp>
        <p:nvSpPr>
          <p:cNvPr id="2" name="obj-5">
            <a:extLst>
              <a:ext uri="{FF2B5EF4-FFF2-40B4-BE49-F238E27FC236}">
                <a16:creationId xmlns:a16="http://schemas.microsoft.com/office/drawing/2014/main" id="{8A66889B-9BE3-41F7-BB5D-B1483A63E8BA}"/>
              </a:ext>
            </a:extLst>
          </p:cNvPr>
          <p:cNvSpPr>
            <a:spLocks noGrp="1"/>
          </p:cNvSpPr>
          <p:nvPr/>
        </p:nvSpPr>
        <p:spPr>
          <a:xfrm>
            <a:off x="11144250" y="6410325"/>
            <a:ext cx="428625" cy="247650"/>
          </a:xfrm>
          <a:prstGeom prst="rect">
            <a:avLst/>
          </a:prstGeom>
          <a:noFill/>
          <a:ln w="0">
            <a:noFill/>
            <a:prstDash val="solid"/>
          </a:ln>
        </p:spPr>
        <p:txBody>
          <a:bodyPr wrap="square" lIns="0" tIns="0" rIns="0" bIns="0">
            <a:noAutofit/>
          </a:bodyPr>
          <a:lstStyle>
            <a:defPPr>
              <a:defRPr sz="1350" b="0">
                <a:solidFill>
                  <a:srgbClr val="52656A"/>
                </a:solidFill>
                <a:latin typeface="Arial"/>
                <a:ea typeface="Arial"/>
                <a:cs typeface="Arial"/>
              </a:defRPr>
            </a:defPPr>
          </a:lstStyle>
          <a:p>
            <a:pPr>
              <a:defRPr sz="1350" b="0">
                <a:solidFill>
                  <a:srgbClr val="52656A"/>
                </a:solidFill>
                <a:latin typeface="Arial"/>
                <a:ea typeface="Arial"/>
                <a:cs typeface="Arial"/>
              </a:defRPr>
            </a:pPr>
            <a:r>
              <a:rPr sz="1350" b="0">
                <a:solidFill>
                  <a:srgbClr val="52656A"/>
                </a:solidFill>
                <a:latin typeface="Arial"/>
                <a:ea typeface="Arial"/>
                <a:cs typeface="Arial"/>
              </a:rPr>
              <a:t>02</a:t>
            </a:r>
          </a:p>
        </p:txBody>
      </p:sp>
      <p:graphicFrame>
        <p:nvGraphicFramePr>
          <p:cNvPr id="3" name="Tabla 2">
            <a:extLst>
              <a:ext uri="{FF2B5EF4-FFF2-40B4-BE49-F238E27FC236}">
                <a16:creationId xmlns:a16="http://schemas.microsoft.com/office/drawing/2014/main" id="{2902F96A-CE91-40D0-9D37-16A2C1BD8DA5}"/>
              </a:ext>
            </a:extLst>
          </p:cNvPr>
          <p:cNvGraphicFramePr/>
          <p:nvPr/>
        </p:nvGraphicFramePr>
        <p:xfrm>
          <a:off x="609600" y="1495425"/>
          <a:ext cx="10953750" cy="2400300"/>
        </p:xfrm>
        <a:graphic>
          <a:graphicData uri="http://schemas.openxmlformats.org/drawingml/2006/table">
            <a:tbl>
              <a:tblPr/>
              <a:tblGrid>
                <a:gridCol w="409575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tblGrid>
              <a:tr h="800100">
                <a:tc>
                  <a:txBody>
                    <a:bodyPr/>
                    <a:lstStyle/>
                    <a:p>
                      <a:pPr algn="l"/>
                      <a:r>
                        <a:rPr sz="2250" b="1">
                          <a:solidFill>
                            <a:srgbClr val="FFFFFF"/>
                          </a:solidFill>
                          <a:latin typeface="Arial"/>
                          <a:ea typeface="Arial"/>
                          <a:cs typeface="Arial"/>
                        </a:rPr>
                        <a:t>Observación</a:t>
                      </a:r>
                    </a:p>
                  </a:txBody>
                  <a:tcPr anchor="ctr">
                    <a:solidFill>
                      <a:srgbClr val="18343A"/>
                    </a:solidFill>
                  </a:tcPr>
                </a:tc>
                <a:tc>
                  <a:txBody>
                    <a:bodyPr/>
                    <a:lstStyle/>
                    <a:p>
                      <a:pPr algn="ctr"/>
                      <a:r>
                        <a:rPr sz="2250" b="1">
                          <a:solidFill>
                            <a:srgbClr val="FFFFFF"/>
                          </a:solidFill>
                          <a:latin typeface="Arial"/>
                          <a:ea typeface="Arial"/>
                          <a:cs typeface="Arial"/>
                        </a:rPr>
                        <a:t>Bosque A</a:t>
                      </a:r>
                    </a:p>
                  </a:txBody>
                  <a:tcPr anchor="ctr">
                    <a:solidFill>
                      <a:srgbClr val="18343A"/>
                    </a:solidFill>
                  </a:tcPr>
                </a:tc>
                <a:tc>
                  <a:txBody>
                    <a:bodyPr/>
                    <a:lstStyle/>
                    <a:p>
                      <a:pPr algn="ctr"/>
                      <a:r>
                        <a:rPr sz="2250" b="1">
                          <a:solidFill>
                            <a:srgbClr val="FFFFFF"/>
                          </a:solidFill>
                          <a:latin typeface="Arial"/>
                          <a:ea typeface="Arial"/>
                          <a:cs typeface="Arial"/>
                        </a:rPr>
                        <a:t>Bosque B</a:t>
                      </a:r>
                    </a:p>
                  </a:txBody>
                  <a:tcPr anchor="ctr">
                    <a:solidFill>
                      <a:srgbClr val="18343A"/>
                    </a:solidFill>
                  </a:tcPr>
                </a:tc>
                <a:extLst>
                  <a:ext uri="{0D108BD9-81ED-4DB2-BD59-A6C34878D82A}">
                    <a16:rowId xmlns:a16="http://schemas.microsoft.com/office/drawing/2014/main" val="10000"/>
                  </a:ext>
                </a:extLst>
              </a:tr>
              <a:tr h="800100">
                <a:tc>
                  <a:txBody>
                    <a:bodyPr/>
                    <a:lstStyle/>
                    <a:p>
                      <a:pPr algn="l"/>
                      <a:r>
                        <a:rPr sz="2250" b="0">
                          <a:solidFill>
                            <a:srgbClr val="18343A"/>
                          </a:solidFill>
                          <a:latin typeface="Arial"/>
                          <a:ea typeface="Arial"/>
                          <a:cs typeface="Arial"/>
                        </a:rPr>
                        <a:t>Cobertura del dosel</a:t>
                      </a:r>
                    </a:p>
                  </a:txBody>
                  <a:tcPr anchor="ctr">
                    <a:solidFill>
                      <a:srgbClr val="FFFFFF"/>
                    </a:solidFill>
                  </a:tcPr>
                </a:tc>
                <a:tc>
                  <a:txBody>
                    <a:bodyPr/>
                    <a:lstStyle/>
                    <a:p>
                      <a:pPr algn="ctr"/>
                      <a:r>
                        <a:rPr sz="2250" b="0">
                          <a:solidFill>
                            <a:srgbClr val="18343A"/>
                          </a:solidFill>
                          <a:latin typeface="Arial"/>
                          <a:ea typeface="Arial"/>
                          <a:cs typeface="Arial"/>
                        </a:rPr>
                        <a:t>Semejante</a:t>
                      </a:r>
                    </a:p>
                  </a:txBody>
                  <a:tcPr anchor="ctr">
                    <a:solidFill>
                      <a:srgbClr val="FFFFFF"/>
                    </a:solidFill>
                  </a:tcPr>
                </a:tc>
                <a:tc>
                  <a:txBody>
                    <a:bodyPr/>
                    <a:lstStyle/>
                    <a:p>
                      <a:pPr algn="ctr"/>
                      <a:r>
                        <a:rPr sz="2250" b="0">
                          <a:solidFill>
                            <a:srgbClr val="18343A"/>
                          </a:solidFill>
                          <a:latin typeface="Arial"/>
                          <a:ea typeface="Arial"/>
                          <a:cs typeface="Arial"/>
                        </a:rPr>
                        <a:t>Semejante</a:t>
                      </a:r>
                    </a:p>
                  </a:txBody>
                  <a:tcPr anchor="ctr">
                    <a:solidFill>
                      <a:srgbClr val="FFFFFF"/>
                    </a:solidFill>
                  </a:tcPr>
                </a:tc>
                <a:extLst>
                  <a:ext uri="{0D108BD9-81ED-4DB2-BD59-A6C34878D82A}">
                    <a16:rowId xmlns:a16="http://schemas.microsoft.com/office/drawing/2014/main" val="10001"/>
                  </a:ext>
                </a:extLst>
              </a:tr>
              <a:tr h="800100">
                <a:tc>
                  <a:txBody>
                    <a:bodyPr/>
                    <a:lstStyle/>
                    <a:p>
                      <a:pPr algn="l"/>
                      <a:r>
                        <a:rPr sz="2250" b="0">
                          <a:solidFill>
                            <a:srgbClr val="18343A"/>
                          </a:solidFill>
                          <a:latin typeface="Arial"/>
                          <a:ea typeface="Arial"/>
                          <a:cs typeface="Arial"/>
                        </a:rPr>
                        <a:t>Regeneración observada</a:t>
                      </a:r>
                    </a:p>
                  </a:txBody>
                  <a:tcPr anchor="ctr">
                    <a:solidFill>
                      <a:srgbClr val="EDF1EE"/>
                    </a:solidFill>
                  </a:tcPr>
                </a:tc>
                <a:tc>
                  <a:txBody>
                    <a:bodyPr/>
                    <a:lstStyle/>
                    <a:p>
                      <a:pPr algn="ctr"/>
                      <a:r>
                        <a:rPr sz="2250" b="0">
                          <a:solidFill>
                            <a:srgbClr val="18343A"/>
                          </a:solidFill>
                          <a:latin typeface="Arial"/>
                          <a:ea typeface="Arial"/>
                          <a:cs typeface="Arial"/>
                        </a:rPr>
                        <a:t>Abundante</a:t>
                      </a:r>
                    </a:p>
                  </a:txBody>
                  <a:tcPr anchor="ctr">
                    <a:solidFill>
                      <a:srgbClr val="EDF1EE"/>
                    </a:solidFill>
                  </a:tcPr>
                </a:tc>
                <a:tc>
                  <a:txBody>
                    <a:bodyPr/>
                    <a:lstStyle/>
                    <a:p>
                      <a:pPr algn="ctr"/>
                      <a:r>
                        <a:rPr sz="2250" b="0">
                          <a:solidFill>
                            <a:srgbClr val="18343A"/>
                          </a:solidFill>
                          <a:latin typeface="Arial"/>
                          <a:ea typeface="Arial"/>
                          <a:cs typeface="Arial"/>
                        </a:rPr>
                        <a:t>Escasa</a:t>
                      </a:r>
                    </a:p>
                  </a:txBody>
                  <a:tcPr anchor="ctr">
                    <a:solidFill>
                      <a:srgbClr val="EDF1EE"/>
                    </a:solidFill>
                  </a:tcPr>
                </a:tc>
                <a:extLst>
                  <a:ext uri="{0D108BD9-81ED-4DB2-BD59-A6C34878D82A}">
                    <a16:rowId xmlns:a16="http://schemas.microsoft.com/office/drawing/2014/main" val="10002"/>
                  </a:ext>
                </a:extLst>
              </a:tr>
            </a:tbl>
          </a:graphicData>
        </a:graphic>
      </p:graphicFrame>
      <p:sp>
        <p:nvSpPr>
          <p:cNvPr id="4" name="obj-6">
            <a:extLst>
              <a:ext uri="{FF2B5EF4-FFF2-40B4-BE49-F238E27FC236}">
                <a16:creationId xmlns:a16="http://schemas.microsoft.com/office/drawing/2014/main" id="{07F3CC5A-D3A0-4FC5-A362-CEA4898B2E59}"/>
              </a:ext>
            </a:extLst>
          </p:cNvPr>
          <p:cNvSpPr>
            <a:spLocks noGrp="1"/>
          </p:cNvSpPr>
          <p:nvPr/>
        </p:nvSpPr>
        <p:spPr>
          <a:xfrm>
            <a:off x="609600" y="4381500"/>
            <a:ext cx="10477500" cy="609600"/>
          </a:xfrm>
          <a:prstGeom prst="rect">
            <a:avLst/>
          </a:prstGeom>
          <a:noFill/>
          <a:ln w="0">
            <a:noFill/>
            <a:prstDash val="solid"/>
          </a:ln>
        </p:spPr>
        <p:txBody>
          <a:bodyPr wrap="square" lIns="0" tIns="0" rIns="0" bIns="0">
            <a:noAutofit/>
          </a:bodyPr>
          <a:lstStyle>
            <a:defPPr>
              <a:defRPr sz="3150" b="1">
                <a:solidFill>
                  <a:srgbClr val="73528C"/>
                </a:solidFill>
                <a:latin typeface="Arial"/>
                <a:ea typeface="Arial"/>
                <a:cs typeface="Arial"/>
              </a:defRPr>
            </a:defPPr>
          </a:lstStyle>
          <a:p>
            <a:pPr>
              <a:defRPr sz="3150" b="1">
                <a:solidFill>
                  <a:srgbClr val="73528C"/>
                </a:solidFill>
                <a:latin typeface="Arial"/>
                <a:ea typeface="Arial"/>
                <a:cs typeface="Arial"/>
              </a:defRPr>
            </a:pPr>
            <a:r>
              <a:rPr sz="3150" b="1">
                <a:solidFill>
                  <a:srgbClr val="73528C"/>
                </a:solidFill>
                <a:latin typeface="Arial"/>
                <a:ea typeface="Arial"/>
                <a:cs typeface="Arial"/>
              </a:rPr>
              <a:t>¿Tienen la misma condición?</a:t>
            </a:r>
          </a:p>
        </p:txBody>
      </p:sp>
      <p:sp>
        <p:nvSpPr>
          <p:cNvPr id="5" name="obj-7">
            <a:extLst>
              <a:ext uri="{FF2B5EF4-FFF2-40B4-BE49-F238E27FC236}">
                <a16:creationId xmlns:a16="http://schemas.microsoft.com/office/drawing/2014/main" id="{0AE12E46-71F7-41F2-AF1A-C3874C4A5E87}"/>
              </a:ext>
            </a:extLst>
          </p:cNvPr>
          <p:cNvSpPr>
            <a:spLocks noGrp="1"/>
          </p:cNvSpPr>
          <p:nvPr/>
        </p:nvSpPr>
        <p:spPr>
          <a:xfrm>
            <a:off x="609600" y="5219700"/>
            <a:ext cx="10477500" cy="552450"/>
          </a:xfrm>
          <a:prstGeom prst="rect">
            <a:avLst/>
          </a:prstGeom>
          <a:noFill/>
          <a:ln w="0">
            <a:noFill/>
            <a:prstDash val="solid"/>
          </a:ln>
        </p:spPr>
        <p:txBody>
          <a:bodyPr wrap="square" lIns="0" tIns="0" rIns="0" bIns="0">
            <a:noAutofit/>
          </a:bodyPr>
          <a:lstStyle>
            <a:defPPr>
              <a:defRPr sz="2250" b="0">
                <a:solidFill>
                  <a:srgbClr val="18343A"/>
                </a:solidFill>
                <a:latin typeface="Arial"/>
                <a:ea typeface="Arial"/>
                <a:cs typeface="Arial"/>
              </a:defRPr>
            </a:defPPr>
          </a:lstStyle>
          <a:p>
            <a:pPr>
              <a:defRPr sz="2250" b="0">
                <a:solidFill>
                  <a:srgbClr val="18343A"/>
                </a:solidFill>
                <a:latin typeface="Arial"/>
                <a:ea typeface="Arial"/>
                <a:cs typeface="Arial"/>
              </a:defRPr>
            </a:pPr>
            <a:r>
              <a:rPr sz="2250" b="0">
                <a:solidFill>
                  <a:srgbClr val="18343A"/>
                </a:solidFill>
                <a:latin typeface="Arial"/>
                <a:ea typeface="Arial"/>
                <a:cs typeface="Arial"/>
              </a:rPr>
              <a:t>¿Qué más necesitaríamos saber para interpretarlos?</a:t>
            </a:r>
          </a:p>
        </p:txBody>
      </p:sp>
      <p:sp>
        <p:nvSpPr>
          <p:cNvPr id="6" name="obj-8">
            <a:extLst>
              <a:ext uri="{FF2B5EF4-FFF2-40B4-BE49-F238E27FC236}">
                <a16:creationId xmlns:a16="http://schemas.microsoft.com/office/drawing/2014/main" id="{A2818E26-0D66-418C-92AF-58626E4F164E}"/>
              </a:ext>
            </a:extLst>
          </p:cNvPr>
          <p:cNvSpPr>
            <a:spLocks noGrp="1"/>
          </p:cNvSpPr>
          <p:nvPr/>
        </p:nvSpPr>
        <p:spPr>
          <a:xfrm>
            <a:off x="609600" y="5972175"/>
            <a:ext cx="10668000" cy="381000"/>
          </a:xfrm>
          <a:prstGeom prst="rect">
            <a:avLst/>
          </a:prstGeom>
          <a:noFill/>
          <a:ln w="0">
            <a:noFill/>
            <a:prstDash val="solid"/>
          </a:ln>
        </p:spPr>
        <p:txBody>
          <a:bodyPr wrap="square" lIns="0" tIns="0" rIns="0" bIns="0">
            <a:noAutofit/>
          </a:bodyPr>
          <a:lstStyle>
            <a:defPPr>
              <a:defRPr sz="1725" b="0">
                <a:solidFill>
                  <a:srgbClr val="52656A"/>
                </a:solidFill>
                <a:latin typeface="Arial"/>
                <a:ea typeface="Arial"/>
                <a:cs typeface="Arial"/>
              </a:defRPr>
            </a:defPPr>
          </a:lstStyle>
          <a:p>
            <a:pPr>
              <a:defRPr sz="1725" b="0">
                <a:solidFill>
                  <a:srgbClr val="52656A"/>
                </a:solidFill>
                <a:latin typeface="Arial"/>
                <a:ea typeface="Arial"/>
                <a:cs typeface="Arial"/>
              </a:defRPr>
            </a:pPr>
            <a:r>
              <a:rPr sz="1725" b="0">
                <a:solidFill>
                  <a:srgbClr val="52656A"/>
                </a:solidFill>
                <a:latin typeface="Arial"/>
                <a:ea typeface="Arial"/>
                <a:cs typeface="Arial"/>
              </a:rPr>
              <a:t>Caso hipotético para conversar sobre señales y diagnóstico</a:t>
            </a:r>
          </a:p>
        </p:txBody>
      </p:sp>
    </p:spTree>
    <p:extLst>
      <p:ext uri="{BB962C8B-B14F-4D97-AF65-F5344CB8AC3E}">
        <p14:creationId xmlns:p14="http://schemas.microsoft.com/office/powerpoint/2010/main" val="8506530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9" name="obj-9">
            <a:extLst>
              <a:ext uri="{FF2B5EF4-FFF2-40B4-BE49-F238E27FC236}">
                <a16:creationId xmlns:a16="http://schemas.microsoft.com/office/drawing/2014/main" id="{05945190-6DA8-4D6C-8932-12DF4A7EEDD2}"/>
              </a:ext>
            </a:extLst>
          </p:cNvPr>
          <p:cNvSpPr>
            <a:spLocks noGrp="1"/>
          </p:cNvSpPr>
          <p:nvPr/>
        </p:nvSpPr>
        <p:spPr>
          <a:xfrm>
            <a:off x="609600" y="381000"/>
            <a:ext cx="10953750" cy="762000"/>
          </a:xfrm>
          <a:prstGeom prst="rect">
            <a:avLst/>
          </a:prstGeom>
          <a:noFill/>
          <a:ln w="0">
            <a:noFill/>
            <a:prstDash val="solid"/>
          </a:ln>
        </p:spPr>
        <p:txBody>
          <a:bodyPr wrap="square" lIns="0" tIns="0" rIns="0" bIns="0">
            <a:noAutofit/>
          </a:bodyPr>
          <a:lstStyle>
            <a:defPPr>
              <a:defRPr sz="3300" b="1">
                <a:solidFill>
                  <a:srgbClr val="18343A"/>
                </a:solidFill>
                <a:latin typeface="Arial"/>
                <a:ea typeface="Arial"/>
                <a:cs typeface="Arial"/>
              </a:defRPr>
            </a:defPPr>
          </a:lstStyle>
          <a:p>
            <a:pPr>
              <a:defRPr sz="3300" b="1">
                <a:solidFill>
                  <a:srgbClr val="18343A"/>
                </a:solidFill>
                <a:latin typeface="Arial"/>
                <a:ea typeface="Arial"/>
                <a:cs typeface="Arial"/>
              </a:defRPr>
            </a:pPr>
            <a:r>
              <a:rPr sz="3300" b="1">
                <a:solidFill>
                  <a:srgbClr val="18343A"/>
                </a:solidFill>
                <a:latin typeface="Arial"/>
                <a:ea typeface="Arial"/>
                <a:cs typeface="Arial"/>
              </a:rPr>
              <a:t>La salud como analogía del diagnóstico</a:t>
            </a:r>
          </a:p>
        </p:txBody>
      </p:sp>
      <p:sp>
        <p:nvSpPr>
          <p:cNvPr id="2" name="obj-10">
            <a:extLst>
              <a:ext uri="{FF2B5EF4-FFF2-40B4-BE49-F238E27FC236}">
                <a16:creationId xmlns:a16="http://schemas.microsoft.com/office/drawing/2014/main" id="{4163480A-A437-4155-8047-AC905E991C5B}"/>
              </a:ext>
            </a:extLst>
          </p:cNvPr>
          <p:cNvSpPr>
            <a:spLocks noGrp="1"/>
          </p:cNvSpPr>
          <p:nvPr/>
        </p:nvSpPr>
        <p:spPr>
          <a:xfrm>
            <a:off x="11144250" y="6410325"/>
            <a:ext cx="428625" cy="247650"/>
          </a:xfrm>
          <a:prstGeom prst="rect">
            <a:avLst/>
          </a:prstGeom>
          <a:noFill/>
          <a:ln w="0">
            <a:noFill/>
            <a:prstDash val="solid"/>
          </a:ln>
        </p:spPr>
        <p:txBody>
          <a:bodyPr wrap="square" lIns="0" tIns="0" rIns="0" bIns="0">
            <a:noAutofit/>
          </a:bodyPr>
          <a:lstStyle>
            <a:defPPr>
              <a:defRPr sz="1350" b="0">
                <a:solidFill>
                  <a:srgbClr val="52656A"/>
                </a:solidFill>
                <a:latin typeface="Arial"/>
                <a:ea typeface="Arial"/>
                <a:cs typeface="Arial"/>
              </a:defRPr>
            </a:defPPr>
          </a:lstStyle>
          <a:p>
            <a:pPr>
              <a:defRPr sz="1350" b="0">
                <a:solidFill>
                  <a:srgbClr val="52656A"/>
                </a:solidFill>
                <a:latin typeface="Arial"/>
                <a:ea typeface="Arial"/>
                <a:cs typeface="Arial"/>
              </a:defRPr>
            </a:pPr>
            <a:r>
              <a:rPr sz="1350" b="0">
                <a:solidFill>
                  <a:srgbClr val="52656A"/>
                </a:solidFill>
                <a:latin typeface="Arial"/>
                <a:ea typeface="Arial"/>
                <a:cs typeface="Arial"/>
              </a:rPr>
              <a:t>03</a:t>
            </a:r>
          </a:p>
        </p:txBody>
      </p:sp>
      <p:sp>
        <p:nvSpPr>
          <p:cNvPr id="3" name="obj-11">
            <a:extLst>
              <a:ext uri="{FF2B5EF4-FFF2-40B4-BE49-F238E27FC236}">
                <a16:creationId xmlns:a16="http://schemas.microsoft.com/office/drawing/2014/main" id="{5D304960-F5C0-469C-A735-33C2480DCC4E}"/>
              </a:ext>
            </a:extLst>
          </p:cNvPr>
          <p:cNvSpPr>
            <a:spLocks noGrp="1"/>
          </p:cNvSpPr>
          <p:nvPr/>
        </p:nvSpPr>
        <p:spPr>
          <a:xfrm>
            <a:off x="609600" y="1619250"/>
            <a:ext cx="4619625" cy="476250"/>
          </a:xfrm>
          <a:prstGeom prst="rect">
            <a:avLst/>
          </a:prstGeom>
          <a:noFill/>
          <a:ln w="0">
            <a:noFill/>
            <a:prstDash val="solid"/>
          </a:ln>
        </p:spPr>
        <p:txBody>
          <a:bodyPr wrap="square" lIns="0" tIns="0" rIns="0" bIns="0">
            <a:noAutofit/>
          </a:bodyPr>
          <a:lstStyle>
            <a:defPPr>
              <a:defRPr sz="2550" b="1">
                <a:solidFill>
                  <a:srgbClr val="AA6717"/>
                </a:solidFill>
                <a:latin typeface="Arial"/>
                <a:ea typeface="Arial"/>
                <a:cs typeface="Arial"/>
              </a:defRPr>
            </a:defPPr>
          </a:lstStyle>
          <a:p>
            <a:pPr>
              <a:defRPr sz="2550" b="1">
                <a:solidFill>
                  <a:srgbClr val="AA6717"/>
                </a:solidFill>
                <a:latin typeface="Arial"/>
                <a:ea typeface="Arial"/>
                <a:cs typeface="Arial"/>
              </a:defRPr>
            </a:pPr>
            <a:r>
              <a:rPr sz="2550" b="1">
                <a:solidFill>
                  <a:srgbClr val="AA6717"/>
                </a:solidFill>
                <a:latin typeface="Arial"/>
                <a:ea typeface="Arial"/>
                <a:cs typeface="Arial"/>
              </a:rPr>
              <a:t>Lo observable</a:t>
            </a:r>
          </a:p>
        </p:txBody>
      </p:sp>
      <p:sp>
        <p:nvSpPr>
          <p:cNvPr id="4" name="obj-12">
            <a:extLst>
              <a:ext uri="{FF2B5EF4-FFF2-40B4-BE49-F238E27FC236}">
                <a16:creationId xmlns:a16="http://schemas.microsoft.com/office/drawing/2014/main" id="{81C55C3B-FAF4-4434-AEC8-1E9983FAA60C}"/>
              </a:ext>
            </a:extLst>
          </p:cNvPr>
          <p:cNvSpPr>
            <a:spLocks noGrp="1"/>
          </p:cNvSpPr>
          <p:nvPr/>
        </p:nvSpPr>
        <p:spPr>
          <a:xfrm>
            <a:off x="609600" y="2305050"/>
            <a:ext cx="4667250" cy="2095500"/>
          </a:xfrm>
          <a:prstGeom prst="rect">
            <a:avLst/>
          </a:prstGeom>
          <a:noFill/>
          <a:ln w="0">
            <a:noFill/>
            <a:prstDash val="solid"/>
          </a:ln>
        </p:spPr>
        <p:txBody>
          <a:bodyPr wrap="square" lIns="0" tIns="0" rIns="0" bIns="0">
            <a:noAutofit/>
          </a:bodyPr>
          <a:lstStyle>
            <a:defPPr>
              <a:defRPr sz="2250" b="0">
                <a:solidFill>
                  <a:srgbClr val="18343A"/>
                </a:solidFill>
                <a:latin typeface="Arial"/>
                <a:ea typeface="Arial"/>
                <a:cs typeface="Arial"/>
              </a:defRPr>
            </a:defPPr>
          </a:lstStyle>
          <a:p>
            <a:pPr>
              <a:defRPr sz="2250" b="0">
                <a:solidFill>
                  <a:srgbClr val="18343A"/>
                </a:solidFill>
                <a:latin typeface="Arial"/>
                <a:ea typeface="Arial"/>
                <a:cs typeface="Arial"/>
              </a:defRPr>
            </a:pPr>
            <a:r>
              <a:rPr sz="2250" b="0">
                <a:solidFill>
                  <a:srgbClr val="18343A"/>
                </a:solidFill>
                <a:latin typeface="Arial"/>
                <a:ea typeface="Arial"/>
                <a:cs typeface="Arial"/>
              </a:rPr>
              <a:t>Signos y pruebas</a:t>
            </a:r>
          </a:p>
          <a:p>
            <a:endParaRPr sz="2250" b="0">
              <a:solidFill>
                <a:srgbClr val="18343A"/>
              </a:solidFill>
              <a:latin typeface="Arial"/>
              <a:ea typeface="Arial"/>
              <a:cs typeface="Arial"/>
            </a:endParaRPr>
          </a:p>
          <a:p>
            <a:pPr>
              <a:defRPr sz="2250" b="0">
                <a:solidFill>
                  <a:srgbClr val="18343A"/>
                </a:solidFill>
                <a:latin typeface="Arial"/>
                <a:ea typeface="Arial"/>
                <a:cs typeface="Arial"/>
              </a:defRPr>
            </a:pPr>
            <a:r>
              <a:rPr sz="2250" b="0">
                <a:solidFill>
                  <a:srgbClr val="18343A"/>
                </a:solidFill>
                <a:latin typeface="Arial"/>
                <a:ea typeface="Arial"/>
                <a:cs typeface="Arial"/>
              </a:rPr>
              <a:t>Cobertura medida</a:t>
            </a:r>
          </a:p>
          <a:p>
            <a:pPr>
              <a:defRPr sz="2250" b="0">
                <a:solidFill>
                  <a:srgbClr val="18343A"/>
                </a:solidFill>
                <a:latin typeface="Arial"/>
                <a:ea typeface="Arial"/>
                <a:cs typeface="Arial"/>
              </a:defRPr>
            </a:pPr>
            <a:r>
              <a:rPr sz="2250" b="0">
                <a:solidFill>
                  <a:srgbClr val="18343A"/>
                </a:solidFill>
                <a:latin typeface="Arial"/>
                <a:ea typeface="Arial"/>
                <a:cs typeface="Arial"/>
              </a:rPr>
              <a:t>Regeneración registrada</a:t>
            </a:r>
          </a:p>
        </p:txBody>
      </p:sp>
      <p:sp>
        <p:nvSpPr>
          <p:cNvPr id="5" name="obj-13">
            <a:extLst>
              <a:ext uri="{FF2B5EF4-FFF2-40B4-BE49-F238E27FC236}">
                <a16:creationId xmlns:a16="http://schemas.microsoft.com/office/drawing/2014/main" id="{9E87F220-11AF-403E-BC4E-31FF90A0E2CE}"/>
              </a:ext>
            </a:extLst>
          </p:cNvPr>
          <p:cNvSpPr>
            <a:spLocks noGrp="1"/>
          </p:cNvSpPr>
          <p:nvPr/>
        </p:nvSpPr>
        <p:spPr>
          <a:xfrm>
            <a:off x="6629400" y="1619250"/>
            <a:ext cx="4953000" cy="476250"/>
          </a:xfrm>
          <a:prstGeom prst="rect">
            <a:avLst/>
          </a:prstGeom>
          <a:noFill/>
          <a:ln w="0">
            <a:noFill/>
            <a:prstDash val="solid"/>
          </a:ln>
        </p:spPr>
        <p:txBody>
          <a:bodyPr wrap="square" lIns="0" tIns="0" rIns="0" bIns="0">
            <a:noAutofit/>
          </a:bodyPr>
          <a:lstStyle>
            <a:defPPr>
              <a:defRPr sz="2550" b="1">
                <a:solidFill>
                  <a:srgbClr val="73528C"/>
                </a:solidFill>
                <a:latin typeface="Arial"/>
                <a:ea typeface="Arial"/>
                <a:cs typeface="Arial"/>
              </a:defRPr>
            </a:defPPr>
          </a:lstStyle>
          <a:p>
            <a:pPr>
              <a:defRPr sz="2550" b="1">
                <a:solidFill>
                  <a:srgbClr val="73528C"/>
                </a:solidFill>
                <a:latin typeface="Arial"/>
                <a:ea typeface="Arial"/>
                <a:cs typeface="Arial"/>
              </a:defRPr>
            </a:pPr>
            <a:r>
              <a:rPr sz="2550" b="1">
                <a:solidFill>
                  <a:srgbClr val="73528C"/>
                </a:solidFill>
                <a:latin typeface="Arial"/>
                <a:ea typeface="Arial"/>
                <a:cs typeface="Arial"/>
              </a:rPr>
              <a:t>Lo que inferimos</a:t>
            </a:r>
          </a:p>
        </p:txBody>
      </p:sp>
      <p:sp>
        <p:nvSpPr>
          <p:cNvPr id="6" name="obj-14">
            <a:extLst>
              <a:ext uri="{FF2B5EF4-FFF2-40B4-BE49-F238E27FC236}">
                <a16:creationId xmlns:a16="http://schemas.microsoft.com/office/drawing/2014/main" id="{93B3F384-E164-45D6-9E9C-CB116ECB5B96}"/>
              </a:ext>
            </a:extLst>
          </p:cNvPr>
          <p:cNvSpPr>
            <a:spLocks noGrp="1"/>
          </p:cNvSpPr>
          <p:nvPr/>
        </p:nvSpPr>
        <p:spPr>
          <a:xfrm>
            <a:off x="6629400" y="2305050"/>
            <a:ext cx="4953000" cy="2095500"/>
          </a:xfrm>
          <a:prstGeom prst="rect">
            <a:avLst/>
          </a:prstGeom>
          <a:noFill/>
          <a:ln w="0">
            <a:noFill/>
            <a:prstDash val="solid"/>
          </a:ln>
        </p:spPr>
        <p:txBody>
          <a:bodyPr wrap="square" lIns="0" tIns="0" rIns="0" bIns="0">
            <a:noAutofit/>
          </a:bodyPr>
          <a:lstStyle>
            <a:defPPr>
              <a:defRPr sz="2250" b="0">
                <a:solidFill>
                  <a:srgbClr val="18343A"/>
                </a:solidFill>
                <a:latin typeface="Arial"/>
                <a:ea typeface="Arial"/>
                <a:cs typeface="Arial"/>
              </a:defRPr>
            </a:defPPr>
          </a:lstStyle>
          <a:p>
            <a:pPr>
              <a:defRPr sz="2250" b="0">
                <a:solidFill>
                  <a:srgbClr val="18343A"/>
                </a:solidFill>
                <a:latin typeface="Arial"/>
                <a:ea typeface="Arial"/>
                <a:cs typeface="Arial"/>
              </a:defRPr>
            </a:pPr>
            <a:r>
              <a:rPr sz="2250" b="0">
                <a:solidFill>
                  <a:srgbClr val="18343A"/>
                </a:solidFill>
                <a:latin typeface="Arial"/>
                <a:ea typeface="Arial"/>
                <a:cs typeface="Arial"/>
              </a:rPr>
              <a:t>Una condición subyacente</a:t>
            </a:r>
          </a:p>
          <a:p>
            <a:endParaRPr sz="2250" b="0">
              <a:solidFill>
                <a:srgbClr val="18343A"/>
              </a:solidFill>
              <a:latin typeface="Arial"/>
              <a:ea typeface="Arial"/>
              <a:cs typeface="Arial"/>
            </a:endParaRPr>
          </a:p>
          <a:p>
            <a:pPr>
              <a:defRPr sz="2250" b="0">
                <a:solidFill>
                  <a:srgbClr val="18343A"/>
                </a:solidFill>
                <a:latin typeface="Arial"/>
                <a:ea typeface="Arial"/>
                <a:cs typeface="Arial"/>
              </a:defRPr>
            </a:pPr>
            <a:r>
              <a:rPr sz="2250" b="0">
                <a:solidFill>
                  <a:srgbClr val="18343A"/>
                </a:solidFill>
                <a:latin typeface="Arial"/>
                <a:ea typeface="Arial"/>
                <a:cs typeface="Arial"/>
              </a:rPr>
              <a:t>Diagnóstico relativo al contexto</a:t>
            </a:r>
          </a:p>
          <a:p>
            <a:pPr>
              <a:defRPr sz="2250" b="0">
                <a:solidFill>
                  <a:srgbClr val="18343A"/>
                </a:solidFill>
                <a:latin typeface="Arial"/>
                <a:ea typeface="Arial"/>
                <a:cs typeface="Arial"/>
              </a:defRPr>
            </a:pPr>
            <a:r>
              <a:rPr sz="2250" b="0">
                <a:solidFill>
                  <a:srgbClr val="18343A"/>
                </a:solidFill>
                <a:latin typeface="Arial"/>
                <a:ea typeface="Arial"/>
                <a:cs typeface="Arial"/>
              </a:rPr>
              <a:t>Incertidumbre explícita</a:t>
            </a:r>
          </a:p>
        </p:txBody>
      </p:sp>
      <p:sp>
        <p:nvSpPr>
          <p:cNvPr id="7" name="obj-15">
            <a:extLst>
              <a:ext uri="{FF2B5EF4-FFF2-40B4-BE49-F238E27FC236}">
                <a16:creationId xmlns:a16="http://schemas.microsoft.com/office/drawing/2014/main" id="{24FCDEEB-F449-4104-916E-D329D7DF4E0B}"/>
              </a:ext>
            </a:extLst>
          </p:cNvPr>
          <p:cNvSpPr>
            <a:spLocks noGrp="1"/>
          </p:cNvSpPr>
          <p:nvPr/>
        </p:nvSpPr>
        <p:spPr>
          <a:xfrm>
            <a:off x="609600" y="5038725"/>
            <a:ext cx="10668000" cy="647700"/>
          </a:xfrm>
          <a:prstGeom prst="rect">
            <a:avLst/>
          </a:prstGeom>
          <a:noFill/>
          <a:ln w="0">
            <a:noFill/>
            <a:prstDash val="solid"/>
          </a:ln>
        </p:spPr>
        <p:txBody>
          <a:bodyPr wrap="square" lIns="0" tIns="0" rIns="0" bIns="0">
            <a:noAutofit/>
          </a:bodyPr>
          <a:lstStyle>
            <a:defPPr>
              <a:defRPr sz="2700" b="1">
                <a:solidFill>
                  <a:srgbClr val="18343A"/>
                </a:solidFill>
                <a:latin typeface="Arial"/>
                <a:ea typeface="Arial"/>
                <a:cs typeface="Arial"/>
              </a:defRPr>
            </a:defPPr>
          </a:lstStyle>
          <a:p>
            <a:pPr>
              <a:defRPr sz="2700" b="1">
                <a:solidFill>
                  <a:srgbClr val="18343A"/>
                </a:solidFill>
                <a:latin typeface="Arial"/>
                <a:ea typeface="Arial"/>
                <a:cs typeface="Arial"/>
              </a:defRPr>
            </a:pPr>
            <a:r>
              <a:rPr sz="2700" b="1">
                <a:solidFill>
                  <a:srgbClr val="18343A"/>
                </a:solidFill>
                <a:latin typeface="Arial"/>
                <a:ea typeface="Arial"/>
                <a:cs typeface="Arial"/>
              </a:rPr>
              <a:t>Las funciones también dependen de asociaciones</a:t>
            </a:r>
          </a:p>
        </p:txBody>
      </p:sp>
      <p:sp>
        <p:nvSpPr>
          <p:cNvPr id="8" name="obj-16">
            <a:extLst>
              <a:ext uri="{FF2B5EF4-FFF2-40B4-BE49-F238E27FC236}">
                <a16:creationId xmlns:a16="http://schemas.microsoft.com/office/drawing/2014/main" id="{BEC2CC97-D358-4B88-BC22-F803E7C99982}"/>
              </a:ext>
            </a:extLst>
          </p:cNvPr>
          <p:cNvSpPr>
            <a:spLocks noGrp="1"/>
          </p:cNvSpPr>
          <p:nvPr/>
        </p:nvSpPr>
        <p:spPr>
          <a:xfrm>
            <a:off x="609600" y="5972175"/>
            <a:ext cx="10668000" cy="381000"/>
          </a:xfrm>
          <a:prstGeom prst="rect">
            <a:avLst/>
          </a:prstGeom>
          <a:noFill/>
          <a:ln w="0">
            <a:noFill/>
            <a:prstDash val="solid"/>
          </a:ln>
        </p:spPr>
        <p:txBody>
          <a:bodyPr wrap="square" lIns="0" tIns="0" rIns="0" bIns="0">
            <a:noAutofit/>
          </a:bodyPr>
          <a:lstStyle>
            <a:defPPr>
              <a:defRPr sz="1725" b="0">
                <a:solidFill>
                  <a:srgbClr val="52656A"/>
                </a:solidFill>
                <a:latin typeface="Arial"/>
                <a:ea typeface="Arial"/>
                <a:cs typeface="Arial"/>
              </a:defRPr>
            </a:defPPr>
          </a:lstStyle>
          <a:p>
            <a:pPr>
              <a:defRPr sz="1725" b="0">
                <a:solidFill>
                  <a:srgbClr val="52656A"/>
                </a:solidFill>
                <a:latin typeface="Arial"/>
                <a:ea typeface="Arial"/>
                <a:cs typeface="Arial"/>
              </a:defRPr>
            </a:pPr>
            <a:r>
              <a:rPr sz="1725" b="0">
                <a:solidFill>
                  <a:srgbClr val="52656A"/>
                </a:solidFill>
                <a:latin typeface="Arial"/>
                <a:ea typeface="Arial"/>
                <a:cs typeface="Arial"/>
              </a:rPr>
              <a:t>Perspectiva simbiótica de Margulis: O’Malley (2017) y Koide (2023)</a:t>
            </a:r>
          </a:p>
        </p:txBody>
      </p:sp>
    </p:spTree>
    <p:extLst>
      <p:ext uri="{BB962C8B-B14F-4D97-AF65-F5344CB8AC3E}">
        <p14:creationId xmlns:p14="http://schemas.microsoft.com/office/powerpoint/2010/main" val="5410099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16" name="obj-17">
            <a:extLst>
              <a:ext uri="{FF2B5EF4-FFF2-40B4-BE49-F238E27FC236}">
                <a16:creationId xmlns:a16="http://schemas.microsoft.com/office/drawing/2014/main" id="{495C7D39-0C7E-43AF-BF69-BA8BB56165BF}"/>
              </a:ext>
            </a:extLst>
          </p:cNvPr>
          <p:cNvSpPr>
            <a:spLocks noGrp="1"/>
          </p:cNvSpPr>
          <p:nvPr/>
        </p:nvSpPr>
        <p:spPr>
          <a:xfrm>
            <a:off x="609600" y="381000"/>
            <a:ext cx="10953750" cy="762000"/>
          </a:xfrm>
          <a:prstGeom prst="rect">
            <a:avLst/>
          </a:prstGeom>
          <a:noFill/>
          <a:ln w="0">
            <a:noFill/>
            <a:prstDash val="solid"/>
          </a:ln>
        </p:spPr>
        <p:txBody>
          <a:bodyPr wrap="square" lIns="0" tIns="0" rIns="0" bIns="0">
            <a:noAutofit/>
          </a:bodyPr>
          <a:lstStyle>
            <a:defPPr>
              <a:defRPr sz="3300" b="1">
                <a:solidFill>
                  <a:srgbClr val="18343A"/>
                </a:solidFill>
                <a:latin typeface="Arial"/>
                <a:ea typeface="Arial"/>
                <a:cs typeface="Arial"/>
              </a:defRPr>
            </a:defPPr>
          </a:lstStyle>
          <a:p>
            <a:pPr>
              <a:defRPr sz="3300" b="1">
                <a:solidFill>
                  <a:srgbClr val="18343A"/>
                </a:solidFill>
                <a:latin typeface="Arial"/>
                <a:ea typeface="Arial"/>
                <a:cs typeface="Arial"/>
              </a:defRPr>
            </a:pPr>
            <a:r>
              <a:rPr sz="3300" b="1">
                <a:solidFill>
                  <a:srgbClr val="18343A"/>
                </a:solidFill>
                <a:latin typeface="Arial"/>
                <a:ea typeface="Arial"/>
                <a:cs typeface="Arial"/>
              </a:rPr>
              <a:t>Las tres capas del modelo IIE-3T</a:t>
            </a:r>
          </a:p>
        </p:txBody>
      </p:sp>
      <p:sp>
        <p:nvSpPr>
          <p:cNvPr id="2" name="obj-18">
            <a:extLst>
              <a:ext uri="{FF2B5EF4-FFF2-40B4-BE49-F238E27FC236}">
                <a16:creationId xmlns:a16="http://schemas.microsoft.com/office/drawing/2014/main" id="{4C65204F-5BDF-421B-BD0D-70AD46653A7E}"/>
              </a:ext>
            </a:extLst>
          </p:cNvPr>
          <p:cNvSpPr>
            <a:spLocks noGrp="1"/>
          </p:cNvSpPr>
          <p:nvPr/>
        </p:nvSpPr>
        <p:spPr>
          <a:xfrm>
            <a:off x="11144250" y="6410325"/>
            <a:ext cx="428625" cy="247650"/>
          </a:xfrm>
          <a:prstGeom prst="rect">
            <a:avLst/>
          </a:prstGeom>
          <a:noFill/>
          <a:ln w="0">
            <a:noFill/>
            <a:prstDash val="solid"/>
          </a:ln>
        </p:spPr>
        <p:txBody>
          <a:bodyPr wrap="square" lIns="0" tIns="0" rIns="0" bIns="0">
            <a:noAutofit/>
          </a:bodyPr>
          <a:lstStyle>
            <a:defPPr>
              <a:defRPr sz="1350" b="0">
                <a:solidFill>
                  <a:srgbClr val="52656A"/>
                </a:solidFill>
                <a:latin typeface="Arial"/>
                <a:ea typeface="Arial"/>
                <a:cs typeface="Arial"/>
              </a:defRPr>
            </a:defPPr>
          </a:lstStyle>
          <a:p>
            <a:pPr>
              <a:defRPr sz="1350" b="0">
                <a:solidFill>
                  <a:srgbClr val="52656A"/>
                </a:solidFill>
                <a:latin typeface="Arial"/>
                <a:ea typeface="Arial"/>
                <a:cs typeface="Arial"/>
              </a:defRPr>
            </a:pPr>
            <a:r>
              <a:rPr sz="1350" b="0">
                <a:solidFill>
                  <a:srgbClr val="52656A"/>
                </a:solidFill>
                <a:latin typeface="Arial"/>
                <a:ea typeface="Arial"/>
                <a:cs typeface="Arial"/>
              </a:rPr>
              <a:t>04</a:t>
            </a:r>
          </a:p>
        </p:txBody>
      </p:sp>
      <p:sp>
        <p:nvSpPr>
          <p:cNvPr id="3" name="obj-19">
            <a:extLst>
              <a:ext uri="{FF2B5EF4-FFF2-40B4-BE49-F238E27FC236}">
                <a16:creationId xmlns:a16="http://schemas.microsoft.com/office/drawing/2014/main" id="{7FACBFF3-4B05-40FA-81FA-F159857E3EB0}"/>
              </a:ext>
            </a:extLst>
          </p:cNvPr>
          <p:cNvSpPr>
            <a:spLocks noGrp="1"/>
          </p:cNvSpPr>
          <p:nvPr/>
        </p:nvSpPr>
        <p:spPr>
          <a:xfrm>
            <a:off x="609600" y="1543050"/>
            <a:ext cx="666750" cy="762000"/>
          </a:xfrm>
          <a:prstGeom prst="rect">
            <a:avLst/>
          </a:prstGeom>
          <a:noFill/>
          <a:ln w="0">
            <a:noFill/>
            <a:prstDash val="solid"/>
          </a:ln>
        </p:spPr>
        <p:txBody>
          <a:bodyPr wrap="square" lIns="0" tIns="0" rIns="0" bIns="0">
            <a:noAutofit/>
          </a:bodyPr>
          <a:lstStyle>
            <a:defPPr>
              <a:defRPr sz="4500" b="1">
                <a:solidFill>
                  <a:srgbClr val="087E86"/>
                </a:solidFill>
                <a:latin typeface="Arial"/>
                <a:ea typeface="Arial"/>
                <a:cs typeface="Arial"/>
              </a:defRPr>
            </a:defPPr>
          </a:lstStyle>
          <a:p>
            <a:pPr>
              <a:defRPr sz="4500" b="1">
                <a:solidFill>
                  <a:srgbClr val="087E86"/>
                </a:solidFill>
                <a:latin typeface="Arial"/>
                <a:ea typeface="Arial"/>
                <a:cs typeface="Arial"/>
              </a:defRPr>
            </a:pPr>
            <a:r>
              <a:rPr sz="4500" b="1">
                <a:solidFill>
                  <a:srgbClr val="087E86"/>
                </a:solidFill>
                <a:latin typeface="Arial"/>
                <a:ea typeface="Arial"/>
                <a:cs typeface="Arial"/>
              </a:rPr>
              <a:t>X</a:t>
            </a:r>
          </a:p>
        </p:txBody>
      </p:sp>
      <p:sp>
        <p:nvSpPr>
          <p:cNvPr id="4" name="obj-20">
            <a:extLst>
              <a:ext uri="{FF2B5EF4-FFF2-40B4-BE49-F238E27FC236}">
                <a16:creationId xmlns:a16="http://schemas.microsoft.com/office/drawing/2014/main" id="{01378FA6-C705-4B0D-BA1E-82E92F45B0ED}"/>
              </a:ext>
            </a:extLst>
          </p:cNvPr>
          <p:cNvSpPr>
            <a:spLocks noGrp="1"/>
          </p:cNvSpPr>
          <p:nvPr/>
        </p:nvSpPr>
        <p:spPr>
          <a:xfrm>
            <a:off x="1562100" y="1590675"/>
            <a:ext cx="3429000" cy="523875"/>
          </a:xfrm>
          <a:prstGeom prst="rect">
            <a:avLst/>
          </a:prstGeom>
          <a:noFill/>
          <a:ln w="0">
            <a:noFill/>
            <a:prstDash val="solid"/>
          </a:ln>
        </p:spPr>
        <p:txBody>
          <a:bodyPr wrap="square" lIns="0" tIns="0" rIns="0" bIns="0">
            <a:noAutofit/>
          </a:bodyPr>
          <a:lstStyle>
            <a:defPPr>
              <a:defRPr sz="2550" b="1">
                <a:solidFill>
                  <a:srgbClr val="087E86"/>
                </a:solidFill>
                <a:latin typeface="Arial"/>
                <a:ea typeface="Arial"/>
                <a:cs typeface="Arial"/>
              </a:defRPr>
            </a:defPPr>
          </a:lstStyle>
          <a:p>
            <a:pPr>
              <a:defRPr sz="2550" b="1">
                <a:solidFill>
                  <a:srgbClr val="087E86"/>
                </a:solidFill>
                <a:latin typeface="Arial"/>
                <a:ea typeface="Arial"/>
                <a:cs typeface="Arial"/>
              </a:defRPr>
            </a:pPr>
            <a:r>
              <a:rPr sz="2550" b="1">
                <a:solidFill>
                  <a:srgbClr val="087E86"/>
                </a:solidFill>
                <a:latin typeface="Arial"/>
                <a:ea typeface="Arial"/>
                <a:cs typeface="Arial"/>
              </a:rPr>
              <a:t>Contextual</a:t>
            </a:r>
          </a:p>
        </p:txBody>
      </p:sp>
      <p:sp>
        <p:nvSpPr>
          <p:cNvPr id="5" name="obj-21">
            <a:extLst>
              <a:ext uri="{FF2B5EF4-FFF2-40B4-BE49-F238E27FC236}">
                <a16:creationId xmlns:a16="http://schemas.microsoft.com/office/drawing/2014/main" id="{303EE318-16C3-407F-A537-CCAF17CF960E}"/>
              </a:ext>
            </a:extLst>
          </p:cNvPr>
          <p:cNvSpPr>
            <a:spLocks noGrp="1"/>
          </p:cNvSpPr>
          <p:nvPr/>
        </p:nvSpPr>
        <p:spPr>
          <a:xfrm>
            <a:off x="5210175" y="1543050"/>
            <a:ext cx="6334125" cy="457200"/>
          </a:xfrm>
          <a:prstGeom prst="rect">
            <a:avLst/>
          </a:prstGeom>
          <a:noFill/>
          <a:ln w="0">
            <a:noFill/>
            <a:prstDash val="solid"/>
          </a:ln>
        </p:spPr>
        <p:txBody>
          <a:bodyPr wrap="square" lIns="0" tIns="0" rIns="0" bIns="0">
            <a:noAutofit/>
          </a:bodyPr>
          <a:lstStyle>
            <a:defPPr>
              <a:defRPr sz="2250" b="0">
                <a:solidFill>
                  <a:srgbClr val="18343A"/>
                </a:solidFill>
                <a:latin typeface="Arial"/>
                <a:ea typeface="Arial"/>
                <a:cs typeface="Arial"/>
              </a:defRPr>
            </a:defPPr>
          </a:lstStyle>
          <a:p>
            <a:pPr>
              <a:defRPr sz="2250" b="0">
                <a:solidFill>
                  <a:srgbClr val="18343A"/>
                </a:solidFill>
                <a:latin typeface="Arial"/>
                <a:ea typeface="Arial"/>
                <a:cs typeface="Arial"/>
              </a:defRPr>
            </a:pPr>
            <a:r>
              <a:rPr sz="2250" b="0">
                <a:solidFill>
                  <a:srgbClr val="18343A"/>
                </a:solidFill>
                <a:latin typeface="Arial"/>
                <a:ea typeface="Arial"/>
                <a:cs typeface="Arial"/>
              </a:rPr>
              <a:t>Permite interpretar las señales</a:t>
            </a:r>
          </a:p>
        </p:txBody>
      </p:sp>
      <p:sp>
        <p:nvSpPr>
          <p:cNvPr id="6" name="obj-22">
            <a:extLst>
              <a:ext uri="{FF2B5EF4-FFF2-40B4-BE49-F238E27FC236}">
                <a16:creationId xmlns:a16="http://schemas.microsoft.com/office/drawing/2014/main" id="{142F420A-2EDE-43E6-BE5E-6AA0E5BD682E}"/>
              </a:ext>
            </a:extLst>
          </p:cNvPr>
          <p:cNvSpPr>
            <a:spLocks noGrp="1"/>
          </p:cNvSpPr>
          <p:nvPr/>
        </p:nvSpPr>
        <p:spPr>
          <a:xfrm>
            <a:off x="5210175" y="2038350"/>
            <a:ext cx="6334125" cy="619125"/>
          </a:xfrm>
          <a:prstGeom prst="rect">
            <a:avLst/>
          </a:prstGeom>
          <a:noFill/>
          <a:ln w="0">
            <a:noFill/>
            <a:prstDash val="solid"/>
          </a:ln>
        </p:spPr>
        <p:txBody>
          <a:bodyPr wrap="square" lIns="0" tIns="0" rIns="0" bIns="0">
            <a:noAutofit/>
          </a:bodyPr>
          <a:lstStyle>
            <a:defPPr>
              <a:defRPr sz="1950" b="0">
                <a:solidFill>
                  <a:srgbClr val="52656A"/>
                </a:solidFill>
                <a:latin typeface="Arial"/>
                <a:ea typeface="Arial"/>
                <a:cs typeface="Arial"/>
              </a:defRPr>
            </a:defPPr>
          </a:lstStyle>
          <a:p>
            <a:pPr>
              <a:defRPr sz="1950" b="0">
                <a:solidFill>
                  <a:srgbClr val="52656A"/>
                </a:solidFill>
                <a:latin typeface="Arial"/>
                <a:ea typeface="Arial"/>
                <a:cs typeface="Arial"/>
              </a:defRPr>
            </a:pPr>
            <a:r>
              <a:rPr sz="1950" b="0">
                <a:solidFill>
                  <a:srgbClr val="52656A"/>
                </a:solidFill>
                <a:latin typeface="Arial"/>
                <a:ea typeface="Arial"/>
                <a:cs typeface="Arial"/>
              </a:rPr>
              <a:t>Clima, suelo y biogeografía</a:t>
            </a:r>
          </a:p>
        </p:txBody>
      </p:sp>
      <p:sp>
        <p:nvSpPr>
          <p:cNvPr id="7" name="obj-23">
            <a:extLst>
              <a:ext uri="{FF2B5EF4-FFF2-40B4-BE49-F238E27FC236}">
                <a16:creationId xmlns:a16="http://schemas.microsoft.com/office/drawing/2014/main" id="{CBEE0791-F71C-4B27-A36C-FB380982A052}"/>
              </a:ext>
            </a:extLst>
          </p:cNvPr>
          <p:cNvSpPr>
            <a:spLocks noGrp="1"/>
          </p:cNvSpPr>
          <p:nvPr/>
        </p:nvSpPr>
        <p:spPr>
          <a:xfrm>
            <a:off x="609600" y="2905125"/>
            <a:ext cx="666750" cy="762000"/>
          </a:xfrm>
          <a:prstGeom prst="rect">
            <a:avLst/>
          </a:prstGeom>
          <a:noFill/>
          <a:ln w="0">
            <a:noFill/>
            <a:prstDash val="solid"/>
          </a:ln>
        </p:spPr>
        <p:txBody>
          <a:bodyPr wrap="square" lIns="0" tIns="0" rIns="0" bIns="0">
            <a:noAutofit/>
          </a:bodyPr>
          <a:lstStyle>
            <a:defPPr>
              <a:defRPr sz="4500" b="1">
                <a:solidFill>
                  <a:srgbClr val="AA6717"/>
                </a:solidFill>
                <a:latin typeface="Arial"/>
                <a:ea typeface="Arial"/>
                <a:cs typeface="Arial"/>
              </a:defRPr>
            </a:defPPr>
          </a:lstStyle>
          <a:p>
            <a:pPr>
              <a:defRPr sz="4500" b="1">
                <a:solidFill>
                  <a:srgbClr val="AA6717"/>
                </a:solidFill>
                <a:latin typeface="Arial"/>
                <a:ea typeface="Arial"/>
                <a:cs typeface="Arial"/>
              </a:defRPr>
            </a:pPr>
            <a:r>
              <a:rPr sz="4500" b="1">
                <a:solidFill>
                  <a:srgbClr val="AA6717"/>
                </a:solidFill>
                <a:latin typeface="Arial"/>
                <a:ea typeface="Arial"/>
                <a:cs typeface="Arial"/>
              </a:rPr>
              <a:t>Y</a:t>
            </a:r>
          </a:p>
        </p:txBody>
      </p:sp>
      <p:sp>
        <p:nvSpPr>
          <p:cNvPr id="8" name="obj-24">
            <a:extLst>
              <a:ext uri="{FF2B5EF4-FFF2-40B4-BE49-F238E27FC236}">
                <a16:creationId xmlns:a16="http://schemas.microsoft.com/office/drawing/2014/main" id="{8BF55ED1-B7CB-4D8E-A72F-72300651CFFF}"/>
              </a:ext>
            </a:extLst>
          </p:cNvPr>
          <p:cNvSpPr>
            <a:spLocks noGrp="1"/>
          </p:cNvSpPr>
          <p:nvPr/>
        </p:nvSpPr>
        <p:spPr>
          <a:xfrm>
            <a:off x="1562100" y="2952750"/>
            <a:ext cx="3429000" cy="523875"/>
          </a:xfrm>
          <a:prstGeom prst="rect">
            <a:avLst/>
          </a:prstGeom>
          <a:noFill/>
          <a:ln w="0">
            <a:noFill/>
            <a:prstDash val="solid"/>
          </a:ln>
        </p:spPr>
        <p:txBody>
          <a:bodyPr wrap="square" lIns="0" tIns="0" rIns="0" bIns="0">
            <a:noAutofit/>
          </a:bodyPr>
          <a:lstStyle>
            <a:defPPr>
              <a:defRPr sz="2550" b="1">
                <a:solidFill>
                  <a:srgbClr val="AA6717"/>
                </a:solidFill>
                <a:latin typeface="Arial"/>
                <a:ea typeface="Arial"/>
                <a:cs typeface="Arial"/>
              </a:defRPr>
            </a:defPPr>
          </a:lstStyle>
          <a:p>
            <a:pPr>
              <a:defRPr sz="2550" b="1">
                <a:solidFill>
                  <a:srgbClr val="AA6717"/>
                </a:solidFill>
                <a:latin typeface="Arial"/>
                <a:ea typeface="Arial"/>
                <a:cs typeface="Arial"/>
              </a:defRPr>
            </a:pPr>
            <a:r>
              <a:rPr sz="2550" b="1">
                <a:solidFill>
                  <a:srgbClr val="AA6717"/>
                </a:solidFill>
                <a:latin typeface="Arial"/>
                <a:ea typeface="Arial"/>
                <a:cs typeface="Arial"/>
              </a:rPr>
              <a:t>Detección</a:t>
            </a:r>
          </a:p>
        </p:txBody>
      </p:sp>
      <p:sp>
        <p:nvSpPr>
          <p:cNvPr id="9" name="obj-25">
            <a:extLst>
              <a:ext uri="{FF2B5EF4-FFF2-40B4-BE49-F238E27FC236}">
                <a16:creationId xmlns:a16="http://schemas.microsoft.com/office/drawing/2014/main" id="{E6ECFCA6-98B3-4094-A67B-22AADAE52BA4}"/>
              </a:ext>
            </a:extLst>
          </p:cNvPr>
          <p:cNvSpPr>
            <a:spLocks noGrp="1"/>
          </p:cNvSpPr>
          <p:nvPr/>
        </p:nvSpPr>
        <p:spPr>
          <a:xfrm>
            <a:off x="5210175" y="2905125"/>
            <a:ext cx="6334125" cy="457200"/>
          </a:xfrm>
          <a:prstGeom prst="rect">
            <a:avLst/>
          </a:prstGeom>
          <a:noFill/>
          <a:ln w="0">
            <a:noFill/>
            <a:prstDash val="solid"/>
          </a:ln>
        </p:spPr>
        <p:txBody>
          <a:bodyPr wrap="square" lIns="0" tIns="0" rIns="0" bIns="0">
            <a:noAutofit/>
          </a:bodyPr>
          <a:lstStyle>
            <a:defPPr>
              <a:defRPr sz="2250" b="0">
                <a:solidFill>
                  <a:srgbClr val="18343A"/>
                </a:solidFill>
                <a:latin typeface="Arial"/>
                <a:ea typeface="Arial"/>
                <a:cs typeface="Arial"/>
              </a:defRPr>
            </a:defPPr>
          </a:lstStyle>
          <a:p>
            <a:pPr>
              <a:defRPr sz="2250" b="0">
                <a:solidFill>
                  <a:srgbClr val="18343A"/>
                </a:solidFill>
                <a:latin typeface="Arial"/>
                <a:ea typeface="Arial"/>
                <a:cs typeface="Arial"/>
              </a:defRPr>
            </a:pPr>
            <a:r>
              <a:rPr sz="2250" b="0">
                <a:solidFill>
                  <a:srgbClr val="18343A"/>
                </a:solidFill>
                <a:latin typeface="Arial"/>
                <a:ea typeface="Arial"/>
                <a:cs typeface="Arial"/>
              </a:rPr>
              <a:t>Reúne lo que medimos</a:t>
            </a:r>
          </a:p>
        </p:txBody>
      </p:sp>
      <p:sp>
        <p:nvSpPr>
          <p:cNvPr id="10" name="obj-26">
            <a:extLst>
              <a:ext uri="{FF2B5EF4-FFF2-40B4-BE49-F238E27FC236}">
                <a16:creationId xmlns:a16="http://schemas.microsoft.com/office/drawing/2014/main" id="{92C63D5E-23B2-476F-9EE9-B23896DAC571}"/>
              </a:ext>
            </a:extLst>
          </p:cNvPr>
          <p:cNvSpPr>
            <a:spLocks noGrp="1"/>
          </p:cNvSpPr>
          <p:nvPr/>
        </p:nvSpPr>
        <p:spPr>
          <a:xfrm>
            <a:off x="5210175" y="3400425"/>
            <a:ext cx="6334125" cy="619125"/>
          </a:xfrm>
          <a:prstGeom prst="rect">
            <a:avLst/>
          </a:prstGeom>
          <a:noFill/>
          <a:ln w="0">
            <a:noFill/>
            <a:prstDash val="solid"/>
          </a:ln>
        </p:spPr>
        <p:txBody>
          <a:bodyPr wrap="square" lIns="0" tIns="0" rIns="0" bIns="0">
            <a:noAutofit/>
          </a:bodyPr>
          <a:lstStyle>
            <a:defPPr>
              <a:defRPr sz="1950" b="0">
                <a:solidFill>
                  <a:srgbClr val="52656A"/>
                </a:solidFill>
                <a:latin typeface="Arial"/>
                <a:ea typeface="Arial"/>
                <a:cs typeface="Arial"/>
              </a:defRPr>
            </a:defPPr>
          </a:lstStyle>
          <a:p>
            <a:pPr>
              <a:defRPr sz="1950" b="0">
                <a:solidFill>
                  <a:srgbClr val="52656A"/>
                </a:solidFill>
                <a:latin typeface="Arial"/>
                <a:ea typeface="Arial"/>
                <a:cs typeface="Arial"/>
              </a:defRPr>
            </a:pPr>
            <a:r>
              <a:rPr sz="1950" b="0">
                <a:solidFill>
                  <a:srgbClr val="52656A"/>
                </a:solidFill>
                <a:latin typeface="Arial"/>
                <a:ea typeface="Arial"/>
                <a:cs typeface="Arial"/>
              </a:rPr>
              <a:t>Cobertura y regeneración observadas</a:t>
            </a:r>
          </a:p>
        </p:txBody>
      </p:sp>
      <p:sp>
        <p:nvSpPr>
          <p:cNvPr id="11" name="obj-27">
            <a:extLst>
              <a:ext uri="{FF2B5EF4-FFF2-40B4-BE49-F238E27FC236}">
                <a16:creationId xmlns:a16="http://schemas.microsoft.com/office/drawing/2014/main" id="{AD950868-92A6-40F5-821A-37951DC47AEF}"/>
              </a:ext>
            </a:extLst>
          </p:cNvPr>
          <p:cNvSpPr>
            <a:spLocks noGrp="1"/>
          </p:cNvSpPr>
          <p:nvPr/>
        </p:nvSpPr>
        <p:spPr>
          <a:xfrm>
            <a:off x="609600" y="4267200"/>
            <a:ext cx="666750" cy="762000"/>
          </a:xfrm>
          <a:prstGeom prst="rect">
            <a:avLst/>
          </a:prstGeom>
          <a:noFill/>
          <a:ln w="0">
            <a:noFill/>
            <a:prstDash val="solid"/>
          </a:ln>
        </p:spPr>
        <p:txBody>
          <a:bodyPr wrap="square" lIns="0" tIns="0" rIns="0" bIns="0">
            <a:noAutofit/>
          </a:bodyPr>
          <a:lstStyle>
            <a:defPPr>
              <a:defRPr sz="4500" b="1">
                <a:solidFill>
                  <a:srgbClr val="73528C"/>
                </a:solidFill>
                <a:latin typeface="Arial"/>
                <a:ea typeface="Arial"/>
                <a:cs typeface="Arial"/>
              </a:defRPr>
            </a:defPPr>
          </a:lstStyle>
          <a:p>
            <a:pPr>
              <a:defRPr sz="4500" b="1">
                <a:solidFill>
                  <a:srgbClr val="73528C"/>
                </a:solidFill>
                <a:latin typeface="Arial"/>
                <a:ea typeface="Arial"/>
                <a:cs typeface="Arial"/>
              </a:defRPr>
            </a:pPr>
            <a:r>
              <a:rPr sz="4500" b="1">
                <a:solidFill>
                  <a:srgbClr val="73528C"/>
                </a:solidFill>
                <a:latin typeface="Arial"/>
                <a:ea typeface="Arial"/>
                <a:cs typeface="Arial"/>
              </a:rPr>
              <a:t>Z</a:t>
            </a:r>
          </a:p>
        </p:txBody>
      </p:sp>
      <p:sp>
        <p:nvSpPr>
          <p:cNvPr id="12" name="obj-28">
            <a:extLst>
              <a:ext uri="{FF2B5EF4-FFF2-40B4-BE49-F238E27FC236}">
                <a16:creationId xmlns:a16="http://schemas.microsoft.com/office/drawing/2014/main" id="{C9BD2BEE-5629-43E1-B2B8-FD1A045BB584}"/>
              </a:ext>
            </a:extLst>
          </p:cNvPr>
          <p:cNvSpPr>
            <a:spLocks noGrp="1"/>
          </p:cNvSpPr>
          <p:nvPr/>
        </p:nvSpPr>
        <p:spPr>
          <a:xfrm>
            <a:off x="1562100" y="4314825"/>
            <a:ext cx="3429000" cy="523875"/>
          </a:xfrm>
          <a:prstGeom prst="rect">
            <a:avLst/>
          </a:prstGeom>
          <a:noFill/>
          <a:ln w="0">
            <a:noFill/>
            <a:prstDash val="solid"/>
          </a:ln>
        </p:spPr>
        <p:txBody>
          <a:bodyPr wrap="square" lIns="0" tIns="0" rIns="0" bIns="0">
            <a:noAutofit/>
          </a:bodyPr>
          <a:lstStyle>
            <a:defPPr>
              <a:defRPr sz="2550" b="1">
                <a:solidFill>
                  <a:srgbClr val="73528C"/>
                </a:solidFill>
                <a:latin typeface="Arial"/>
                <a:ea typeface="Arial"/>
                <a:cs typeface="Arial"/>
              </a:defRPr>
            </a:defPPr>
          </a:lstStyle>
          <a:p>
            <a:pPr>
              <a:defRPr sz="2550" b="1">
                <a:solidFill>
                  <a:srgbClr val="73528C"/>
                </a:solidFill>
                <a:latin typeface="Arial"/>
                <a:ea typeface="Arial"/>
                <a:cs typeface="Arial"/>
              </a:defRPr>
            </a:pPr>
            <a:r>
              <a:rPr sz="2550" b="1">
                <a:solidFill>
                  <a:srgbClr val="73528C"/>
                </a:solidFill>
                <a:latin typeface="Arial"/>
                <a:ea typeface="Arial"/>
                <a:cs typeface="Arial"/>
              </a:rPr>
              <a:t>Latente</a:t>
            </a:r>
          </a:p>
        </p:txBody>
      </p:sp>
      <p:sp>
        <p:nvSpPr>
          <p:cNvPr id="13" name="obj-29">
            <a:extLst>
              <a:ext uri="{FF2B5EF4-FFF2-40B4-BE49-F238E27FC236}">
                <a16:creationId xmlns:a16="http://schemas.microsoft.com/office/drawing/2014/main" id="{B8D8C7B1-2771-4AC1-8948-21B363E6BC0B}"/>
              </a:ext>
            </a:extLst>
          </p:cNvPr>
          <p:cNvSpPr>
            <a:spLocks noGrp="1"/>
          </p:cNvSpPr>
          <p:nvPr/>
        </p:nvSpPr>
        <p:spPr>
          <a:xfrm>
            <a:off x="5210175" y="4267200"/>
            <a:ext cx="6334125" cy="457200"/>
          </a:xfrm>
          <a:prstGeom prst="rect">
            <a:avLst/>
          </a:prstGeom>
          <a:noFill/>
          <a:ln w="0">
            <a:noFill/>
            <a:prstDash val="solid"/>
          </a:ln>
        </p:spPr>
        <p:txBody>
          <a:bodyPr wrap="square" lIns="0" tIns="0" rIns="0" bIns="0">
            <a:noAutofit/>
          </a:bodyPr>
          <a:lstStyle>
            <a:defPPr>
              <a:defRPr sz="2250" b="0">
                <a:solidFill>
                  <a:srgbClr val="18343A"/>
                </a:solidFill>
                <a:latin typeface="Arial"/>
                <a:ea typeface="Arial"/>
                <a:cs typeface="Arial"/>
              </a:defRPr>
            </a:defPPr>
          </a:lstStyle>
          <a:p>
            <a:pPr>
              <a:defRPr sz="2250" b="0">
                <a:solidFill>
                  <a:srgbClr val="18343A"/>
                </a:solidFill>
                <a:latin typeface="Arial"/>
                <a:ea typeface="Arial"/>
                <a:cs typeface="Arial"/>
              </a:defRPr>
            </a:pPr>
            <a:r>
              <a:rPr sz="2250" b="0">
                <a:solidFill>
                  <a:srgbClr val="18343A"/>
                </a:solidFill>
                <a:latin typeface="Arial"/>
                <a:ea typeface="Arial"/>
                <a:cs typeface="Arial"/>
              </a:rPr>
              <a:t>Representa la condición inferida</a:t>
            </a:r>
          </a:p>
        </p:txBody>
      </p:sp>
      <p:sp>
        <p:nvSpPr>
          <p:cNvPr id="14" name="obj-30">
            <a:extLst>
              <a:ext uri="{FF2B5EF4-FFF2-40B4-BE49-F238E27FC236}">
                <a16:creationId xmlns:a16="http://schemas.microsoft.com/office/drawing/2014/main" id="{A4265236-1610-466A-AFCF-DDBD6DB74B3B}"/>
              </a:ext>
            </a:extLst>
          </p:cNvPr>
          <p:cNvSpPr>
            <a:spLocks noGrp="1"/>
          </p:cNvSpPr>
          <p:nvPr/>
        </p:nvSpPr>
        <p:spPr>
          <a:xfrm>
            <a:off x="5210175" y="4762500"/>
            <a:ext cx="6334125" cy="619125"/>
          </a:xfrm>
          <a:prstGeom prst="rect">
            <a:avLst/>
          </a:prstGeom>
          <a:noFill/>
          <a:ln w="0">
            <a:noFill/>
            <a:prstDash val="solid"/>
          </a:ln>
        </p:spPr>
        <p:txBody>
          <a:bodyPr wrap="square" lIns="0" tIns="0" rIns="0" bIns="0">
            <a:noAutofit/>
          </a:bodyPr>
          <a:lstStyle>
            <a:defPPr>
              <a:defRPr sz="1950" b="0">
                <a:solidFill>
                  <a:srgbClr val="52656A"/>
                </a:solidFill>
                <a:latin typeface="Arial"/>
                <a:ea typeface="Arial"/>
                <a:cs typeface="Arial"/>
              </a:defRPr>
            </a:defPPr>
          </a:lstStyle>
          <a:p>
            <a:pPr>
              <a:defRPr sz="1950" b="0">
                <a:solidFill>
                  <a:srgbClr val="52656A"/>
                </a:solidFill>
                <a:latin typeface="Arial"/>
                <a:ea typeface="Arial"/>
                <a:cs typeface="Arial"/>
              </a:defRPr>
            </a:pPr>
            <a:r>
              <a:rPr sz="1950" b="0">
                <a:solidFill>
                  <a:srgbClr val="52656A"/>
                </a:solidFill>
                <a:latin typeface="Arial"/>
                <a:ea typeface="Arial"/>
                <a:cs typeface="Arial"/>
              </a:rPr>
              <a:t>Diagnóstico con incertidumbre</a:t>
            </a:r>
          </a:p>
        </p:txBody>
      </p:sp>
      <p:sp>
        <p:nvSpPr>
          <p:cNvPr id="15" name="obj-31">
            <a:extLst>
              <a:ext uri="{FF2B5EF4-FFF2-40B4-BE49-F238E27FC236}">
                <a16:creationId xmlns:a16="http://schemas.microsoft.com/office/drawing/2014/main" id="{241B2937-13A6-4EAB-81F2-8F7377CA560D}"/>
              </a:ext>
            </a:extLst>
          </p:cNvPr>
          <p:cNvSpPr>
            <a:spLocks noGrp="1"/>
          </p:cNvSpPr>
          <p:nvPr/>
        </p:nvSpPr>
        <p:spPr>
          <a:xfrm>
            <a:off x="609600" y="5972175"/>
            <a:ext cx="10668000" cy="381000"/>
          </a:xfrm>
          <a:prstGeom prst="rect">
            <a:avLst/>
          </a:prstGeom>
          <a:noFill/>
          <a:ln w="0">
            <a:noFill/>
            <a:prstDash val="solid"/>
          </a:ln>
        </p:spPr>
        <p:txBody>
          <a:bodyPr wrap="square" lIns="0" tIns="0" rIns="0" bIns="0">
            <a:noAutofit/>
          </a:bodyPr>
          <a:lstStyle>
            <a:defPPr>
              <a:defRPr sz="1725" b="0">
                <a:solidFill>
                  <a:srgbClr val="52656A"/>
                </a:solidFill>
                <a:latin typeface="Arial"/>
                <a:ea typeface="Arial"/>
                <a:cs typeface="Arial"/>
              </a:defRPr>
            </a:defPPr>
          </a:lstStyle>
          <a:p>
            <a:pPr>
              <a:defRPr sz="1725" b="0">
                <a:solidFill>
                  <a:srgbClr val="52656A"/>
                </a:solidFill>
                <a:latin typeface="Arial"/>
                <a:ea typeface="Arial"/>
                <a:cs typeface="Arial"/>
              </a:defRPr>
            </a:pPr>
            <a:r>
              <a:rPr sz="1725" b="0">
                <a:solidFill>
                  <a:srgbClr val="52656A"/>
                </a:solidFill>
                <a:latin typeface="Arial"/>
                <a:ea typeface="Arial"/>
                <a:cs typeface="Arial"/>
              </a:rPr>
              <a:t>El contexto natural y las presiones humanas cumplen funciones distintas</a:t>
            </a:r>
          </a:p>
        </p:txBody>
      </p:sp>
    </p:spTree>
    <p:extLst>
      <p:ext uri="{BB962C8B-B14F-4D97-AF65-F5344CB8AC3E}">
        <p14:creationId xmlns:p14="http://schemas.microsoft.com/office/powerpoint/2010/main" val="4813176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11" name="obj-32">
            <a:extLst>
              <a:ext uri="{FF2B5EF4-FFF2-40B4-BE49-F238E27FC236}">
                <a16:creationId xmlns:a16="http://schemas.microsoft.com/office/drawing/2014/main" id="{2B21B064-78C2-4CFB-AAF8-C7CF430487EB}"/>
              </a:ext>
            </a:extLst>
          </p:cNvPr>
          <p:cNvSpPr>
            <a:spLocks noGrp="1"/>
          </p:cNvSpPr>
          <p:nvPr/>
        </p:nvSpPr>
        <p:spPr>
          <a:xfrm>
            <a:off x="609600" y="381000"/>
            <a:ext cx="10953750" cy="762000"/>
          </a:xfrm>
          <a:prstGeom prst="rect">
            <a:avLst/>
          </a:prstGeom>
          <a:noFill/>
          <a:ln w="0">
            <a:noFill/>
            <a:prstDash val="solid"/>
          </a:ln>
        </p:spPr>
        <p:txBody>
          <a:bodyPr wrap="square" lIns="0" tIns="0" rIns="0" bIns="0">
            <a:noAutofit/>
          </a:bodyPr>
          <a:lstStyle>
            <a:defPPr>
              <a:defRPr sz="3300" b="1">
                <a:solidFill>
                  <a:srgbClr val="18343A"/>
                </a:solidFill>
                <a:latin typeface="Arial"/>
                <a:ea typeface="Arial"/>
                <a:cs typeface="Arial"/>
              </a:defRPr>
            </a:defPPr>
          </a:lstStyle>
          <a:p>
            <a:pPr>
              <a:defRPr sz="3300" b="1">
                <a:solidFill>
                  <a:srgbClr val="18343A"/>
                </a:solidFill>
                <a:latin typeface="Arial"/>
                <a:ea typeface="Arial"/>
                <a:cs typeface="Arial"/>
              </a:defRPr>
            </a:pPr>
            <a:r>
              <a:rPr sz="3300" b="1">
                <a:solidFill>
                  <a:srgbClr val="18343A"/>
                </a:solidFill>
                <a:latin typeface="Arial"/>
                <a:ea typeface="Arial"/>
                <a:cs typeface="Arial"/>
              </a:rPr>
              <a:t>Pensamiento sistémico y red bayesiana</a:t>
            </a:r>
          </a:p>
        </p:txBody>
      </p:sp>
      <p:sp>
        <p:nvSpPr>
          <p:cNvPr id="2" name="obj-33">
            <a:extLst>
              <a:ext uri="{FF2B5EF4-FFF2-40B4-BE49-F238E27FC236}">
                <a16:creationId xmlns:a16="http://schemas.microsoft.com/office/drawing/2014/main" id="{FB95D986-66EF-4641-A077-8E98D6D301F8}"/>
              </a:ext>
            </a:extLst>
          </p:cNvPr>
          <p:cNvSpPr>
            <a:spLocks noGrp="1"/>
          </p:cNvSpPr>
          <p:nvPr/>
        </p:nvSpPr>
        <p:spPr>
          <a:xfrm>
            <a:off x="11144250" y="6410325"/>
            <a:ext cx="428625" cy="247650"/>
          </a:xfrm>
          <a:prstGeom prst="rect">
            <a:avLst/>
          </a:prstGeom>
          <a:noFill/>
          <a:ln w="0">
            <a:noFill/>
            <a:prstDash val="solid"/>
          </a:ln>
        </p:spPr>
        <p:txBody>
          <a:bodyPr wrap="square" lIns="0" tIns="0" rIns="0" bIns="0">
            <a:noAutofit/>
          </a:bodyPr>
          <a:lstStyle>
            <a:defPPr>
              <a:defRPr sz="1350" b="0">
                <a:solidFill>
                  <a:srgbClr val="52656A"/>
                </a:solidFill>
                <a:latin typeface="Arial"/>
                <a:ea typeface="Arial"/>
                <a:cs typeface="Arial"/>
              </a:defRPr>
            </a:defPPr>
          </a:lstStyle>
          <a:p>
            <a:pPr>
              <a:defRPr sz="1350" b="0">
                <a:solidFill>
                  <a:srgbClr val="52656A"/>
                </a:solidFill>
                <a:latin typeface="Arial"/>
                <a:ea typeface="Arial"/>
                <a:cs typeface="Arial"/>
              </a:defRPr>
            </a:pPr>
            <a:r>
              <a:rPr sz="1350" b="0">
                <a:solidFill>
                  <a:srgbClr val="52656A"/>
                </a:solidFill>
                <a:latin typeface="Arial"/>
                <a:ea typeface="Arial"/>
                <a:cs typeface="Arial"/>
              </a:rPr>
              <a:t>05</a:t>
            </a:r>
          </a:p>
        </p:txBody>
      </p:sp>
      <p:pic>
        <p:nvPicPr>
          <p:cNvPr id="3" name="Imagen 2">
            <a:extLst>
              <a:ext uri="{FF2B5EF4-FFF2-40B4-BE49-F238E27FC236}">
                <a16:creationId xmlns:a16="http://schemas.microsoft.com/office/drawing/2014/main" id="{7BDB229A-EB23-4A9F-9472-D99D39141A5F}"/>
              </a:ext>
            </a:extLst>
          </p:cNvPr>
          <p:cNvPicPr>
            <a:picLocks noChangeAspect="1"/>
          </p:cNvPicPr>
          <p:nvPr/>
        </p:nvPicPr>
        <p:blipFill>
          <a:blip r:embed="rId3"/>
          <a:stretch/>
        </p:blipFill>
        <p:spPr>
          <a:xfrm>
            <a:off x="1427304" y="1333500"/>
            <a:ext cx="3508092" cy="2619375"/>
          </a:xfrm>
          <a:prstGeom prst="rect">
            <a:avLst/>
          </a:prstGeom>
        </p:spPr>
      </p:pic>
      <p:sp>
        <p:nvSpPr>
          <p:cNvPr id="4" name="obj-34">
            <a:extLst>
              <a:ext uri="{FF2B5EF4-FFF2-40B4-BE49-F238E27FC236}">
                <a16:creationId xmlns:a16="http://schemas.microsoft.com/office/drawing/2014/main" id="{5AB4DA72-2BE5-4ED7-8ED7-FEDF2DC4BAC2}"/>
              </a:ext>
            </a:extLst>
          </p:cNvPr>
          <p:cNvSpPr>
            <a:spLocks noGrp="1"/>
          </p:cNvSpPr>
          <p:nvPr/>
        </p:nvSpPr>
        <p:spPr>
          <a:xfrm>
            <a:off x="609600" y="4276725"/>
            <a:ext cx="5143500" cy="438150"/>
          </a:xfrm>
          <a:prstGeom prst="rect">
            <a:avLst/>
          </a:prstGeom>
          <a:noFill/>
          <a:ln w="0">
            <a:noFill/>
            <a:prstDash val="solid"/>
          </a:ln>
        </p:spPr>
        <p:txBody>
          <a:bodyPr wrap="square" lIns="0" tIns="0" rIns="0" bIns="0">
            <a:noAutofit/>
          </a:bodyPr>
          <a:lstStyle>
            <a:defPPr>
              <a:defRPr sz="2400" b="1">
                <a:solidFill>
                  <a:srgbClr val="087E86"/>
                </a:solidFill>
                <a:latin typeface="Arial"/>
                <a:ea typeface="Arial"/>
                <a:cs typeface="Arial"/>
              </a:defRPr>
            </a:defPPr>
          </a:lstStyle>
          <a:p>
            <a:pPr>
              <a:defRPr sz="2400" b="1">
                <a:solidFill>
                  <a:srgbClr val="087E86"/>
                </a:solidFill>
                <a:latin typeface="Arial"/>
                <a:ea typeface="Arial"/>
                <a:cs typeface="Arial"/>
              </a:defRPr>
            </a:pPr>
            <a:r>
              <a:rPr sz="2400" b="1">
                <a:solidFill>
                  <a:srgbClr val="087E86"/>
                </a:solidFill>
                <a:latin typeface="Arial"/>
                <a:ea typeface="Arial"/>
                <a:cs typeface="Arial"/>
              </a:rPr>
              <a:t>Una pecera</a:t>
            </a:r>
          </a:p>
        </p:txBody>
      </p:sp>
      <p:sp>
        <p:nvSpPr>
          <p:cNvPr id="5" name="obj-35">
            <a:extLst>
              <a:ext uri="{FF2B5EF4-FFF2-40B4-BE49-F238E27FC236}">
                <a16:creationId xmlns:a16="http://schemas.microsoft.com/office/drawing/2014/main" id="{4BEF3D7B-C9AC-40FB-AAB3-8F85505C6DEA}"/>
              </a:ext>
            </a:extLst>
          </p:cNvPr>
          <p:cNvSpPr>
            <a:spLocks noGrp="1"/>
          </p:cNvSpPr>
          <p:nvPr/>
        </p:nvSpPr>
        <p:spPr>
          <a:xfrm>
            <a:off x="609600" y="4867275"/>
            <a:ext cx="5143500" cy="885825"/>
          </a:xfrm>
          <a:prstGeom prst="rect">
            <a:avLst/>
          </a:prstGeom>
          <a:noFill/>
          <a:ln w="0">
            <a:noFill/>
            <a:prstDash val="solid"/>
          </a:ln>
        </p:spPr>
        <p:txBody>
          <a:bodyPr wrap="square" lIns="0" tIns="0" rIns="0" bIns="0">
            <a:noAutofit/>
          </a:bodyPr>
          <a:lstStyle>
            <a:defPPr>
              <a:defRPr sz="2100" b="0">
                <a:solidFill>
                  <a:srgbClr val="18343A"/>
                </a:solidFill>
                <a:latin typeface="Arial"/>
                <a:ea typeface="Arial"/>
                <a:cs typeface="Arial"/>
              </a:defRPr>
            </a:defPPr>
          </a:lstStyle>
          <a:p>
            <a:pPr>
              <a:defRPr sz="2100" b="0">
                <a:solidFill>
                  <a:srgbClr val="18343A"/>
                </a:solidFill>
                <a:latin typeface="Arial"/>
                <a:ea typeface="Arial"/>
                <a:cs typeface="Arial"/>
              </a:defRPr>
            </a:pPr>
            <a:r>
              <a:rPr sz="2100" b="0">
                <a:solidFill>
                  <a:srgbClr val="18343A"/>
                </a:solidFill>
                <a:latin typeface="Arial"/>
                <a:ea typeface="Arial"/>
                <a:cs typeface="Arial"/>
              </a:rPr>
              <a:t>Los desechos se acumulan</a:t>
            </a:r>
          </a:p>
          <a:p>
            <a:pPr>
              <a:defRPr sz="2100" b="0">
                <a:solidFill>
                  <a:srgbClr val="18343A"/>
                </a:solidFill>
                <a:latin typeface="Arial"/>
                <a:ea typeface="Arial"/>
                <a:cs typeface="Arial"/>
              </a:defRPr>
            </a:pPr>
            <a:r>
              <a:rPr sz="2100" b="0">
                <a:solidFill>
                  <a:srgbClr val="18343A"/>
                </a:solidFill>
                <a:latin typeface="Arial"/>
                <a:ea typeface="Arial"/>
                <a:cs typeface="Arial"/>
              </a:rPr>
              <a:t>Los efectos pueden aparecer más tarde</a:t>
            </a:r>
          </a:p>
        </p:txBody>
      </p:sp>
      <p:sp>
        <p:nvSpPr>
          <p:cNvPr id="6" name="obj-36">
            <a:extLst>
              <a:ext uri="{FF2B5EF4-FFF2-40B4-BE49-F238E27FC236}">
                <a16:creationId xmlns:a16="http://schemas.microsoft.com/office/drawing/2014/main" id="{A7DE0374-B05A-45C2-9F3D-136F99A160E2}"/>
              </a:ext>
            </a:extLst>
          </p:cNvPr>
          <p:cNvSpPr>
            <a:spLocks noGrp="1"/>
          </p:cNvSpPr>
          <p:nvPr/>
        </p:nvSpPr>
        <p:spPr>
          <a:xfrm>
            <a:off x="6381750" y="1533525"/>
            <a:ext cx="5143500" cy="838200"/>
          </a:xfrm>
          <a:prstGeom prst="rect">
            <a:avLst/>
          </a:prstGeom>
          <a:noFill/>
          <a:ln w="0">
            <a:noFill/>
            <a:prstDash val="solid"/>
          </a:ln>
        </p:spPr>
        <p:txBody>
          <a:bodyPr wrap="square" lIns="0" tIns="0" rIns="0" bIns="0">
            <a:noAutofit/>
          </a:bodyPr>
          <a:lstStyle>
            <a:defPPr>
              <a:defRPr sz="2550" b="1">
                <a:solidFill>
                  <a:srgbClr val="18343A"/>
                </a:solidFill>
                <a:latin typeface="Arial"/>
                <a:ea typeface="Arial"/>
                <a:cs typeface="Arial"/>
              </a:defRPr>
            </a:defPPr>
          </a:lstStyle>
          <a:p>
            <a:pPr>
              <a:defRPr sz="2550" b="1">
                <a:solidFill>
                  <a:srgbClr val="18343A"/>
                </a:solidFill>
                <a:latin typeface="Arial"/>
                <a:ea typeface="Arial"/>
                <a:cs typeface="Arial"/>
              </a:defRPr>
            </a:pPr>
            <a:r>
              <a:rPr sz="2550" b="1">
                <a:solidFill>
                  <a:srgbClr val="18343A"/>
                </a:solidFill>
                <a:latin typeface="Arial"/>
                <a:ea typeface="Arial"/>
                <a:cs typeface="Arial"/>
              </a:rPr>
              <a:t>Una representación del sistema</a:t>
            </a:r>
          </a:p>
        </p:txBody>
      </p:sp>
      <p:sp>
        <p:nvSpPr>
          <p:cNvPr id="7" name="obj-37">
            <a:extLst>
              <a:ext uri="{FF2B5EF4-FFF2-40B4-BE49-F238E27FC236}">
                <a16:creationId xmlns:a16="http://schemas.microsoft.com/office/drawing/2014/main" id="{13DC2967-3ECE-4460-B0F8-EBEBCF754A2E}"/>
              </a:ext>
            </a:extLst>
          </p:cNvPr>
          <p:cNvSpPr>
            <a:spLocks noGrp="1"/>
          </p:cNvSpPr>
          <p:nvPr/>
        </p:nvSpPr>
        <p:spPr>
          <a:xfrm>
            <a:off x="6381750" y="2581275"/>
            <a:ext cx="5143500" cy="1257300"/>
          </a:xfrm>
          <a:prstGeom prst="rect">
            <a:avLst/>
          </a:prstGeom>
          <a:noFill/>
          <a:ln w="0">
            <a:noFill/>
            <a:prstDash val="solid"/>
          </a:ln>
        </p:spPr>
        <p:txBody>
          <a:bodyPr wrap="square" lIns="0" tIns="0" rIns="0" bIns="0">
            <a:noAutofit/>
          </a:bodyPr>
          <a:lstStyle>
            <a:defPPr>
              <a:defRPr sz="2100" b="0">
                <a:solidFill>
                  <a:srgbClr val="18343A"/>
                </a:solidFill>
                <a:latin typeface="Arial"/>
                <a:ea typeface="Arial"/>
                <a:cs typeface="Arial"/>
              </a:defRPr>
            </a:defPPr>
          </a:lstStyle>
          <a:p>
            <a:pPr>
              <a:defRPr sz="2100" b="0">
                <a:solidFill>
                  <a:srgbClr val="18343A"/>
                </a:solidFill>
                <a:latin typeface="Arial"/>
                <a:ea typeface="Arial"/>
                <a:cs typeface="Arial"/>
              </a:defRPr>
            </a:pPr>
            <a:r>
              <a:rPr sz="2100" b="0">
                <a:solidFill>
                  <a:srgbClr val="18343A"/>
                </a:solidFill>
                <a:latin typeface="Arial"/>
                <a:ea typeface="Arial"/>
                <a:cs typeface="Arial"/>
              </a:rPr>
              <a:t>Elegimos variables y relaciones</a:t>
            </a:r>
          </a:p>
          <a:p>
            <a:pPr>
              <a:defRPr sz="2100" b="0">
                <a:solidFill>
                  <a:srgbClr val="18343A"/>
                </a:solidFill>
                <a:latin typeface="Arial"/>
                <a:ea typeface="Arial"/>
                <a:cs typeface="Arial"/>
              </a:defRPr>
            </a:pPr>
            <a:r>
              <a:rPr sz="2100" b="0">
                <a:solidFill>
                  <a:srgbClr val="18343A"/>
                </a:solidFill>
                <a:latin typeface="Arial"/>
                <a:ea typeface="Arial"/>
                <a:cs typeface="Arial"/>
              </a:rPr>
              <a:t>Asignamos probabilidades a sus</a:t>
            </a:r>
          </a:p>
          <a:p>
            <a:pPr>
              <a:defRPr sz="2100" b="0">
                <a:solidFill>
                  <a:srgbClr val="18343A"/>
                </a:solidFill>
                <a:latin typeface="Arial"/>
                <a:ea typeface="Arial"/>
                <a:cs typeface="Arial"/>
              </a:defRPr>
            </a:pPr>
            <a:r>
              <a:rPr sz="2100" b="0">
                <a:solidFill>
                  <a:srgbClr val="18343A"/>
                </a:solidFill>
                <a:latin typeface="Arial"/>
                <a:ea typeface="Arial"/>
                <a:cs typeface="Arial"/>
              </a:rPr>
              <a:t>combinaciones de valores</a:t>
            </a:r>
          </a:p>
        </p:txBody>
      </p:sp>
      <p:sp>
        <p:nvSpPr>
          <p:cNvPr id="8" name="obj-38">
            <a:extLst>
              <a:ext uri="{FF2B5EF4-FFF2-40B4-BE49-F238E27FC236}">
                <a16:creationId xmlns:a16="http://schemas.microsoft.com/office/drawing/2014/main" id="{2BA3B55B-31CD-4714-B4FB-7C4148C6D213}"/>
              </a:ext>
            </a:extLst>
          </p:cNvPr>
          <p:cNvSpPr>
            <a:spLocks noGrp="1"/>
          </p:cNvSpPr>
          <p:nvPr/>
        </p:nvSpPr>
        <p:spPr>
          <a:xfrm>
            <a:off x="6381750" y="4276725"/>
            <a:ext cx="5143500" cy="438150"/>
          </a:xfrm>
          <a:prstGeom prst="rect">
            <a:avLst/>
          </a:prstGeom>
          <a:noFill/>
          <a:ln w="0">
            <a:noFill/>
            <a:prstDash val="solid"/>
          </a:ln>
        </p:spPr>
        <p:txBody>
          <a:bodyPr wrap="square" lIns="0" tIns="0" rIns="0" bIns="0">
            <a:noAutofit/>
          </a:bodyPr>
          <a:lstStyle>
            <a:defPPr>
              <a:defRPr sz="2400" b="1">
                <a:solidFill>
                  <a:srgbClr val="73528C"/>
                </a:solidFill>
                <a:latin typeface="Arial"/>
                <a:ea typeface="Arial"/>
                <a:cs typeface="Arial"/>
              </a:defRPr>
            </a:defPPr>
          </a:lstStyle>
          <a:p>
            <a:pPr>
              <a:defRPr sz="2400" b="1">
                <a:solidFill>
                  <a:srgbClr val="73528C"/>
                </a:solidFill>
                <a:latin typeface="Arial"/>
                <a:ea typeface="Arial"/>
                <a:cs typeface="Arial"/>
              </a:defRPr>
            </a:pPr>
            <a:r>
              <a:rPr sz="2400" b="1">
                <a:solidFill>
                  <a:srgbClr val="73528C"/>
                </a:solidFill>
                <a:latin typeface="Arial"/>
                <a:ea typeface="Arial"/>
                <a:cs typeface="Arial"/>
              </a:rPr>
              <a:t>La distribución conjunta</a:t>
            </a:r>
          </a:p>
        </p:txBody>
      </p:sp>
      <p:sp>
        <p:nvSpPr>
          <p:cNvPr id="9" name="obj-39">
            <a:extLst>
              <a:ext uri="{FF2B5EF4-FFF2-40B4-BE49-F238E27FC236}">
                <a16:creationId xmlns:a16="http://schemas.microsoft.com/office/drawing/2014/main" id="{EC4922EC-971F-4C32-A75B-A677400F828D}"/>
              </a:ext>
            </a:extLst>
          </p:cNvPr>
          <p:cNvSpPr>
            <a:spLocks noGrp="1"/>
          </p:cNvSpPr>
          <p:nvPr/>
        </p:nvSpPr>
        <p:spPr>
          <a:xfrm>
            <a:off x="6381750" y="4867275"/>
            <a:ext cx="5143500" cy="885825"/>
          </a:xfrm>
          <a:prstGeom prst="rect">
            <a:avLst/>
          </a:prstGeom>
          <a:noFill/>
          <a:ln w="0">
            <a:noFill/>
            <a:prstDash val="solid"/>
          </a:ln>
        </p:spPr>
        <p:txBody>
          <a:bodyPr wrap="square" lIns="0" tIns="0" rIns="0" bIns="0">
            <a:noAutofit/>
          </a:bodyPr>
          <a:lstStyle>
            <a:defPPr>
              <a:defRPr sz="2100" b="0">
                <a:solidFill>
                  <a:srgbClr val="18343A"/>
                </a:solidFill>
                <a:latin typeface="Arial"/>
                <a:ea typeface="Arial"/>
                <a:cs typeface="Arial"/>
              </a:defRPr>
            </a:defPPr>
          </a:lstStyle>
          <a:p>
            <a:pPr>
              <a:defRPr sz="2100" b="0">
                <a:solidFill>
                  <a:srgbClr val="18343A"/>
                </a:solidFill>
                <a:latin typeface="Arial"/>
                <a:ea typeface="Arial"/>
                <a:cs typeface="Arial"/>
              </a:defRPr>
            </a:pPr>
            <a:r>
              <a:rPr sz="2100" b="0">
                <a:solidFill>
                  <a:srgbClr val="18343A"/>
                </a:solidFill>
                <a:latin typeface="Arial"/>
                <a:ea typeface="Arial"/>
                <a:cs typeface="Arial"/>
              </a:rPr>
              <a:t>Reúne las variables incluidas</a:t>
            </a:r>
          </a:p>
          <a:p>
            <a:pPr>
              <a:defRPr sz="2100" b="0">
                <a:solidFill>
                  <a:srgbClr val="18343A"/>
                </a:solidFill>
                <a:latin typeface="Arial"/>
                <a:ea typeface="Arial"/>
                <a:cs typeface="Arial"/>
              </a:defRPr>
            </a:pPr>
            <a:r>
              <a:rPr sz="2100" b="0">
                <a:solidFill>
                  <a:srgbClr val="18343A"/>
                </a:solidFill>
                <a:latin typeface="Arial"/>
                <a:ea typeface="Arial"/>
                <a:cs typeface="Arial"/>
              </a:rPr>
              <a:t>y sus combinaciones posibles</a:t>
            </a:r>
          </a:p>
        </p:txBody>
      </p:sp>
      <p:sp>
        <p:nvSpPr>
          <p:cNvPr id="10" name="obj-40">
            <a:extLst>
              <a:ext uri="{FF2B5EF4-FFF2-40B4-BE49-F238E27FC236}">
                <a16:creationId xmlns:a16="http://schemas.microsoft.com/office/drawing/2014/main" id="{487A819F-096D-42ED-A0E7-3DBD8EABEB99}"/>
              </a:ext>
            </a:extLst>
          </p:cNvPr>
          <p:cNvSpPr>
            <a:spLocks noGrp="1"/>
          </p:cNvSpPr>
          <p:nvPr/>
        </p:nvSpPr>
        <p:spPr>
          <a:xfrm>
            <a:off x="609600" y="5972175"/>
            <a:ext cx="10668000" cy="381000"/>
          </a:xfrm>
          <a:prstGeom prst="rect">
            <a:avLst/>
          </a:prstGeom>
          <a:noFill/>
          <a:ln w="0">
            <a:noFill/>
            <a:prstDash val="solid"/>
          </a:ln>
        </p:spPr>
        <p:txBody>
          <a:bodyPr wrap="square" lIns="0" tIns="0" rIns="0" bIns="0">
            <a:noAutofit/>
          </a:bodyPr>
          <a:lstStyle>
            <a:defPPr>
              <a:defRPr sz="1725" b="0">
                <a:solidFill>
                  <a:srgbClr val="52656A"/>
                </a:solidFill>
                <a:latin typeface="Arial"/>
                <a:ea typeface="Arial"/>
                <a:cs typeface="Arial"/>
              </a:defRPr>
            </a:defPPr>
          </a:lstStyle>
          <a:p>
            <a:pPr>
              <a:defRPr sz="1725" b="0">
                <a:solidFill>
                  <a:srgbClr val="52656A"/>
                </a:solidFill>
                <a:latin typeface="Arial"/>
                <a:ea typeface="Arial"/>
                <a:cs typeface="Arial"/>
              </a:defRPr>
            </a:pPr>
            <a:r>
              <a:rPr sz="1725" b="0">
                <a:solidFill>
                  <a:srgbClr val="52656A"/>
                </a:solidFill>
                <a:latin typeface="Arial"/>
                <a:ea typeface="Arial"/>
                <a:cs typeface="Arial"/>
              </a:rPr>
              <a:t>DAG: grafo dirigido acíclico. Sus flechas no demuestran causalidad</a:t>
            </a:r>
          </a:p>
        </p:txBody>
      </p:sp>
    </p:spTree>
    <p:extLst>
      <p:ext uri="{BB962C8B-B14F-4D97-AF65-F5344CB8AC3E}">
        <p14:creationId xmlns:p14="http://schemas.microsoft.com/office/powerpoint/2010/main" val="262623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cxnSp>
        <p:nvCxnSpPr>
          <p:cNvPr id="8" name="Conector recto de flecha 7">
            <a:extLst>
              <a:ext uri="{FF2B5EF4-FFF2-40B4-BE49-F238E27FC236}">
                <a16:creationId xmlns:a16="http://schemas.microsoft.com/office/drawing/2014/main" id="{129E1A77-7137-4509-9DBC-8B810B599C6B}"/>
              </a:ext>
            </a:extLst>
          </p:cNvPr>
          <p:cNvCxnSpPr>
            <a:stCxn id="4" idx="6"/>
            <a:endCxn id="5" idx="2"/>
          </p:cNvCxnSpPr>
          <p:nvPr/>
        </p:nvCxnSpPr>
        <p:spPr>
          <a:xfrm flipV="1">
            <a:off x="2133600" y="3238500"/>
            <a:ext cx="1638300" cy="1095375"/>
          </a:xfrm>
          <a:prstGeom prst="straightConnector1">
            <a:avLst/>
          </a:prstGeom>
          <a:ln w="25718">
            <a:solidFill>
              <a:srgbClr val="52656A"/>
            </a:solidFill>
            <a:prstDash val="solid"/>
            <a:tailEnd type="triangle" w="med" len="med"/>
          </a:ln>
        </p:spPr>
      </p:cxnSp>
      <p:cxnSp>
        <p:nvCxnSpPr>
          <p:cNvPr id="7" name="Conector recto de flecha 6">
            <a:extLst>
              <a:ext uri="{FF2B5EF4-FFF2-40B4-BE49-F238E27FC236}">
                <a16:creationId xmlns:a16="http://schemas.microsoft.com/office/drawing/2014/main" id="{D064B610-4C02-42B6-8FDC-625E88FD7553}"/>
              </a:ext>
            </a:extLst>
          </p:cNvPr>
          <p:cNvCxnSpPr>
            <a:stCxn id="3" idx="6"/>
            <a:endCxn id="5" idx="2"/>
          </p:cNvCxnSpPr>
          <p:nvPr/>
        </p:nvCxnSpPr>
        <p:spPr>
          <a:xfrm>
            <a:off x="2133600" y="2143125"/>
            <a:ext cx="1638300" cy="1095375"/>
          </a:xfrm>
          <a:prstGeom prst="straightConnector1">
            <a:avLst/>
          </a:prstGeom>
          <a:ln w="25718">
            <a:solidFill>
              <a:srgbClr val="52656A"/>
            </a:solidFill>
            <a:prstDash val="solid"/>
            <a:tailEnd type="triangle" w="med" len="med"/>
          </a:ln>
        </p:spPr>
      </p:cxnSp>
      <p:cxnSp>
        <p:nvCxnSpPr>
          <p:cNvPr id="6" name="Conector recto de flecha 5">
            <a:extLst>
              <a:ext uri="{FF2B5EF4-FFF2-40B4-BE49-F238E27FC236}">
                <a16:creationId xmlns:a16="http://schemas.microsoft.com/office/drawing/2014/main" id="{382CF066-35F5-4775-BA24-B49269B500F3}"/>
              </a:ext>
            </a:extLst>
          </p:cNvPr>
          <p:cNvCxnSpPr>
            <a:stCxn id="3" idx="4"/>
            <a:endCxn id="4" idx="0"/>
          </p:cNvCxnSpPr>
          <p:nvPr/>
        </p:nvCxnSpPr>
        <p:spPr>
          <a:xfrm>
            <a:off x="1666875" y="2609850"/>
            <a:ext cx="0" cy="1257300"/>
          </a:xfrm>
          <a:prstGeom prst="straightConnector1">
            <a:avLst/>
          </a:prstGeom>
          <a:ln w="25718">
            <a:solidFill>
              <a:srgbClr val="52656A"/>
            </a:solidFill>
            <a:prstDash val="dash"/>
            <a:tailEnd type="triangle" w="med" len="med"/>
          </a:ln>
        </p:spPr>
      </p:cxnSp>
      <p:sp>
        <p:nvSpPr>
          <p:cNvPr id="18" name="obj-41">
            <a:extLst>
              <a:ext uri="{FF2B5EF4-FFF2-40B4-BE49-F238E27FC236}">
                <a16:creationId xmlns:a16="http://schemas.microsoft.com/office/drawing/2014/main" id="{275CFB44-84DB-4E5C-9BD5-E50D25115969}"/>
              </a:ext>
            </a:extLst>
          </p:cNvPr>
          <p:cNvSpPr>
            <a:spLocks noGrp="1"/>
          </p:cNvSpPr>
          <p:nvPr/>
        </p:nvSpPr>
        <p:spPr>
          <a:xfrm>
            <a:off x="609600" y="381000"/>
            <a:ext cx="10953750" cy="762000"/>
          </a:xfrm>
          <a:prstGeom prst="rect">
            <a:avLst/>
          </a:prstGeom>
          <a:noFill/>
          <a:ln w="0">
            <a:noFill/>
            <a:prstDash val="solid"/>
          </a:ln>
        </p:spPr>
        <p:txBody>
          <a:bodyPr wrap="square" lIns="0" tIns="0" rIns="0" bIns="0">
            <a:noAutofit/>
          </a:bodyPr>
          <a:lstStyle>
            <a:defPPr>
              <a:defRPr sz="3300" b="1">
                <a:solidFill>
                  <a:srgbClr val="18343A"/>
                </a:solidFill>
                <a:latin typeface="Arial"/>
                <a:ea typeface="Arial"/>
                <a:cs typeface="Arial"/>
              </a:defRPr>
            </a:defPPr>
          </a:lstStyle>
          <a:p>
            <a:pPr>
              <a:defRPr sz="3300" b="1">
                <a:solidFill>
                  <a:srgbClr val="18343A"/>
                </a:solidFill>
                <a:latin typeface="Arial"/>
                <a:ea typeface="Arial"/>
                <a:cs typeface="Arial"/>
              </a:defRPr>
            </a:pPr>
            <a:r>
              <a:rPr sz="3300" b="1">
                <a:solidFill>
                  <a:srgbClr val="18343A"/>
                </a:solidFill>
                <a:latin typeface="Arial"/>
                <a:ea typeface="Arial"/>
                <a:cs typeface="Arial"/>
              </a:rPr>
              <a:t>Generar señales e inferir condición</a:t>
            </a:r>
          </a:p>
        </p:txBody>
      </p:sp>
      <p:sp>
        <p:nvSpPr>
          <p:cNvPr id="2" name="obj-42">
            <a:extLst>
              <a:ext uri="{FF2B5EF4-FFF2-40B4-BE49-F238E27FC236}">
                <a16:creationId xmlns:a16="http://schemas.microsoft.com/office/drawing/2014/main" id="{579ADBB5-DC37-406F-8E0D-9FDEABD08FC7}"/>
              </a:ext>
            </a:extLst>
          </p:cNvPr>
          <p:cNvSpPr>
            <a:spLocks noGrp="1"/>
          </p:cNvSpPr>
          <p:nvPr/>
        </p:nvSpPr>
        <p:spPr>
          <a:xfrm>
            <a:off x="11144250" y="6410325"/>
            <a:ext cx="428625" cy="247650"/>
          </a:xfrm>
          <a:prstGeom prst="rect">
            <a:avLst/>
          </a:prstGeom>
          <a:noFill/>
          <a:ln w="0">
            <a:noFill/>
            <a:prstDash val="solid"/>
          </a:ln>
        </p:spPr>
        <p:txBody>
          <a:bodyPr wrap="square" lIns="0" tIns="0" rIns="0" bIns="0">
            <a:noAutofit/>
          </a:bodyPr>
          <a:lstStyle>
            <a:defPPr>
              <a:defRPr sz="1350" b="0">
                <a:solidFill>
                  <a:srgbClr val="52656A"/>
                </a:solidFill>
                <a:latin typeface="Arial"/>
                <a:ea typeface="Arial"/>
                <a:cs typeface="Arial"/>
              </a:defRPr>
            </a:defPPr>
          </a:lstStyle>
          <a:p>
            <a:pPr>
              <a:defRPr sz="1350" b="0">
                <a:solidFill>
                  <a:srgbClr val="52656A"/>
                </a:solidFill>
                <a:latin typeface="Arial"/>
                <a:ea typeface="Arial"/>
                <a:cs typeface="Arial"/>
              </a:defRPr>
            </a:pPr>
            <a:r>
              <a:rPr sz="1350" b="0">
                <a:solidFill>
                  <a:srgbClr val="52656A"/>
                </a:solidFill>
                <a:latin typeface="Arial"/>
                <a:ea typeface="Arial"/>
                <a:cs typeface="Arial"/>
              </a:rPr>
              <a:t>06</a:t>
            </a:r>
          </a:p>
        </p:txBody>
      </p:sp>
      <p:sp>
        <p:nvSpPr>
          <p:cNvPr id="3" name="obj-43">
            <a:extLst>
              <a:ext uri="{FF2B5EF4-FFF2-40B4-BE49-F238E27FC236}">
                <a16:creationId xmlns:a16="http://schemas.microsoft.com/office/drawing/2014/main" id="{F39C5F04-08FE-4785-94AC-B22B33EE3EE1}"/>
              </a:ext>
            </a:extLst>
          </p:cNvPr>
          <p:cNvSpPr>
            <a:spLocks noGrp="1"/>
          </p:cNvSpPr>
          <p:nvPr/>
        </p:nvSpPr>
        <p:spPr>
          <a:xfrm>
            <a:off x="1200150" y="1676400"/>
            <a:ext cx="933450" cy="933450"/>
          </a:xfrm>
          <a:prstGeom prst="ellipse">
            <a:avLst/>
          </a:prstGeom>
          <a:solidFill>
            <a:srgbClr val="E3E9E8"/>
          </a:solidFill>
          <a:ln w="28575">
            <a:solidFill>
              <a:srgbClr val="087E86"/>
            </a:solidFill>
            <a:prstDash val="solid"/>
          </a:ln>
        </p:spPr>
        <p:txBody>
          <a:bodyPr lIns="0" tIns="0" rIns="0" bIns="0" anchor="ctr"/>
          <a:lstStyle>
            <a:defPPr algn="ctr">
              <a:defRPr sz="2250" b="1">
                <a:solidFill>
                  <a:srgbClr val="087E86"/>
                </a:solidFill>
                <a:latin typeface="Arial"/>
                <a:ea typeface="Arial"/>
                <a:cs typeface="Arial"/>
              </a:defRPr>
            </a:defPPr>
          </a:lstStyle>
          <a:p>
            <a:pPr algn="ctr">
              <a:defRPr sz="2250" b="1">
                <a:solidFill>
                  <a:srgbClr val="087E86"/>
                </a:solidFill>
                <a:latin typeface="Arial"/>
                <a:ea typeface="Arial"/>
                <a:cs typeface="Arial"/>
              </a:defRPr>
            </a:pPr>
            <a:r>
              <a:rPr sz="2250" b="1">
                <a:solidFill>
                  <a:srgbClr val="087E86"/>
                </a:solidFill>
                <a:latin typeface="Arial"/>
                <a:ea typeface="Arial"/>
                <a:cs typeface="Arial"/>
              </a:rPr>
              <a:t>X</a:t>
            </a:r>
          </a:p>
        </p:txBody>
      </p:sp>
      <p:sp>
        <p:nvSpPr>
          <p:cNvPr id="4" name="obj-44">
            <a:extLst>
              <a:ext uri="{FF2B5EF4-FFF2-40B4-BE49-F238E27FC236}">
                <a16:creationId xmlns:a16="http://schemas.microsoft.com/office/drawing/2014/main" id="{5FF257CD-E0A2-4744-9CB6-5C095F8750C1}"/>
              </a:ext>
            </a:extLst>
          </p:cNvPr>
          <p:cNvSpPr>
            <a:spLocks noGrp="1"/>
          </p:cNvSpPr>
          <p:nvPr/>
        </p:nvSpPr>
        <p:spPr>
          <a:xfrm>
            <a:off x="1200150" y="3867150"/>
            <a:ext cx="933450" cy="933450"/>
          </a:xfrm>
          <a:prstGeom prst="ellipse">
            <a:avLst/>
          </a:prstGeom>
          <a:solidFill>
            <a:srgbClr val="FFFFFF"/>
          </a:solidFill>
          <a:ln w="28575">
            <a:solidFill>
              <a:srgbClr val="73528C"/>
            </a:solidFill>
            <a:prstDash val="solid"/>
          </a:ln>
        </p:spPr>
        <p:txBody>
          <a:bodyPr lIns="0" tIns="0" rIns="0" bIns="0" anchor="ctr"/>
          <a:lstStyle>
            <a:defPPr algn="ctr">
              <a:defRPr sz="2250" b="1">
                <a:solidFill>
                  <a:srgbClr val="73528C"/>
                </a:solidFill>
                <a:latin typeface="Arial"/>
                <a:ea typeface="Arial"/>
                <a:cs typeface="Arial"/>
              </a:defRPr>
            </a:defPPr>
          </a:lstStyle>
          <a:p>
            <a:pPr algn="ctr">
              <a:defRPr sz="2250" b="1">
                <a:solidFill>
                  <a:srgbClr val="73528C"/>
                </a:solidFill>
                <a:latin typeface="Arial"/>
                <a:ea typeface="Arial"/>
                <a:cs typeface="Arial"/>
              </a:defRPr>
            </a:pPr>
            <a:r>
              <a:rPr sz="2250" b="1">
                <a:solidFill>
                  <a:srgbClr val="73528C"/>
                </a:solidFill>
                <a:latin typeface="Arial"/>
                <a:ea typeface="Arial"/>
                <a:cs typeface="Arial"/>
              </a:rPr>
              <a:t>Z</a:t>
            </a:r>
          </a:p>
        </p:txBody>
      </p:sp>
      <p:sp>
        <p:nvSpPr>
          <p:cNvPr id="5" name="obj-45">
            <a:extLst>
              <a:ext uri="{FF2B5EF4-FFF2-40B4-BE49-F238E27FC236}">
                <a16:creationId xmlns:a16="http://schemas.microsoft.com/office/drawing/2014/main" id="{874A465F-2A06-461C-ADAF-9CE73CA7944A}"/>
              </a:ext>
            </a:extLst>
          </p:cNvPr>
          <p:cNvSpPr>
            <a:spLocks noGrp="1"/>
          </p:cNvSpPr>
          <p:nvPr/>
        </p:nvSpPr>
        <p:spPr>
          <a:xfrm>
            <a:off x="3771900" y="2771775"/>
            <a:ext cx="933450" cy="933450"/>
          </a:xfrm>
          <a:prstGeom prst="ellipse">
            <a:avLst/>
          </a:prstGeom>
          <a:solidFill>
            <a:srgbClr val="E3E9E8"/>
          </a:solidFill>
          <a:ln w="28575">
            <a:solidFill>
              <a:srgbClr val="AA6717"/>
            </a:solidFill>
            <a:prstDash val="solid"/>
          </a:ln>
        </p:spPr>
        <p:txBody>
          <a:bodyPr lIns="0" tIns="0" rIns="0" bIns="0" anchor="ctr"/>
          <a:lstStyle>
            <a:defPPr algn="ctr">
              <a:defRPr sz="2250" b="1">
                <a:solidFill>
                  <a:srgbClr val="AA6717"/>
                </a:solidFill>
                <a:latin typeface="Arial"/>
                <a:ea typeface="Arial"/>
                <a:cs typeface="Arial"/>
              </a:defRPr>
            </a:defPPr>
          </a:lstStyle>
          <a:p>
            <a:pPr algn="ctr">
              <a:defRPr sz="2250" b="1">
                <a:solidFill>
                  <a:srgbClr val="AA6717"/>
                </a:solidFill>
                <a:latin typeface="Arial"/>
                <a:ea typeface="Arial"/>
                <a:cs typeface="Arial"/>
              </a:defRPr>
            </a:pPr>
            <a:r>
              <a:rPr sz="2250" b="1">
                <a:solidFill>
                  <a:srgbClr val="AA6717"/>
                </a:solidFill>
                <a:latin typeface="Arial"/>
                <a:ea typeface="Arial"/>
                <a:cs typeface="Arial"/>
              </a:rPr>
              <a:t>Y</a:t>
            </a:r>
          </a:p>
        </p:txBody>
      </p:sp>
      <p:sp>
        <p:nvSpPr>
          <p:cNvPr id="9" name="obj-46">
            <a:extLst>
              <a:ext uri="{FF2B5EF4-FFF2-40B4-BE49-F238E27FC236}">
                <a16:creationId xmlns:a16="http://schemas.microsoft.com/office/drawing/2014/main" id="{4C92E5F1-2E25-4A81-A3F4-C1799A1EB46C}"/>
              </a:ext>
            </a:extLst>
          </p:cNvPr>
          <p:cNvSpPr>
            <a:spLocks noGrp="1"/>
          </p:cNvSpPr>
          <p:nvPr/>
        </p:nvSpPr>
        <p:spPr>
          <a:xfrm>
            <a:off x="762000" y="1400175"/>
            <a:ext cx="1952625" cy="428625"/>
          </a:xfrm>
          <a:prstGeom prst="rect">
            <a:avLst/>
          </a:prstGeom>
          <a:noFill/>
          <a:ln w="0">
            <a:noFill/>
            <a:prstDash val="solid"/>
          </a:ln>
        </p:spPr>
        <p:txBody>
          <a:bodyPr wrap="square" lIns="0" tIns="0" rIns="0" bIns="0">
            <a:noAutofit/>
          </a:bodyPr>
          <a:lstStyle>
            <a:defPPr>
              <a:defRPr sz="1875" b="0">
                <a:solidFill>
                  <a:srgbClr val="087E86"/>
                </a:solidFill>
                <a:latin typeface="Arial"/>
                <a:ea typeface="Arial"/>
                <a:cs typeface="Arial"/>
              </a:defRPr>
            </a:defPPr>
          </a:lstStyle>
          <a:p>
            <a:pPr>
              <a:defRPr sz="1875" b="0">
                <a:solidFill>
                  <a:srgbClr val="087E86"/>
                </a:solidFill>
                <a:latin typeface="Arial"/>
                <a:ea typeface="Arial"/>
                <a:cs typeface="Arial"/>
              </a:defRPr>
            </a:pPr>
            <a:r>
              <a:rPr sz="1875" b="0">
                <a:solidFill>
                  <a:srgbClr val="087E86"/>
                </a:solidFill>
                <a:latin typeface="Arial"/>
                <a:ea typeface="Arial"/>
                <a:cs typeface="Arial"/>
              </a:rPr>
              <a:t>Contexto</a:t>
            </a:r>
          </a:p>
        </p:txBody>
      </p:sp>
      <p:sp>
        <p:nvSpPr>
          <p:cNvPr id="10" name="obj-47">
            <a:extLst>
              <a:ext uri="{FF2B5EF4-FFF2-40B4-BE49-F238E27FC236}">
                <a16:creationId xmlns:a16="http://schemas.microsoft.com/office/drawing/2014/main" id="{2CB16E28-0B58-40E3-831A-0223D14FFED9}"/>
              </a:ext>
            </a:extLst>
          </p:cNvPr>
          <p:cNvSpPr>
            <a:spLocks noGrp="1"/>
          </p:cNvSpPr>
          <p:nvPr/>
        </p:nvSpPr>
        <p:spPr>
          <a:xfrm>
            <a:off x="723900" y="4972050"/>
            <a:ext cx="1952625" cy="428625"/>
          </a:xfrm>
          <a:prstGeom prst="rect">
            <a:avLst/>
          </a:prstGeom>
          <a:noFill/>
          <a:ln w="0">
            <a:noFill/>
            <a:prstDash val="solid"/>
          </a:ln>
        </p:spPr>
        <p:txBody>
          <a:bodyPr wrap="square" lIns="0" tIns="0" rIns="0" bIns="0">
            <a:noAutofit/>
          </a:bodyPr>
          <a:lstStyle>
            <a:defPPr>
              <a:defRPr sz="1875" b="0">
                <a:solidFill>
                  <a:srgbClr val="73528C"/>
                </a:solidFill>
                <a:latin typeface="Arial"/>
                <a:ea typeface="Arial"/>
                <a:cs typeface="Arial"/>
              </a:defRPr>
            </a:defPPr>
          </a:lstStyle>
          <a:p>
            <a:pPr>
              <a:defRPr sz="1875" b="0">
                <a:solidFill>
                  <a:srgbClr val="73528C"/>
                </a:solidFill>
                <a:latin typeface="Arial"/>
                <a:ea typeface="Arial"/>
                <a:cs typeface="Arial"/>
              </a:defRPr>
            </a:pPr>
            <a:r>
              <a:rPr sz="1875" b="0">
                <a:solidFill>
                  <a:srgbClr val="73528C"/>
                </a:solidFill>
                <a:latin typeface="Arial"/>
                <a:ea typeface="Arial"/>
                <a:cs typeface="Arial"/>
              </a:rPr>
              <a:t>Condición</a:t>
            </a:r>
          </a:p>
        </p:txBody>
      </p:sp>
      <p:sp>
        <p:nvSpPr>
          <p:cNvPr id="11" name="obj-48">
            <a:extLst>
              <a:ext uri="{FF2B5EF4-FFF2-40B4-BE49-F238E27FC236}">
                <a16:creationId xmlns:a16="http://schemas.microsoft.com/office/drawing/2014/main" id="{1D29E416-4200-4255-9515-DD4726C741CE}"/>
              </a:ext>
            </a:extLst>
          </p:cNvPr>
          <p:cNvSpPr>
            <a:spLocks noGrp="1"/>
          </p:cNvSpPr>
          <p:nvPr/>
        </p:nvSpPr>
        <p:spPr>
          <a:xfrm>
            <a:off x="3286125" y="4276725"/>
            <a:ext cx="2667000" cy="428625"/>
          </a:xfrm>
          <a:prstGeom prst="rect">
            <a:avLst/>
          </a:prstGeom>
          <a:noFill/>
          <a:ln w="0">
            <a:noFill/>
            <a:prstDash val="solid"/>
          </a:ln>
        </p:spPr>
        <p:txBody>
          <a:bodyPr wrap="square" lIns="0" tIns="0" rIns="0" bIns="0">
            <a:noAutofit/>
          </a:bodyPr>
          <a:lstStyle>
            <a:defPPr>
              <a:defRPr sz="1875" b="0">
                <a:solidFill>
                  <a:srgbClr val="AA6717"/>
                </a:solidFill>
                <a:latin typeface="Arial"/>
                <a:ea typeface="Arial"/>
                <a:cs typeface="Arial"/>
              </a:defRPr>
            </a:defPPr>
          </a:lstStyle>
          <a:p>
            <a:pPr>
              <a:defRPr sz="1875" b="0">
                <a:solidFill>
                  <a:srgbClr val="AA6717"/>
                </a:solidFill>
                <a:latin typeface="Arial"/>
                <a:ea typeface="Arial"/>
                <a:cs typeface="Arial"/>
              </a:defRPr>
            </a:pPr>
            <a:r>
              <a:rPr sz="1875" b="0">
                <a:solidFill>
                  <a:srgbClr val="AA6717"/>
                </a:solidFill>
                <a:latin typeface="Arial"/>
                <a:ea typeface="Arial"/>
                <a:cs typeface="Arial"/>
              </a:rPr>
              <a:t>Observaciones</a:t>
            </a:r>
          </a:p>
        </p:txBody>
      </p:sp>
      <p:sp>
        <p:nvSpPr>
          <p:cNvPr id="12" name="obj-49">
            <a:extLst>
              <a:ext uri="{FF2B5EF4-FFF2-40B4-BE49-F238E27FC236}">
                <a16:creationId xmlns:a16="http://schemas.microsoft.com/office/drawing/2014/main" id="{5E460BDE-C505-4052-A4F7-3B1979FF45B8}"/>
              </a:ext>
            </a:extLst>
          </p:cNvPr>
          <p:cNvSpPr>
            <a:spLocks noGrp="1"/>
          </p:cNvSpPr>
          <p:nvPr/>
        </p:nvSpPr>
        <p:spPr>
          <a:xfrm>
            <a:off x="6572250" y="1571625"/>
            <a:ext cx="4857750" cy="428625"/>
          </a:xfrm>
          <a:prstGeom prst="rect">
            <a:avLst/>
          </a:prstGeom>
          <a:noFill/>
          <a:ln w="0">
            <a:noFill/>
            <a:prstDash val="solid"/>
          </a:ln>
        </p:spPr>
        <p:txBody>
          <a:bodyPr wrap="square" lIns="0" tIns="0" rIns="0" bIns="0">
            <a:noAutofit/>
          </a:bodyPr>
          <a:lstStyle>
            <a:defPPr>
              <a:defRPr sz="2400" b="1">
                <a:solidFill>
                  <a:srgbClr val="18343A"/>
                </a:solidFill>
                <a:latin typeface="Arial"/>
                <a:ea typeface="Arial"/>
                <a:cs typeface="Arial"/>
              </a:defRPr>
            </a:defPPr>
          </a:lstStyle>
          <a:p>
            <a:pPr>
              <a:defRPr sz="2400" b="1">
                <a:solidFill>
                  <a:srgbClr val="18343A"/>
                </a:solidFill>
                <a:latin typeface="Arial"/>
                <a:ea typeface="Arial"/>
                <a:cs typeface="Arial"/>
              </a:defRPr>
            </a:pPr>
            <a:r>
              <a:rPr sz="2400" b="1">
                <a:solidFill>
                  <a:srgbClr val="18343A"/>
                </a:solidFill>
                <a:latin typeface="Arial"/>
                <a:ea typeface="Arial"/>
                <a:cs typeface="Arial"/>
              </a:rPr>
              <a:t>Proceso generativo</a:t>
            </a:r>
          </a:p>
        </p:txBody>
      </p:sp>
      <p:sp>
        <p:nvSpPr>
          <p:cNvPr id="13" name="obj-50">
            <a:extLst>
              <a:ext uri="{FF2B5EF4-FFF2-40B4-BE49-F238E27FC236}">
                <a16:creationId xmlns:a16="http://schemas.microsoft.com/office/drawing/2014/main" id="{45500770-ECF4-4F33-B38D-ADD4A3C910B1}"/>
              </a:ext>
            </a:extLst>
          </p:cNvPr>
          <p:cNvSpPr>
            <a:spLocks noGrp="1"/>
          </p:cNvSpPr>
          <p:nvPr/>
        </p:nvSpPr>
        <p:spPr>
          <a:xfrm>
            <a:off x="6572250" y="2162175"/>
            <a:ext cx="4667250" cy="590550"/>
          </a:xfrm>
          <a:prstGeom prst="rect">
            <a:avLst/>
          </a:prstGeom>
          <a:noFill/>
          <a:ln w="0">
            <a:noFill/>
            <a:prstDash val="solid"/>
          </a:ln>
        </p:spPr>
        <p:txBody>
          <a:bodyPr wrap="square" lIns="0" tIns="0" rIns="0" bIns="0">
            <a:noAutofit/>
          </a:bodyPr>
          <a:lstStyle>
            <a:defPPr>
              <a:defRPr sz="3225" b="0">
                <a:solidFill>
                  <a:srgbClr val="AA6717"/>
                </a:solidFill>
                <a:latin typeface="Arial"/>
                <a:ea typeface="Arial"/>
                <a:cs typeface="Arial"/>
              </a:defRPr>
            </a:defPPr>
          </a:lstStyle>
          <a:p>
            <a:pPr>
              <a:defRPr sz="3225" b="0">
                <a:solidFill>
                  <a:srgbClr val="AA6717"/>
                </a:solidFill>
                <a:latin typeface="Arial"/>
                <a:ea typeface="Arial"/>
                <a:cs typeface="Arial"/>
              </a:defRPr>
            </a:pPr>
            <a:r>
              <a:rPr sz="3225" b="0">
                <a:solidFill>
                  <a:srgbClr val="AA6717"/>
                </a:solidFill>
                <a:latin typeface="Arial"/>
                <a:ea typeface="Arial"/>
                <a:cs typeface="Arial"/>
              </a:rPr>
              <a:t>p(Y | X, Z)</a:t>
            </a:r>
          </a:p>
        </p:txBody>
      </p:sp>
      <p:sp>
        <p:nvSpPr>
          <p:cNvPr id="14" name="obj-51">
            <a:extLst>
              <a:ext uri="{FF2B5EF4-FFF2-40B4-BE49-F238E27FC236}">
                <a16:creationId xmlns:a16="http://schemas.microsoft.com/office/drawing/2014/main" id="{C351279A-6B13-41EA-ADE2-13C5A395AECA}"/>
              </a:ext>
            </a:extLst>
          </p:cNvPr>
          <p:cNvSpPr>
            <a:spLocks noGrp="1"/>
          </p:cNvSpPr>
          <p:nvPr/>
        </p:nvSpPr>
        <p:spPr>
          <a:xfrm>
            <a:off x="6572250" y="3257550"/>
            <a:ext cx="4857750" cy="428625"/>
          </a:xfrm>
          <a:prstGeom prst="rect">
            <a:avLst/>
          </a:prstGeom>
          <a:noFill/>
          <a:ln w="0">
            <a:noFill/>
            <a:prstDash val="solid"/>
          </a:ln>
        </p:spPr>
        <p:txBody>
          <a:bodyPr wrap="square" lIns="0" tIns="0" rIns="0" bIns="0">
            <a:noAutofit/>
          </a:bodyPr>
          <a:lstStyle>
            <a:defPPr>
              <a:defRPr sz="2400" b="1">
                <a:solidFill>
                  <a:srgbClr val="18343A"/>
                </a:solidFill>
                <a:latin typeface="Arial"/>
                <a:ea typeface="Arial"/>
                <a:cs typeface="Arial"/>
              </a:defRPr>
            </a:defPPr>
          </a:lstStyle>
          <a:p>
            <a:pPr>
              <a:defRPr sz="2400" b="1">
                <a:solidFill>
                  <a:srgbClr val="18343A"/>
                </a:solidFill>
                <a:latin typeface="Arial"/>
                <a:ea typeface="Arial"/>
                <a:cs typeface="Arial"/>
              </a:defRPr>
            </a:pPr>
            <a:r>
              <a:rPr sz="2400" b="1">
                <a:solidFill>
                  <a:srgbClr val="18343A"/>
                </a:solidFill>
                <a:latin typeface="Arial"/>
                <a:ea typeface="Arial"/>
                <a:cs typeface="Arial"/>
              </a:rPr>
              <a:t>Diagnóstico</a:t>
            </a:r>
          </a:p>
        </p:txBody>
      </p:sp>
      <p:sp>
        <p:nvSpPr>
          <p:cNvPr id="15" name="obj-52">
            <a:extLst>
              <a:ext uri="{FF2B5EF4-FFF2-40B4-BE49-F238E27FC236}">
                <a16:creationId xmlns:a16="http://schemas.microsoft.com/office/drawing/2014/main" id="{AF65B3A7-EEDC-48F9-A77B-9868F055D368}"/>
              </a:ext>
            </a:extLst>
          </p:cNvPr>
          <p:cNvSpPr>
            <a:spLocks noGrp="1"/>
          </p:cNvSpPr>
          <p:nvPr/>
        </p:nvSpPr>
        <p:spPr>
          <a:xfrm>
            <a:off x="6572250" y="3848100"/>
            <a:ext cx="4667250" cy="590550"/>
          </a:xfrm>
          <a:prstGeom prst="rect">
            <a:avLst/>
          </a:prstGeom>
          <a:noFill/>
          <a:ln w="0">
            <a:noFill/>
            <a:prstDash val="solid"/>
          </a:ln>
        </p:spPr>
        <p:txBody>
          <a:bodyPr wrap="square" lIns="0" tIns="0" rIns="0" bIns="0">
            <a:noAutofit/>
          </a:bodyPr>
          <a:lstStyle>
            <a:defPPr>
              <a:defRPr sz="3225" b="0">
                <a:solidFill>
                  <a:srgbClr val="73528C"/>
                </a:solidFill>
                <a:latin typeface="Arial"/>
                <a:ea typeface="Arial"/>
                <a:cs typeface="Arial"/>
              </a:defRPr>
            </a:defPPr>
          </a:lstStyle>
          <a:p>
            <a:pPr>
              <a:defRPr sz="3225" b="0">
                <a:solidFill>
                  <a:srgbClr val="73528C"/>
                </a:solidFill>
                <a:latin typeface="Arial"/>
                <a:ea typeface="Arial"/>
                <a:cs typeface="Arial"/>
              </a:defRPr>
            </a:pPr>
            <a:r>
              <a:rPr sz="3225" b="0">
                <a:solidFill>
                  <a:srgbClr val="73528C"/>
                </a:solidFill>
                <a:latin typeface="Arial"/>
                <a:ea typeface="Arial"/>
                <a:cs typeface="Arial"/>
              </a:rPr>
              <a:t>p(Z | X, Y)</a:t>
            </a:r>
          </a:p>
        </p:txBody>
      </p:sp>
      <p:sp>
        <p:nvSpPr>
          <p:cNvPr id="16" name="obj-53">
            <a:extLst>
              <a:ext uri="{FF2B5EF4-FFF2-40B4-BE49-F238E27FC236}">
                <a16:creationId xmlns:a16="http://schemas.microsoft.com/office/drawing/2014/main" id="{FE57F63A-7992-471E-9FF8-8F6E021DA9C6}"/>
              </a:ext>
            </a:extLst>
          </p:cNvPr>
          <p:cNvSpPr>
            <a:spLocks noGrp="1"/>
          </p:cNvSpPr>
          <p:nvPr/>
        </p:nvSpPr>
        <p:spPr>
          <a:xfrm>
            <a:off x="6572250" y="4876800"/>
            <a:ext cx="4905375" cy="723900"/>
          </a:xfrm>
          <a:prstGeom prst="rect">
            <a:avLst/>
          </a:prstGeom>
          <a:noFill/>
          <a:ln w="0">
            <a:noFill/>
            <a:prstDash val="solid"/>
          </a:ln>
        </p:spPr>
        <p:txBody>
          <a:bodyPr wrap="square" lIns="0" tIns="0" rIns="0" bIns="0">
            <a:noAutofit/>
          </a:bodyPr>
          <a:lstStyle>
            <a:defPPr>
              <a:defRPr sz="1875" b="0">
                <a:solidFill>
                  <a:srgbClr val="52656A"/>
                </a:solidFill>
                <a:latin typeface="Arial"/>
                <a:ea typeface="Arial"/>
                <a:cs typeface="Arial"/>
              </a:defRPr>
            </a:defPPr>
          </a:lstStyle>
          <a:p>
            <a:pPr>
              <a:defRPr sz="1875" b="0">
                <a:solidFill>
                  <a:srgbClr val="52656A"/>
                </a:solidFill>
                <a:latin typeface="Arial"/>
                <a:ea typeface="Arial"/>
                <a:cs typeface="Arial"/>
              </a:defRPr>
            </a:pPr>
            <a:r>
              <a:rPr sz="1875" b="0">
                <a:solidFill>
                  <a:srgbClr val="52656A"/>
                </a:solidFill>
                <a:latin typeface="Arial"/>
                <a:ea typeface="Arial"/>
                <a:cs typeface="Arial"/>
              </a:rPr>
              <a:t>«|» significa «dado»</a:t>
            </a:r>
          </a:p>
          <a:p>
            <a:pPr>
              <a:defRPr sz="1875" b="0">
                <a:solidFill>
                  <a:srgbClr val="52656A"/>
                </a:solidFill>
                <a:latin typeface="Arial"/>
                <a:ea typeface="Arial"/>
                <a:cs typeface="Arial"/>
              </a:defRPr>
            </a:pPr>
            <a:r>
              <a:rPr sz="1875" b="0">
                <a:solidFill>
                  <a:srgbClr val="52656A"/>
                </a:solidFill>
                <a:latin typeface="Arial"/>
                <a:ea typeface="Arial"/>
                <a:cs typeface="Arial"/>
              </a:rPr>
              <a:t>Gris: observado. Blanco: latente</a:t>
            </a:r>
          </a:p>
        </p:txBody>
      </p:sp>
      <p:sp>
        <p:nvSpPr>
          <p:cNvPr id="17" name="obj-54">
            <a:extLst>
              <a:ext uri="{FF2B5EF4-FFF2-40B4-BE49-F238E27FC236}">
                <a16:creationId xmlns:a16="http://schemas.microsoft.com/office/drawing/2014/main" id="{77349848-FED7-4123-BA1B-66283D0FFDB8}"/>
              </a:ext>
            </a:extLst>
          </p:cNvPr>
          <p:cNvSpPr>
            <a:spLocks noGrp="1"/>
          </p:cNvSpPr>
          <p:nvPr/>
        </p:nvSpPr>
        <p:spPr>
          <a:xfrm>
            <a:off x="609600" y="5972175"/>
            <a:ext cx="10668000" cy="381000"/>
          </a:xfrm>
          <a:prstGeom prst="rect">
            <a:avLst/>
          </a:prstGeom>
          <a:noFill/>
          <a:ln w="0">
            <a:noFill/>
            <a:prstDash val="solid"/>
          </a:ln>
        </p:spPr>
        <p:txBody>
          <a:bodyPr wrap="square" lIns="0" tIns="0" rIns="0" bIns="0">
            <a:noAutofit/>
          </a:bodyPr>
          <a:lstStyle>
            <a:defPPr>
              <a:defRPr sz="1725" b="0">
                <a:solidFill>
                  <a:srgbClr val="52656A"/>
                </a:solidFill>
                <a:latin typeface="Arial"/>
                <a:ea typeface="Arial"/>
                <a:cs typeface="Arial"/>
              </a:defRPr>
            </a:defPPr>
          </a:lstStyle>
          <a:p>
            <a:pPr>
              <a:defRPr sz="1725" b="0">
                <a:solidFill>
                  <a:srgbClr val="52656A"/>
                </a:solidFill>
                <a:latin typeface="Arial"/>
                <a:ea typeface="Arial"/>
                <a:cs typeface="Arial"/>
              </a:defRPr>
            </a:pPr>
            <a:r>
              <a:rPr sz="1725" b="0">
                <a:solidFill>
                  <a:srgbClr val="52656A"/>
                </a:solidFill>
                <a:latin typeface="Arial"/>
                <a:ea typeface="Arial"/>
                <a:cs typeface="Arial"/>
              </a:rPr>
              <a:t>X → Z discontinuo: relación en evaluación, no un tipo especial de probabilidad</a:t>
            </a:r>
          </a:p>
        </p:txBody>
      </p:sp>
    </p:spTree>
    <p:extLst>
      <p:ext uri="{BB962C8B-B14F-4D97-AF65-F5344CB8AC3E}">
        <p14:creationId xmlns:p14="http://schemas.microsoft.com/office/powerpoint/2010/main" val="2363594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7" name="obj-55">
            <a:extLst>
              <a:ext uri="{FF2B5EF4-FFF2-40B4-BE49-F238E27FC236}">
                <a16:creationId xmlns:a16="http://schemas.microsoft.com/office/drawing/2014/main" id="{180477D3-B5C1-4E70-8B33-4407F195C3F4}"/>
              </a:ext>
            </a:extLst>
          </p:cNvPr>
          <p:cNvSpPr>
            <a:spLocks noGrp="1"/>
          </p:cNvSpPr>
          <p:nvPr/>
        </p:nvSpPr>
        <p:spPr>
          <a:xfrm>
            <a:off x="609600" y="381000"/>
            <a:ext cx="10953750" cy="762000"/>
          </a:xfrm>
          <a:prstGeom prst="rect">
            <a:avLst/>
          </a:prstGeom>
          <a:noFill/>
          <a:ln w="0">
            <a:noFill/>
            <a:prstDash val="solid"/>
          </a:ln>
        </p:spPr>
        <p:txBody>
          <a:bodyPr wrap="square" lIns="0" tIns="0" rIns="0" bIns="0">
            <a:noAutofit/>
          </a:bodyPr>
          <a:lstStyle>
            <a:defPPr>
              <a:defRPr sz="3300" b="1">
                <a:solidFill>
                  <a:srgbClr val="18343A"/>
                </a:solidFill>
                <a:latin typeface="Arial"/>
                <a:ea typeface="Arial"/>
                <a:cs typeface="Arial"/>
              </a:defRPr>
            </a:defPPr>
          </a:lstStyle>
          <a:p>
            <a:pPr>
              <a:defRPr sz="3300" b="1">
                <a:solidFill>
                  <a:srgbClr val="18343A"/>
                </a:solidFill>
                <a:latin typeface="Arial"/>
                <a:ea typeface="Arial"/>
                <a:cs typeface="Arial"/>
              </a:defRPr>
            </a:pPr>
            <a:r>
              <a:rPr sz="3300" b="1">
                <a:solidFill>
                  <a:srgbClr val="18343A"/>
                </a:solidFill>
                <a:latin typeface="Arial"/>
                <a:ea typeface="Arial"/>
                <a:cs typeface="Arial"/>
              </a:rPr>
              <a:t>Las probabilidades completan el grafo</a:t>
            </a:r>
          </a:p>
        </p:txBody>
      </p:sp>
      <p:sp>
        <p:nvSpPr>
          <p:cNvPr id="2" name="obj-56">
            <a:extLst>
              <a:ext uri="{FF2B5EF4-FFF2-40B4-BE49-F238E27FC236}">
                <a16:creationId xmlns:a16="http://schemas.microsoft.com/office/drawing/2014/main" id="{AB667C1D-8495-47B4-8805-C40276623F91}"/>
              </a:ext>
            </a:extLst>
          </p:cNvPr>
          <p:cNvSpPr>
            <a:spLocks noGrp="1"/>
          </p:cNvSpPr>
          <p:nvPr/>
        </p:nvSpPr>
        <p:spPr>
          <a:xfrm>
            <a:off x="11144250" y="6410325"/>
            <a:ext cx="428625" cy="247650"/>
          </a:xfrm>
          <a:prstGeom prst="rect">
            <a:avLst/>
          </a:prstGeom>
          <a:noFill/>
          <a:ln w="0">
            <a:noFill/>
            <a:prstDash val="solid"/>
          </a:ln>
        </p:spPr>
        <p:txBody>
          <a:bodyPr wrap="square" lIns="0" tIns="0" rIns="0" bIns="0">
            <a:noAutofit/>
          </a:bodyPr>
          <a:lstStyle>
            <a:defPPr>
              <a:defRPr sz="1350" b="0">
                <a:solidFill>
                  <a:srgbClr val="52656A"/>
                </a:solidFill>
                <a:latin typeface="Arial"/>
                <a:ea typeface="Arial"/>
                <a:cs typeface="Arial"/>
              </a:defRPr>
            </a:defPPr>
          </a:lstStyle>
          <a:p>
            <a:pPr>
              <a:defRPr sz="1350" b="0">
                <a:solidFill>
                  <a:srgbClr val="52656A"/>
                </a:solidFill>
                <a:latin typeface="Arial"/>
                <a:ea typeface="Arial"/>
                <a:cs typeface="Arial"/>
              </a:defRPr>
            </a:pPr>
            <a:r>
              <a:rPr sz="1350" b="0">
                <a:solidFill>
                  <a:srgbClr val="52656A"/>
                </a:solidFill>
                <a:latin typeface="Arial"/>
                <a:ea typeface="Arial"/>
                <a:cs typeface="Arial"/>
              </a:rPr>
              <a:t>07</a:t>
            </a:r>
          </a:p>
        </p:txBody>
      </p:sp>
      <p:sp>
        <p:nvSpPr>
          <p:cNvPr id="3" name="obj-57">
            <a:extLst>
              <a:ext uri="{FF2B5EF4-FFF2-40B4-BE49-F238E27FC236}">
                <a16:creationId xmlns:a16="http://schemas.microsoft.com/office/drawing/2014/main" id="{30DAB30D-428E-4358-862F-068BF0E91844}"/>
              </a:ext>
            </a:extLst>
          </p:cNvPr>
          <p:cNvSpPr>
            <a:spLocks noGrp="1"/>
          </p:cNvSpPr>
          <p:nvPr/>
        </p:nvSpPr>
        <p:spPr>
          <a:xfrm>
            <a:off x="609600" y="1362075"/>
            <a:ext cx="10572750" cy="476250"/>
          </a:xfrm>
          <a:prstGeom prst="rect">
            <a:avLst/>
          </a:prstGeom>
          <a:noFill/>
          <a:ln w="0">
            <a:noFill/>
            <a:prstDash val="solid"/>
          </a:ln>
        </p:spPr>
        <p:txBody>
          <a:bodyPr wrap="square" lIns="0" tIns="0" rIns="0" bIns="0">
            <a:noAutofit/>
          </a:bodyPr>
          <a:lstStyle>
            <a:defPPr>
              <a:defRPr sz="2250" b="1">
                <a:solidFill>
                  <a:srgbClr val="087E86"/>
                </a:solidFill>
                <a:latin typeface="Arial"/>
                <a:ea typeface="Arial"/>
                <a:cs typeface="Arial"/>
              </a:defRPr>
            </a:defPPr>
          </a:lstStyle>
          <a:p>
            <a:pPr>
              <a:defRPr sz="2250" b="1">
                <a:solidFill>
                  <a:srgbClr val="087E86"/>
                </a:solidFill>
                <a:latin typeface="Arial"/>
                <a:ea typeface="Arial"/>
                <a:cs typeface="Arial"/>
              </a:defRPr>
            </a:pPr>
            <a:r>
              <a:rPr sz="2250" b="1">
                <a:solidFill>
                  <a:srgbClr val="087E86"/>
                </a:solidFill>
                <a:latin typeface="Arial"/>
                <a:ea typeface="Arial"/>
                <a:cs typeface="Arial"/>
              </a:rPr>
              <a:t>En un mismo contexto X = x</a:t>
            </a:r>
          </a:p>
        </p:txBody>
      </p:sp>
      <p:graphicFrame>
        <p:nvGraphicFramePr>
          <p:cNvPr id="4" name="Tabla 3">
            <a:extLst>
              <a:ext uri="{FF2B5EF4-FFF2-40B4-BE49-F238E27FC236}">
                <a16:creationId xmlns:a16="http://schemas.microsoft.com/office/drawing/2014/main" id="{B876F374-2349-4608-B413-DFC63964979E}"/>
              </a:ext>
            </a:extLst>
          </p:cNvPr>
          <p:cNvGraphicFramePr/>
          <p:nvPr/>
        </p:nvGraphicFramePr>
        <p:xfrm>
          <a:off x="609600" y="2076450"/>
          <a:ext cx="10953750" cy="2333625"/>
        </p:xfrm>
        <a:graphic>
          <a:graphicData uri="http://schemas.openxmlformats.org/drawingml/2006/table">
            <a:tbl>
              <a:tblPr/>
              <a:tblGrid>
                <a:gridCol w="5143500">
                  <a:extLst>
                    <a:ext uri="{9D8B030D-6E8A-4147-A177-3AD203B41FA5}">
                      <a16:colId xmlns:a16="http://schemas.microsoft.com/office/drawing/2014/main" val="20000"/>
                    </a:ext>
                  </a:extLst>
                </a:gridCol>
                <a:gridCol w="2905125">
                  <a:extLst>
                    <a:ext uri="{9D8B030D-6E8A-4147-A177-3AD203B41FA5}">
                      <a16:colId xmlns:a16="http://schemas.microsoft.com/office/drawing/2014/main" val="20001"/>
                    </a:ext>
                  </a:extLst>
                </a:gridCol>
                <a:gridCol w="2905125">
                  <a:extLst>
                    <a:ext uri="{9D8B030D-6E8A-4147-A177-3AD203B41FA5}">
                      <a16:colId xmlns:a16="http://schemas.microsoft.com/office/drawing/2014/main" val="20002"/>
                    </a:ext>
                  </a:extLst>
                </a:gridCol>
              </a:tblGrid>
              <a:tr h="777875">
                <a:tc>
                  <a:txBody>
                    <a:bodyPr/>
                    <a:lstStyle/>
                    <a:p>
                      <a:pPr algn="l"/>
                      <a:r>
                        <a:rPr sz="2250" b="1">
                          <a:solidFill>
                            <a:srgbClr val="FFFFFF"/>
                          </a:solidFill>
                          <a:latin typeface="Arial"/>
                          <a:ea typeface="Arial"/>
                          <a:cs typeface="Arial"/>
                        </a:rPr>
                        <a:t>Condición Z</a:t>
                      </a:r>
                    </a:p>
                  </a:txBody>
                  <a:tcPr anchor="ctr">
                    <a:solidFill>
                      <a:srgbClr val="18343A"/>
                    </a:solidFill>
                  </a:tcPr>
                </a:tc>
                <a:tc>
                  <a:txBody>
                    <a:bodyPr/>
                    <a:lstStyle/>
                    <a:p>
                      <a:pPr algn="ctr"/>
                      <a:r>
                        <a:rPr sz="2250" b="1">
                          <a:solidFill>
                            <a:srgbClr val="FFFFFF"/>
                          </a:solidFill>
                          <a:latin typeface="Arial"/>
                          <a:ea typeface="Arial"/>
                          <a:cs typeface="Arial"/>
                        </a:rPr>
                        <a:t>Y alta</a:t>
                      </a:r>
                    </a:p>
                  </a:txBody>
                  <a:tcPr anchor="ctr">
                    <a:solidFill>
                      <a:srgbClr val="18343A"/>
                    </a:solidFill>
                  </a:tcPr>
                </a:tc>
                <a:tc>
                  <a:txBody>
                    <a:bodyPr/>
                    <a:lstStyle/>
                    <a:p>
                      <a:pPr algn="ctr"/>
                      <a:r>
                        <a:rPr sz="2250" b="1">
                          <a:solidFill>
                            <a:srgbClr val="FFFFFF"/>
                          </a:solidFill>
                          <a:latin typeface="Arial"/>
                          <a:ea typeface="Arial"/>
                          <a:cs typeface="Arial"/>
                        </a:rPr>
                        <a:t>Y baja</a:t>
                      </a:r>
                    </a:p>
                  </a:txBody>
                  <a:tcPr anchor="ctr">
                    <a:solidFill>
                      <a:srgbClr val="18343A"/>
                    </a:solidFill>
                  </a:tcPr>
                </a:tc>
                <a:extLst>
                  <a:ext uri="{0D108BD9-81ED-4DB2-BD59-A6C34878D82A}">
                    <a16:rowId xmlns:a16="http://schemas.microsoft.com/office/drawing/2014/main" val="10000"/>
                  </a:ext>
                </a:extLst>
              </a:tr>
              <a:tr h="777875">
                <a:tc>
                  <a:txBody>
                    <a:bodyPr/>
                    <a:lstStyle/>
                    <a:p>
                      <a:pPr algn="l"/>
                      <a:r>
                        <a:rPr sz="2250" b="0">
                          <a:solidFill>
                            <a:srgbClr val="18343A"/>
                          </a:solidFill>
                          <a:latin typeface="Arial"/>
                          <a:ea typeface="Arial"/>
                          <a:cs typeface="Arial"/>
                        </a:rPr>
                        <a:t>Favorable</a:t>
                      </a:r>
                    </a:p>
                  </a:txBody>
                  <a:tcPr anchor="ctr">
                    <a:solidFill>
                      <a:srgbClr val="FFFFFF"/>
                    </a:solidFill>
                  </a:tcPr>
                </a:tc>
                <a:tc>
                  <a:txBody>
                    <a:bodyPr/>
                    <a:lstStyle/>
                    <a:p>
                      <a:pPr algn="ctr"/>
                      <a:r>
                        <a:rPr sz="2250" b="0">
                          <a:solidFill>
                            <a:srgbClr val="18343A"/>
                          </a:solidFill>
                          <a:latin typeface="Arial"/>
                          <a:ea typeface="Arial"/>
                          <a:cs typeface="Arial"/>
                        </a:rPr>
                        <a:t>0.80</a:t>
                      </a:r>
                    </a:p>
                  </a:txBody>
                  <a:tcPr anchor="ctr">
                    <a:solidFill>
                      <a:srgbClr val="FFFFFF"/>
                    </a:solidFill>
                  </a:tcPr>
                </a:tc>
                <a:tc>
                  <a:txBody>
                    <a:bodyPr/>
                    <a:lstStyle/>
                    <a:p>
                      <a:pPr algn="ctr"/>
                      <a:r>
                        <a:rPr sz="2250" b="0">
                          <a:solidFill>
                            <a:srgbClr val="18343A"/>
                          </a:solidFill>
                          <a:latin typeface="Arial"/>
                          <a:ea typeface="Arial"/>
                          <a:cs typeface="Arial"/>
                        </a:rPr>
                        <a:t>0.20</a:t>
                      </a:r>
                    </a:p>
                  </a:txBody>
                  <a:tcPr anchor="ctr">
                    <a:solidFill>
                      <a:srgbClr val="FFFFFF"/>
                    </a:solidFill>
                  </a:tcPr>
                </a:tc>
                <a:extLst>
                  <a:ext uri="{0D108BD9-81ED-4DB2-BD59-A6C34878D82A}">
                    <a16:rowId xmlns:a16="http://schemas.microsoft.com/office/drawing/2014/main" val="10001"/>
                  </a:ext>
                </a:extLst>
              </a:tr>
              <a:tr h="777875">
                <a:tc>
                  <a:txBody>
                    <a:bodyPr/>
                    <a:lstStyle/>
                    <a:p>
                      <a:pPr algn="l"/>
                      <a:r>
                        <a:rPr sz="2250" b="0">
                          <a:solidFill>
                            <a:srgbClr val="18343A"/>
                          </a:solidFill>
                          <a:latin typeface="Arial"/>
                          <a:ea typeface="Arial"/>
                          <a:cs typeface="Arial"/>
                        </a:rPr>
                        <a:t>Alterada</a:t>
                      </a:r>
                    </a:p>
                  </a:txBody>
                  <a:tcPr anchor="ctr">
                    <a:solidFill>
                      <a:srgbClr val="EDF1EE"/>
                    </a:solidFill>
                  </a:tcPr>
                </a:tc>
                <a:tc>
                  <a:txBody>
                    <a:bodyPr/>
                    <a:lstStyle/>
                    <a:p>
                      <a:pPr algn="ctr"/>
                      <a:r>
                        <a:rPr sz="2250" b="0">
                          <a:solidFill>
                            <a:srgbClr val="18343A"/>
                          </a:solidFill>
                          <a:latin typeface="Arial"/>
                          <a:ea typeface="Arial"/>
                          <a:cs typeface="Arial"/>
                        </a:rPr>
                        <a:t>0.20</a:t>
                      </a:r>
                    </a:p>
                  </a:txBody>
                  <a:tcPr anchor="ctr">
                    <a:solidFill>
                      <a:srgbClr val="EDF1EE"/>
                    </a:solidFill>
                  </a:tcPr>
                </a:tc>
                <a:tc>
                  <a:txBody>
                    <a:bodyPr/>
                    <a:lstStyle/>
                    <a:p>
                      <a:pPr algn="ctr"/>
                      <a:r>
                        <a:rPr sz="2250" b="0">
                          <a:solidFill>
                            <a:srgbClr val="18343A"/>
                          </a:solidFill>
                          <a:latin typeface="Arial"/>
                          <a:ea typeface="Arial"/>
                          <a:cs typeface="Arial"/>
                        </a:rPr>
                        <a:t>0.80</a:t>
                      </a:r>
                    </a:p>
                  </a:txBody>
                  <a:tcPr anchor="ctr">
                    <a:solidFill>
                      <a:srgbClr val="EDF1EE"/>
                    </a:solidFill>
                  </a:tcPr>
                </a:tc>
                <a:extLst>
                  <a:ext uri="{0D108BD9-81ED-4DB2-BD59-A6C34878D82A}">
                    <a16:rowId xmlns:a16="http://schemas.microsoft.com/office/drawing/2014/main" val="10002"/>
                  </a:ext>
                </a:extLst>
              </a:tr>
            </a:tbl>
          </a:graphicData>
        </a:graphic>
      </p:graphicFrame>
      <p:sp>
        <p:nvSpPr>
          <p:cNvPr id="5" name="obj-58">
            <a:extLst>
              <a:ext uri="{FF2B5EF4-FFF2-40B4-BE49-F238E27FC236}">
                <a16:creationId xmlns:a16="http://schemas.microsoft.com/office/drawing/2014/main" id="{0712E56E-39E5-4EC1-9ABB-BD67D25E4BF9}"/>
              </a:ext>
            </a:extLst>
          </p:cNvPr>
          <p:cNvSpPr>
            <a:spLocks noGrp="1"/>
          </p:cNvSpPr>
          <p:nvPr/>
        </p:nvSpPr>
        <p:spPr>
          <a:xfrm>
            <a:off x="609600" y="4772025"/>
            <a:ext cx="10572750" cy="619125"/>
          </a:xfrm>
          <a:prstGeom prst="rect">
            <a:avLst/>
          </a:prstGeom>
          <a:noFill/>
          <a:ln w="0">
            <a:noFill/>
            <a:prstDash val="solid"/>
          </a:ln>
        </p:spPr>
        <p:txBody>
          <a:bodyPr wrap="square" lIns="0" tIns="0" rIns="0" bIns="0">
            <a:noAutofit/>
          </a:bodyPr>
          <a:lstStyle>
            <a:defPPr>
              <a:defRPr sz="2475" b="1">
                <a:solidFill>
                  <a:srgbClr val="18343A"/>
                </a:solidFill>
                <a:latin typeface="Arial"/>
                <a:ea typeface="Arial"/>
                <a:cs typeface="Arial"/>
              </a:defRPr>
            </a:defPPr>
          </a:lstStyle>
          <a:p>
            <a:pPr>
              <a:defRPr sz="2475" b="1">
                <a:solidFill>
                  <a:srgbClr val="18343A"/>
                </a:solidFill>
                <a:latin typeface="Arial"/>
                <a:ea typeface="Arial"/>
                <a:cs typeface="Arial"/>
              </a:defRPr>
            </a:pPr>
            <a:r>
              <a:rPr sz="2475" b="1">
                <a:solidFill>
                  <a:srgbClr val="18343A"/>
                </a:solidFill>
                <a:latin typeface="Arial"/>
                <a:ea typeface="Arial"/>
                <a:cs typeface="Arial"/>
              </a:rPr>
              <a:t>¿Qué tan esperable es la señal bajo cada condición?</a:t>
            </a:r>
          </a:p>
        </p:txBody>
      </p:sp>
      <p:sp>
        <p:nvSpPr>
          <p:cNvPr id="6" name="obj-59">
            <a:extLst>
              <a:ext uri="{FF2B5EF4-FFF2-40B4-BE49-F238E27FC236}">
                <a16:creationId xmlns:a16="http://schemas.microsoft.com/office/drawing/2014/main" id="{C8BCE57C-2A22-4B92-9471-DFF47889580A}"/>
              </a:ext>
            </a:extLst>
          </p:cNvPr>
          <p:cNvSpPr>
            <a:spLocks noGrp="1"/>
          </p:cNvSpPr>
          <p:nvPr/>
        </p:nvSpPr>
        <p:spPr>
          <a:xfrm>
            <a:off x="609600" y="5972175"/>
            <a:ext cx="10668000" cy="381000"/>
          </a:xfrm>
          <a:prstGeom prst="rect">
            <a:avLst/>
          </a:prstGeom>
          <a:noFill/>
          <a:ln w="0">
            <a:noFill/>
            <a:prstDash val="solid"/>
          </a:ln>
        </p:spPr>
        <p:txBody>
          <a:bodyPr wrap="square" lIns="0" tIns="0" rIns="0" bIns="0">
            <a:noAutofit/>
          </a:bodyPr>
          <a:lstStyle>
            <a:defPPr>
              <a:defRPr sz="1725" b="0">
                <a:solidFill>
                  <a:srgbClr val="52656A"/>
                </a:solidFill>
                <a:latin typeface="Arial"/>
                <a:ea typeface="Arial"/>
                <a:cs typeface="Arial"/>
              </a:defRPr>
            </a:defPPr>
          </a:lstStyle>
          <a:p>
            <a:pPr>
              <a:defRPr sz="1725" b="0">
                <a:solidFill>
                  <a:srgbClr val="52656A"/>
                </a:solidFill>
                <a:latin typeface="Arial"/>
                <a:ea typeface="Arial"/>
                <a:cs typeface="Arial"/>
              </a:defRPr>
            </a:pPr>
            <a:r>
              <a:rPr sz="1725" b="0">
                <a:solidFill>
                  <a:srgbClr val="52656A"/>
                </a:solidFill>
                <a:latin typeface="Arial"/>
                <a:ea typeface="Arial"/>
                <a:cs typeface="Arial"/>
              </a:rPr>
              <a:t>Y = regeneración observada. Números hipotéticos, ajenos a una calibración del IIE</a:t>
            </a:r>
          </a:p>
        </p:txBody>
      </p:sp>
    </p:spTree>
    <p:extLst>
      <p:ext uri="{BB962C8B-B14F-4D97-AF65-F5344CB8AC3E}">
        <p14:creationId xmlns:p14="http://schemas.microsoft.com/office/powerpoint/2010/main" val="11317295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9" name="obj-60">
            <a:extLst>
              <a:ext uri="{FF2B5EF4-FFF2-40B4-BE49-F238E27FC236}">
                <a16:creationId xmlns:a16="http://schemas.microsoft.com/office/drawing/2014/main" id="{EFAE58B0-143B-4AAB-9AD1-83D6C5B405F5}"/>
              </a:ext>
            </a:extLst>
          </p:cNvPr>
          <p:cNvSpPr>
            <a:spLocks noGrp="1"/>
          </p:cNvSpPr>
          <p:nvPr/>
        </p:nvSpPr>
        <p:spPr>
          <a:xfrm>
            <a:off x="609600" y="381000"/>
            <a:ext cx="10953750" cy="762000"/>
          </a:xfrm>
          <a:prstGeom prst="rect">
            <a:avLst/>
          </a:prstGeom>
          <a:noFill/>
          <a:ln w="0">
            <a:noFill/>
            <a:prstDash val="solid"/>
          </a:ln>
        </p:spPr>
        <p:txBody>
          <a:bodyPr wrap="square" lIns="0" tIns="0" rIns="0" bIns="0">
            <a:noAutofit/>
          </a:bodyPr>
          <a:lstStyle>
            <a:defPPr>
              <a:defRPr sz="3300" b="1">
                <a:solidFill>
                  <a:srgbClr val="18343A"/>
                </a:solidFill>
                <a:latin typeface="Arial"/>
                <a:ea typeface="Arial"/>
                <a:cs typeface="Arial"/>
              </a:defRPr>
            </a:defPPr>
          </a:lstStyle>
          <a:p>
            <a:pPr>
              <a:defRPr sz="3300" b="1">
                <a:solidFill>
                  <a:srgbClr val="18343A"/>
                </a:solidFill>
                <a:latin typeface="Arial"/>
                <a:ea typeface="Arial"/>
                <a:cs typeface="Arial"/>
              </a:defRPr>
            </a:pPr>
            <a:r>
              <a:rPr sz="3300" b="1">
                <a:solidFill>
                  <a:srgbClr val="18343A"/>
                </a:solidFill>
                <a:latin typeface="Arial"/>
                <a:ea typeface="Arial"/>
                <a:cs typeface="Arial"/>
              </a:rPr>
              <a:t>Una observación cambia el diagnóstico</a:t>
            </a:r>
          </a:p>
        </p:txBody>
      </p:sp>
      <p:sp>
        <p:nvSpPr>
          <p:cNvPr id="2" name="obj-61">
            <a:extLst>
              <a:ext uri="{FF2B5EF4-FFF2-40B4-BE49-F238E27FC236}">
                <a16:creationId xmlns:a16="http://schemas.microsoft.com/office/drawing/2014/main" id="{4130337D-E09E-4CAD-9C7D-B54B7DD22D69}"/>
              </a:ext>
            </a:extLst>
          </p:cNvPr>
          <p:cNvSpPr>
            <a:spLocks noGrp="1"/>
          </p:cNvSpPr>
          <p:nvPr/>
        </p:nvSpPr>
        <p:spPr>
          <a:xfrm>
            <a:off x="11144250" y="6410325"/>
            <a:ext cx="428625" cy="247650"/>
          </a:xfrm>
          <a:prstGeom prst="rect">
            <a:avLst/>
          </a:prstGeom>
          <a:noFill/>
          <a:ln w="0">
            <a:noFill/>
            <a:prstDash val="solid"/>
          </a:ln>
        </p:spPr>
        <p:txBody>
          <a:bodyPr wrap="square" lIns="0" tIns="0" rIns="0" bIns="0">
            <a:noAutofit/>
          </a:bodyPr>
          <a:lstStyle>
            <a:defPPr>
              <a:defRPr sz="1350" b="0">
                <a:solidFill>
                  <a:srgbClr val="52656A"/>
                </a:solidFill>
                <a:latin typeface="Arial"/>
                <a:ea typeface="Arial"/>
                <a:cs typeface="Arial"/>
              </a:defRPr>
            </a:defPPr>
          </a:lstStyle>
          <a:p>
            <a:pPr>
              <a:defRPr sz="1350" b="0">
                <a:solidFill>
                  <a:srgbClr val="52656A"/>
                </a:solidFill>
                <a:latin typeface="Arial"/>
                <a:ea typeface="Arial"/>
                <a:cs typeface="Arial"/>
              </a:defRPr>
            </a:pPr>
            <a:r>
              <a:rPr sz="1350" b="0">
                <a:solidFill>
                  <a:srgbClr val="52656A"/>
                </a:solidFill>
                <a:latin typeface="Arial"/>
                <a:ea typeface="Arial"/>
                <a:cs typeface="Arial"/>
              </a:rPr>
              <a:t>08</a:t>
            </a:r>
          </a:p>
        </p:txBody>
      </p:sp>
      <p:sp>
        <p:nvSpPr>
          <p:cNvPr id="3" name="obj-62">
            <a:extLst>
              <a:ext uri="{FF2B5EF4-FFF2-40B4-BE49-F238E27FC236}">
                <a16:creationId xmlns:a16="http://schemas.microsoft.com/office/drawing/2014/main" id="{4A255A5B-15DD-40E5-B2DB-A66127279396}"/>
              </a:ext>
            </a:extLst>
          </p:cNvPr>
          <p:cNvSpPr>
            <a:spLocks noGrp="1"/>
          </p:cNvSpPr>
          <p:nvPr/>
        </p:nvSpPr>
        <p:spPr>
          <a:xfrm>
            <a:off x="609600" y="1381125"/>
            <a:ext cx="10668000" cy="476250"/>
          </a:xfrm>
          <a:prstGeom prst="rect">
            <a:avLst/>
          </a:prstGeom>
          <a:noFill/>
          <a:ln w="0">
            <a:noFill/>
            <a:prstDash val="solid"/>
          </a:ln>
        </p:spPr>
        <p:txBody>
          <a:bodyPr wrap="square" lIns="0" tIns="0" rIns="0" bIns="0">
            <a:noAutofit/>
          </a:bodyPr>
          <a:lstStyle>
            <a:defPPr>
              <a:defRPr sz="2400" b="1">
                <a:solidFill>
                  <a:srgbClr val="AA6717"/>
                </a:solidFill>
                <a:latin typeface="Arial"/>
                <a:ea typeface="Arial"/>
                <a:cs typeface="Arial"/>
              </a:defRPr>
            </a:defPPr>
          </a:lstStyle>
          <a:p>
            <a:pPr>
              <a:defRPr sz="2400" b="1">
                <a:solidFill>
                  <a:srgbClr val="AA6717"/>
                </a:solidFill>
                <a:latin typeface="Arial"/>
                <a:ea typeface="Arial"/>
                <a:cs typeface="Arial"/>
              </a:defRPr>
            </a:pPr>
            <a:r>
              <a:rPr sz="2400" b="1">
                <a:solidFill>
                  <a:srgbClr val="AA6717"/>
                </a:solidFill>
                <a:latin typeface="Arial"/>
                <a:ea typeface="Arial"/>
                <a:cs typeface="Arial"/>
              </a:rPr>
              <a:t>Nueva evidencia: regeneración alta</a:t>
            </a:r>
          </a:p>
        </p:txBody>
      </p:sp>
      <p:graphicFrame>
        <p:nvGraphicFramePr>
          <p:cNvPr id="4" name="Tabla 3">
            <a:extLst>
              <a:ext uri="{FF2B5EF4-FFF2-40B4-BE49-F238E27FC236}">
                <a16:creationId xmlns:a16="http://schemas.microsoft.com/office/drawing/2014/main" id="{CB102A2D-69E6-4948-BC97-3D823EB28652}"/>
              </a:ext>
            </a:extLst>
          </p:cNvPr>
          <p:cNvGraphicFramePr/>
          <p:nvPr/>
        </p:nvGraphicFramePr>
        <p:xfrm>
          <a:off x="609600" y="2076450"/>
          <a:ext cx="10953750" cy="2114550"/>
        </p:xfrm>
        <a:graphic>
          <a:graphicData uri="http://schemas.openxmlformats.org/drawingml/2006/table">
            <a:tbl>
              <a:tblPr/>
              <a:tblGrid>
                <a:gridCol w="4476750">
                  <a:extLst>
                    <a:ext uri="{9D8B030D-6E8A-4147-A177-3AD203B41FA5}">
                      <a16:colId xmlns:a16="http://schemas.microsoft.com/office/drawing/2014/main" val="20000"/>
                    </a:ext>
                  </a:extLst>
                </a:gridCol>
                <a:gridCol w="3238500">
                  <a:extLst>
                    <a:ext uri="{9D8B030D-6E8A-4147-A177-3AD203B41FA5}">
                      <a16:colId xmlns:a16="http://schemas.microsoft.com/office/drawing/2014/main" val="20001"/>
                    </a:ext>
                  </a:extLst>
                </a:gridCol>
                <a:gridCol w="3238500">
                  <a:extLst>
                    <a:ext uri="{9D8B030D-6E8A-4147-A177-3AD203B41FA5}">
                      <a16:colId xmlns:a16="http://schemas.microsoft.com/office/drawing/2014/main" val="20002"/>
                    </a:ext>
                  </a:extLst>
                </a:gridCol>
              </a:tblGrid>
              <a:tr h="704850">
                <a:tc>
                  <a:txBody>
                    <a:bodyPr/>
                    <a:lstStyle/>
                    <a:p>
                      <a:pPr algn="l"/>
                      <a:r>
                        <a:rPr sz="2250" b="1">
                          <a:solidFill>
                            <a:srgbClr val="FFFFFF"/>
                          </a:solidFill>
                          <a:latin typeface="Arial"/>
                          <a:ea typeface="Arial"/>
                          <a:cs typeface="Arial"/>
                        </a:rPr>
                        <a:t>Estado de Z</a:t>
                      </a:r>
                    </a:p>
                  </a:txBody>
                  <a:tcPr anchor="ctr">
                    <a:solidFill>
                      <a:srgbClr val="18343A"/>
                    </a:solidFill>
                  </a:tcPr>
                </a:tc>
                <a:tc>
                  <a:txBody>
                    <a:bodyPr/>
                    <a:lstStyle/>
                    <a:p>
                      <a:pPr algn="ctr"/>
                      <a:r>
                        <a:rPr sz="2250" b="1">
                          <a:solidFill>
                            <a:srgbClr val="FFFFFF"/>
                          </a:solidFill>
                          <a:latin typeface="Arial"/>
                          <a:ea typeface="Arial"/>
                          <a:cs typeface="Arial"/>
                        </a:rPr>
                        <a:t>A priori</a:t>
                      </a:r>
                    </a:p>
                  </a:txBody>
                  <a:tcPr anchor="ctr">
                    <a:solidFill>
                      <a:srgbClr val="18343A"/>
                    </a:solidFill>
                  </a:tcPr>
                </a:tc>
                <a:tc>
                  <a:txBody>
                    <a:bodyPr/>
                    <a:lstStyle/>
                    <a:p>
                      <a:pPr algn="ctr"/>
                      <a:r>
                        <a:rPr sz="2250" b="1">
                          <a:solidFill>
                            <a:srgbClr val="FFFFFF"/>
                          </a:solidFill>
                          <a:latin typeface="Arial"/>
                          <a:ea typeface="Arial"/>
                          <a:cs typeface="Arial"/>
                        </a:rPr>
                        <a:t>A posteriori</a:t>
                      </a:r>
                    </a:p>
                  </a:txBody>
                  <a:tcPr anchor="ctr">
                    <a:solidFill>
                      <a:srgbClr val="18343A"/>
                    </a:solidFill>
                  </a:tcPr>
                </a:tc>
                <a:extLst>
                  <a:ext uri="{0D108BD9-81ED-4DB2-BD59-A6C34878D82A}">
                    <a16:rowId xmlns:a16="http://schemas.microsoft.com/office/drawing/2014/main" val="10000"/>
                  </a:ext>
                </a:extLst>
              </a:tr>
              <a:tr h="704850">
                <a:tc>
                  <a:txBody>
                    <a:bodyPr/>
                    <a:lstStyle/>
                    <a:p>
                      <a:pPr algn="l"/>
                      <a:r>
                        <a:rPr sz="2250" b="0">
                          <a:solidFill>
                            <a:srgbClr val="18343A"/>
                          </a:solidFill>
                          <a:latin typeface="Arial"/>
                          <a:ea typeface="Arial"/>
                          <a:cs typeface="Arial"/>
                        </a:rPr>
                        <a:t>Favorable</a:t>
                      </a:r>
                    </a:p>
                  </a:txBody>
                  <a:tcPr anchor="ctr">
                    <a:solidFill>
                      <a:srgbClr val="FFFFFF"/>
                    </a:solidFill>
                  </a:tcPr>
                </a:tc>
                <a:tc>
                  <a:txBody>
                    <a:bodyPr/>
                    <a:lstStyle/>
                    <a:p>
                      <a:pPr algn="ctr"/>
                      <a:r>
                        <a:rPr sz="2250" b="0">
                          <a:solidFill>
                            <a:srgbClr val="18343A"/>
                          </a:solidFill>
                          <a:latin typeface="Arial"/>
                          <a:ea typeface="Arial"/>
                          <a:cs typeface="Arial"/>
                        </a:rPr>
                        <a:t>0.50</a:t>
                      </a:r>
                    </a:p>
                  </a:txBody>
                  <a:tcPr anchor="ctr">
                    <a:solidFill>
                      <a:srgbClr val="FFFFFF"/>
                    </a:solidFill>
                  </a:tcPr>
                </a:tc>
                <a:tc>
                  <a:txBody>
                    <a:bodyPr/>
                    <a:lstStyle/>
                    <a:p>
                      <a:pPr algn="ctr"/>
                      <a:r>
                        <a:rPr sz="2250" b="0">
                          <a:solidFill>
                            <a:srgbClr val="18343A"/>
                          </a:solidFill>
                          <a:latin typeface="Arial"/>
                          <a:ea typeface="Arial"/>
                          <a:cs typeface="Arial"/>
                        </a:rPr>
                        <a:t>0.80</a:t>
                      </a:r>
                    </a:p>
                  </a:txBody>
                  <a:tcPr anchor="ctr">
                    <a:solidFill>
                      <a:srgbClr val="FFFFFF"/>
                    </a:solidFill>
                  </a:tcPr>
                </a:tc>
                <a:extLst>
                  <a:ext uri="{0D108BD9-81ED-4DB2-BD59-A6C34878D82A}">
                    <a16:rowId xmlns:a16="http://schemas.microsoft.com/office/drawing/2014/main" val="10001"/>
                  </a:ext>
                </a:extLst>
              </a:tr>
              <a:tr h="704850">
                <a:tc>
                  <a:txBody>
                    <a:bodyPr/>
                    <a:lstStyle/>
                    <a:p>
                      <a:pPr algn="l"/>
                      <a:r>
                        <a:rPr sz="2250" b="0">
                          <a:solidFill>
                            <a:srgbClr val="18343A"/>
                          </a:solidFill>
                          <a:latin typeface="Arial"/>
                          <a:ea typeface="Arial"/>
                          <a:cs typeface="Arial"/>
                        </a:rPr>
                        <a:t>Alterada</a:t>
                      </a:r>
                    </a:p>
                  </a:txBody>
                  <a:tcPr anchor="ctr">
                    <a:solidFill>
                      <a:srgbClr val="EDF1EE"/>
                    </a:solidFill>
                  </a:tcPr>
                </a:tc>
                <a:tc>
                  <a:txBody>
                    <a:bodyPr/>
                    <a:lstStyle/>
                    <a:p>
                      <a:pPr algn="ctr"/>
                      <a:r>
                        <a:rPr sz="2250" b="0">
                          <a:solidFill>
                            <a:srgbClr val="18343A"/>
                          </a:solidFill>
                          <a:latin typeface="Arial"/>
                          <a:ea typeface="Arial"/>
                          <a:cs typeface="Arial"/>
                        </a:rPr>
                        <a:t>0.50</a:t>
                      </a:r>
                    </a:p>
                  </a:txBody>
                  <a:tcPr anchor="ctr">
                    <a:solidFill>
                      <a:srgbClr val="EDF1EE"/>
                    </a:solidFill>
                  </a:tcPr>
                </a:tc>
                <a:tc>
                  <a:txBody>
                    <a:bodyPr/>
                    <a:lstStyle/>
                    <a:p>
                      <a:pPr algn="ctr"/>
                      <a:r>
                        <a:rPr sz="2250" b="0">
                          <a:solidFill>
                            <a:srgbClr val="18343A"/>
                          </a:solidFill>
                          <a:latin typeface="Arial"/>
                          <a:ea typeface="Arial"/>
                          <a:cs typeface="Arial"/>
                        </a:rPr>
                        <a:t>0.20</a:t>
                      </a:r>
                    </a:p>
                  </a:txBody>
                  <a:tcPr anchor="ctr">
                    <a:solidFill>
                      <a:srgbClr val="EDF1EE"/>
                    </a:solidFill>
                  </a:tcPr>
                </a:tc>
                <a:extLst>
                  <a:ext uri="{0D108BD9-81ED-4DB2-BD59-A6C34878D82A}">
                    <a16:rowId xmlns:a16="http://schemas.microsoft.com/office/drawing/2014/main" val="10002"/>
                  </a:ext>
                </a:extLst>
              </a:tr>
            </a:tbl>
          </a:graphicData>
        </a:graphic>
      </p:graphicFrame>
      <p:sp>
        <p:nvSpPr>
          <p:cNvPr id="5" name="obj-63">
            <a:extLst>
              <a:ext uri="{FF2B5EF4-FFF2-40B4-BE49-F238E27FC236}">
                <a16:creationId xmlns:a16="http://schemas.microsoft.com/office/drawing/2014/main" id="{C0C0D9DC-41F5-466E-A5C7-93A2781DD9BC}"/>
              </a:ext>
            </a:extLst>
          </p:cNvPr>
          <p:cNvSpPr>
            <a:spLocks noGrp="1"/>
          </p:cNvSpPr>
          <p:nvPr/>
        </p:nvSpPr>
        <p:spPr>
          <a:xfrm>
            <a:off x="609600" y="4657725"/>
            <a:ext cx="5276850" cy="495300"/>
          </a:xfrm>
          <a:prstGeom prst="rect">
            <a:avLst/>
          </a:prstGeom>
          <a:noFill/>
          <a:ln w="0">
            <a:noFill/>
            <a:prstDash val="solid"/>
          </a:ln>
        </p:spPr>
        <p:txBody>
          <a:bodyPr wrap="square" lIns="0" tIns="0" rIns="0" bIns="0">
            <a:noAutofit/>
          </a:bodyPr>
          <a:lstStyle>
            <a:defPPr>
              <a:defRPr sz="2025" b="1">
                <a:solidFill>
                  <a:srgbClr val="73528C"/>
                </a:solidFill>
                <a:latin typeface="Arial"/>
                <a:ea typeface="Arial"/>
                <a:cs typeface="Arial"/>
              </a:defRPr>
            </a:defPPr>
          </a:lstStyle>
          <a:p>
            <a:pPr>
              <a:defRPr sz="2025" b="1">
                <a:solidFill>
                  <a:srgbClr val="73528C"/>
                </a:solidFill>
                <a:latin typeface="Arial"/>
                <a:ea typeface="Arial"/>
                <a:cs typeface="Arial"/>
              </a:defRPr>
            </a:pPr>
            <a:r>
              <a:rPr sz="2025" b="1">
                <a:solidFill>
                  <a:srgbClr val="73528C"/>
                </a:solidFill>
                <a:latin typeface="Arial"/>
                <a:ea typeface="Arial"/>
                <a:cs typeface="Arial"/>
              </a:rPr>
              <a:t>Favorable: 0.50 × 0.80 = 0.40</a:t>
            </a:r>
          </a:p>
        </p:txBody>
      </p:sp>
      <p:sp>
        <p:nvSpPr>
          <p:cNvPr id="6" name="obj-64">
            <a:extLst>
              <a:ext uri="{FF2B5EF4-FFF2-40B4-BE49-F238E27FC236}">
                <a16:creationId xmlns:a16="http://schemas.microsoft.com/office/drawing/2014/main" id="{CE8F6455-E30E-46D2-A58B-4D8648D21530}"/>
              </a:ext>
            </a:extLst>
          </p:cNvPr>
          <p:cNvSpPr>
            <a:spLocks noGrp="1"/>
          </p:cNvSpPr>
          <p:nvPr/>
        </p:nvSpPr>
        <p:spPr>
          <a:xfrm>
            <a:off x="6372225" y="4657725"/>
            <a:ext cx="5191125" cy="495300"/>
          </a:xfrm>
          <a:prstGeom prst="rect">
            <a:avLst/>
          </a:prstGeom>
          <a:noFill/>
          <a:ln w="0">
            <a:noFill/>
            <a:prstDash val="solid"/>
          </a:ln>
        </p:spPr>
        <p:txBody>
          <a:bodyPr wrap="square" lIns="0" tIns="0" rIns="0" bIns="0">
            <a:noAutofit/>
          </a:bodyPr>
          <a:lstStyle>
            <a:defPPr>
              <a:defRPr sz="2025" b="1">
                <a:solidFill>
                  <a:srgbClr val="52656A"/>
                </a:solidFill>
                <a:latin typeface="Arial"/>
                <a:ea typeface="Arial"/>
                <a:cs typeface="Arial"/>
              </a:defRPr>
            </a:defPPr>
          </a:lstStyle>
          <a:p>
            <a:pPr>
              <a:defRPr sz="2025" b="1">
                <a:solidFill>
                  <a:srgbClr val="52656A"/>
                </a:solidFill>
                <a:latin typeface="Arial"/>
                <a:ea typeface="Arial"/>
                <a:cs typeface="Arial"/>
              </a:defRPr>
            </a:pPr>
            <a:r>
              <a:rPr sz="2025" b="1">
                <a:solidFill>
                  <a:srgbClr val="52656A"/>
                </a:solidFill>
                <a:latin typeface="Arial"/>
                <a:ea typeface="Arial"/>
                <a:cs typeface="Arial"/>
              </a:rPr>
              <a:t>Alterada: 0.50 × 0.20 = 0.10</a:t>
            </a:r>
          </a:p>
        </p:txBody>
      </p:sp>
      <p:sp>
        <p:nvSpPr>
          <p:cNvPr id="7" name="obj-65">
            <a:extLst>
              <a:ext uri="{FF2B5EF4-FFF2-40B4-BE49-F238E27FC236}">
                <a16:creationId xmlns:a16="http://schemas.microsoft.com/office/drawing/2014/main" id="{B57AD157-DE1F-499B-9A94-6B89425FC7F7}"/>
              </a:ext>
            </a:extLst>
          </p:cNvPr>
          <p:cNvSpPr>
            <a:spLocks noGrp="1"/>
          </p:cNvSpPr>
          <p:nvPr/>
        </p:nvSpPr>
        <p:spPr>
          <a:xfrm>
            <a:off x="609600" y="5276850"/>
            <a:ext cx="10668000" cy="533400"/>
          </a:xfrm>
          <a:prstGeom prst="rect">
            <a:avLst/>
          </a:prstGeom>
          <a:noFill/>
          <a:ln w="0">
            <a:noFill/>
            <a:prstDash val="solid"/>
          </a:ln>
        </p:spPr>
        <p:txBody>
          <a:bodyPr wrap="square" lIns="0" tIns="0" rIns="0" bIns="0">
            <a:noAutofit/>
          </a:bodyPr>
          <a:lstStyle>
            <a:defPPr>
              <a:defRPr sz="2250" b="0">
                <a:solidFill>
                  <a:srgbClr val="18343A"/>
                </a:solidFill>
                <a:latin typeface="Arial"/>
                <a:ea typeface="Arial"/>
                <a:cs typeface="Arial"/>
              </a:defRPr>
            </a:defPPr>
          </a:lstStyle>
          <a:p>
            <a:pPr>
              <a:defRPr sz="2250" b="0">
                <a:solidFill>
                  <a:srgbClr val="18343A"/>
                </a:solidFill>
                <a:latin typeface="Arial"/>
                <a:ea typeface="Arial"/>
                <a:cs typeface="Arial"/>
              </a:defRPr>
            </a:pPr>
            <a:r>
              <a:rPr sz="2250" b="0">
                <a:solidFill>
                  <a:srgbClr val="18343A"/>
                </a:solidFill>
                <a:latin typeface="Arial"/>
                <a:ea typeface="Arial"/>
                <a:cs typeface="Arial"/>
              </a:rPr>
              <a:t>p(favorable | Y alta, x) = 0.40 / (0.40 + 0.10) = 0.80</a:t>
            </a:r>
          </a:p>
        </p:txBody>
      </p:sp>
      <p:sp>
        <p:nvSpPr>
          <p:cNvPr id="8" name="obj-66">
            <a:extLst>
              <a:ext uri="{FF2B5EF4-FFF2-40B4-BE49-F238E27FC236}">
                <a16:creationId xmlns:a16="http://schemas.microsoft.com/office/drawing/2014/main" id="{705669C3-FEBF-4473-B1E4-967EE2E793DC}"/>
              </a:ext>
            </a:extLst>
          </p:cNvPr>
          <p:cNvSpPr>
            <a:spLocks noGrp="1"/>
          </p:cNvSpPr>
          <p:nvPr/>
        </p:nvSpPr>
        <p:spPr>
          <a:xfrm>
            <a:off x="609600" y="5972175"/>
            <a:ext cx="10668000" cy="381000"/>
          </a:xfrm>
          <a:prstGeom prst="rect">
            <a:avLst/>
          </a:prstGeom>
          <a:noFill/>
          <a:ln w="0">
            <a:noFill/>
            <a:prstDash val="solid"/>
          </a:ln>
        </p:spPr>
        <p:txBody>
          <a:bodyPr wrap="square" lIns="0" tIns="0" rIns="0" bIns="0">
            <a:noAutofit/>
          </a:bodyPr>
          <a:lstStyle>
            <a:defPPr>
              <a:defRPr sz="1725" b="0">
                <a:solidFill>
                  <a:srgbClr val="52656A"/>
                </a:solidFill>
                <a:latin typeface="Arial"/>
                <a:ea typeface="Arial"/>
                <a:cs typeface="Arial"/>
              </a:defRPr>
            </a:defPPr>
          </a:lstStyle>
          <a:p>
            <a:pPr>
              <a:defRPr sz="1725" b="0">
                <a:solidFill>
                  <a:srgbClr val="52656A"/>
                </a:solidFill>
                <a:latin typeface="Arial"/>
                <a:ea typeface="Arial"/>
                <a:cs typeface="Arial"/>
              </a:defRPr>
            </a:pPr>
            <a:r>
              <a:rPr sz="1725" b="0">
                <a:solidFill>
                  <a:srgbClr val="52656A"/>
                </a:solidFill>
                <a:latin typeface="Arial"/>
                <a:ea typeface="Arial"/>
                <a:cs typeface="Arial"/>
              </a:rPr>
              <a:t>Ejemplo hipotético. 0.80 es probabilidad del estado, no «80 % de integridad»</a:t>
            </a:r>
          </a:p>
        </p:txBody>
      </p:sp>
    </p:spTree>
    <p:extLst>
      <p:ext uri="{BB962C8B-B14F-4D97-AF65-F5344CB8AC3E}">
        <p14:creationId xmlns:p14="http://schemas.microsoft.com/office/powerpoint/2010/main" val="12828216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9" name="obj-67">
            <a:extLst>
              <a:ext uri="{FF2B5EF4-FFF2-40B4-BE49-F238E27FC236}">
                <a16:creationId xmlns:a16="http://schemas.microsoft.com/office/drawing/2014/main" id="{80A92043-A948-4BF2-A4D3-BA18CA9C3D80}"/>
              </a:ext>
            </a:extLst>
          </p:cNvPr>
          <p:cNvSpPr>
            <a:spLocks noGrp="1"/>
          </p:cNvSpPr>
          <p:nvPr/>
        </p:nvSpPr>
        <p:spPr>
          <a:xfrm>
            <a:off x="609600" y="381000"/>
            <a:ext cx="10953750" cy="762000"/>
          </a:xfrm>
          <a:prstGeom prst="rect">
            <a:avLst/>
          </a:prstGeom>
          <a:noFill/>
          <a:ln w="0">
            <a:noFill/>
            <a:prstDash val="solid"/>
          </a:ln>
        </p:spPr>
        <p:txBody>
          <a:bodyPr wrap="square" lIns="0" tIns="0" rIns="0" bIns="0">
            <a:noAutofit/>
          </a:bodyPr>
          <a:lstStyle>
            <a:defPPr>
              <a:defRPr sz="3300" b="1">
                <a:solidFill>
                  <a:srgbClr val="18343A"/>
                </a:solidFill>
                <a:latin typeface="Arial"/>
                <a:ea typeface="Arial"/>
                <a:cs typeface="Arial"/>
              </a:defRPr>
            </a:defPPr>
          </a:lstStyle>
          <a:p>
            <a:pPr>
              <a:defRPr sz="3300" b="1">
                <a:solidFill>
                  <a:srgbClr val="18343A"/>
                </a:solidFill>
                <a:latin typeface="Arial"/>
                <a:ea typeface="Arial"/>
                <a:cs typeface="Arial"/>
              </a:defRPr>
            </a:pPr>
            <a:r>
              <a:rPr sz="3300" b="1">
                <a:solidFill>
                  <a:srgbClr val="18343A"/>
                </a:solidFill>
                <a:latin typeface="Arial"/>
                <a:ea typeface="Arial"/>
                <a:cs typeface="Arial"/>
              </a:rPr>
              <a:t>Diagnóstico y decisiones de gestión</a:t>
            </a:r>
          </a:p>
        </p:txBody>
      </p:sp>
      <p:sp>
        <p:nvSpPr>
          <p:cNvPr id="2" name="obj-68">
            <a:extLst>
              <a:ext uri="{FF2B5EF4-FFF2-40B4-BE49-F238E27FC236}">
                <a16:creationId xmlns:a16="http://schemas.microsoft.com/office/drawing/2014/main" id="{6442158C-D0C8-4F25-9B88-FFDDF8E44780}"/>
              </a:ext>
            </a:extLst>
          </p:cNvPr>
          <p:cNvSpPr>
            <a:spLocks noGrp="1"/>
          </p:cNvSpPr>
          <p:nvPr/>
        </p:nvSpPr>
        <p:spPr>
          <a:xfrm>
            <a:off x="11144250" y="6410325"/>
            <a:ext cx="428625" cy="247650"/>
          </a:xfrm>
          <a:prstGeom prst="rect">
            <a:avLst/>
          </a:prstGeom>
          <a:noFill/>
          <a:ln w="0">
            <a:noFill/>
            <a:prstDash val="solid"/>
          </a:ln>
        </p:spPr>
        <p:txBody>
          <a:bodyPr wrap="square" lIns="0" tIns="0" rIns="0" bIns="0">
            <a:noAutofit/>
          </a:bodyPr>
          <a:lstStyle>
            <a:defPPr>
              <a:defRPr sz="1350" b="0">
                <a:solidFill>
                  <a:srgbClr val="52656A"/>
                </a:solidFill>
                <a:latin typeface="Arial"/>
                <a:ea typeface="Arial"/>
                <a:cs typeface="Arial"/>
              </a:defRPr>
            </a:defPPr>
          </a:lstStyle>
          <a:p>
            <a:pPr>
              <a:defRPr sz="1350" b="0">
                <a:solidFill>
                  <a:srgbClr val="52656A"/>
                </a:solidFill>
                <a:latin typeface="Arial"/>
                <a:ea typeface="Arial"/>
                <a:cs typeface="Arial"/>
              </a:defRPr>
            </a:pPr>
            <a:r>
              <a:rPr sz="1350" b="0">
                <a:solidFill>
                  <a:srgbClr val="52656A"/>
                </a:solidFill>
                <a:latin typeface="Arial"/>
                <a:ea typeface="Arial"/>
                <a:cs typeface="Arial"/>
              </a:rPr>
              <a:t>09</a:t>
            </a:r>
          </a:p>
        </p:txBody>
      </p:sp>
      <p:sp>
        <p:nvSpPr>
          <p:cNvPr id="3" name="obj-69">
            <a:extLst>
              <a:ext uri="{FF2B5EF4-FFF2-40B4-BE49-F238E27FC236}">
                <a16:creationId xmlns:a16="http://schemas.microsoft.com/office/drawing/2014/main" id="{80B95E17-88F2-4261-829A-D469C2542BDB}"/>
              </a:ext>
            </a:extLst>
          </p:cNvPr>
          <p:cNvSpPr>
            <a:spLocks noGrp="1"/>
          </p:cNvSpPr>
          <p:nvPr/>
        </p:nvSpPr>
        <p:spPr>
          <a:xfrm>
            <a:off x="609600" y="1619250"/>
            <a:ext cx="4953000" cy="1123950"/>
          </a:xfrm>
          <a:prstGeom prst="rect">
            <a:avLst/>
          </a:prstGeom>
          <a:noFill/>
          <a:ln w="0">
            <a:noFill/>
            <a:prstDash val="solid"/>
          </a:ln>
        </p:spPr>
        <p:txBody>
          <a:bodyPr wrap="square" lIns="0" tIns="0" rIns="0" bIns="0">
            <a:noAutofit/>
          </a:bodyPr>
          <a:lstStyle>
            <a:defPPr>
              <a:defRPr sz="2850" b="1">
                <a:solidFill>
                  <a:srgbClr val="73528C"/>
                </a:solidFill>
                <a:latin typeface="Arial"/>
                <a:ea typeface="Arial"/>
                <a:cs typeface="Arial"/>
              </a:defRPr>
            </a:defPPr>
          </a:lstStyle>
          <a:p>
            <a:pPr>
              <a:defRPr sz="2850" b="1">
                <a:solidFill>
                  <a:srgbClr val="73528C"/>
                </a:solidFill>
                <a:latin typeface="Arial"/>
                <a:ea typeface="Arial"/>
                <a:cs typeface="Arial"/>
              </a:defRPr>
            </a:pPr>
            <a:r>
              <a:rPr sz="2850" b="1">
                <a:solidFill>
                  <a:srgbClr val="73528C"/>
                </a:solidFill>
                <a:latin typeface="Arial"/>
                <a:ea typeface="Arial"/>
                <a:cs typeface="Arial"/>
              </a:rPr>
              <a:t>¿Qué condición sugieren</a:t>
            </a:r>
          </a:p>
          <a:p>
            <a:pPr>
              <a:defRPr sz="2850" b="1">
                <a:solidFill>
                  <a:srgbClr val="73528C"/>
                </a:solidFill>
                <a:latin typeface="Arial"/>
                <a:ea typeface="Arial"/>
                <a:cs typeface="Arial"/>
              </a:defRPr>
            </a:pPr>
            <a:r>
              <a:rPr sz="2850" b="1">
                <a:solidFill>
                  <a:srgbClr val="73528C"/>
                </a:solidFill>
                <a:latin typeface="Arial"/>
                <a:ea typeface="Arial"/>
                <a:cs typeface="Arial"/>
              </a:rPr>
              <a:t>las observaciones?</a:t>
            </a:r>
          </a:p>
        </p:txBody>
      </p:sp>
      <p:sp>
        <p:nvSpPr>
          <p:cNvPr id="4" name="obj-70">
            <a:extLst>
              <a:ext uri="{FF2B5EF4-FFF2-40B4-BE49-F238E27FC236}">
                <a16:creationId xmlns:a16="http://schemas.microsoft.com/office/drawing/2014/main" id="{A6506AE4-3B9C-46A1-BE56-A35AB175337C}"/>
              </a:ext>
            </a:extLst>
          </p:cNvPr>
          <p:cNvSpPr>
            <a:spLocks noGrp="1"/>
          </p:cNvSpPr>
          <p:nvPr/>
        </p:nvSpPr>
        <p:spPr>
          <a:xfrm>
            <a:off x="609600" y="3171825"/>
            <a:ext cx="4857750" cy="952500"/>
          </a:xfrm>
          <a:prstGeom prst="rect">
            <a:avLst/>
          </a:prstGeom>
          <a:noFill/>
          <a:ln w="0">
            <a:noFill/>
            <a:prstDash val="solid"/>
          </a:ln>
        </p:spPr>
        <p:txBody>
          <a:bodyPr wrap="square" lIns="0" tIns="0" rIns="0" bIns="0">
            <a:noAutofit/>
          </a:bodyPr>
          <a:lstStyle>
            <a:defPPr>
              <a:defRPr sz="2250" b="0">
                <a:solidFill>
                  <a:srgbClr val="18343A"/>
                </a:solidFill>
                <a:latin typeface="Arial"/>
                <a:ea typeface="Arial"/>
                <a:cs typeface="Arial"/>
              </a:defRPr>
            </a:defPPr>
          </a:lstStyle>
          <a:p>
            <a:pPr>
              <a:defRPr sz="2250" b="0">
                <a:solidFill>
                  <a:srgbClr val="18343A"/>
                </a:solidFill>
                <a:latin typeface="Arial"/>
                <a:ea typeface="Arial"/>
                <a:cs typeface="Arial"/>
              </a:defRPr>
            </a:pPr>
            <a:r>
              <a:rPr sz="2250" b="0">
                <a:solidFill>
                  <a:srgbClr val="18343A"/>
                </a:solidFill>
                <a:latin typeface="Arial"/>
                <a:ea typeface="Arial"/>
                <a:cs typeface="Arial"/>
              </a:rPr>
              <a:t>Actualizar el diagnóstico</a:t>
            </a:r>
          </a:p>
          <a:p>
            <a:pPr>
              <a:defRPr sz="2250" b="0">
                <a:solidFill>
                  <a:srgbClr val="18343A"/>
                </a:solidFill>
                <a:latin typeface="Arial"/>
                <a:ea typeface="Arial"/>
                <a:cs typeface="Arial"/>
              </a:defRPr>
            </a:pPr>
            <a:r>
              <a:rPr sz="2250" b="0">
                <a:solidFill>
                  <a:srgbClr val="18343A"/>
                </a:solidFill>
                <a:latin typeface="Arial"/>
                <a:ea typeface="Arial"/>
                <a:cs typeface="Arial"/>
              </a:rPr>
              <a:t>con contexto y evidencia</a:t>
            </a:r>
          </a:p>
        </p:txBody>
      </p:sp>
      <p:sp>
        <p:nvSpPr>
          <p:cNvPr id="5" name="obj-71">
            <a:extLst>
              <a:ext uri="{FF2B5EF4-FFF2-40B4-BE49-F238E27FC236}">
                <a16:creationId xmlns:a16="http://schemas.microsoft.com/office/drawing/2014/main" id="{21AD2AF8-3AB1-40FC-B342-F76EEB1DE141}"/>
              </a:ext>
            </a:extLst>
          </p:cNvPr>
          <p:cNvSpPr>
            <a:spLocks noGrp="1"/>
          </p:cNvSpPr>
          <p:nvPr/>
        </p:nvSpPr>
        <p:spPr>
          <a:xfrm>
            <a:off x="6610350" y="1619250"/>
            <a:ext cx="4953000" cy="1123950"/>
          </a:xfrm>
          <a:prstGeom prst="rect">
            <a:avLst/>
          </a:prstGeom>
          <a:noFill/>
          <a:ln w="0">
            <a:noFill/>
            <a:prstDash val="solid"/>
          </a:ln>
        </p:spPr>
        <p:txBody>
          <a:bodyPr wrap="square" lIns="0" tIns="0" rIns="0" bIns="0">
            <a:noAutofit/>
          </a:bodyPr>
          <a:lstStyle>
            <a:defPPr>
              <a:defRPr sz="2850" b="1">
                <a:solidFill>
                  <a:srgbClr val="087E86"/>
                </a:solidFill>
                <a:latin typeface="Arial"/>
                <a:ea typeface="Arial"/>
                <a:cs typeface="Arial"/>
              </a:defRPr>
            </a:defPPr>
          </a:lstStyle>
          <a:p>
            <a:pPr>
              <a:defRPr sz="2850" b="1">
                <a:solidFill>
                  <a:srgbClr val="087E86"/>
                </a:solidFill>
                <a:latin typeface="Arial"/>
                <a:ea typeface="Arial"/>
                <a:cs typeface="Arial"/>
              </a:defRPr>
            </a:pPr>
            <a:r>
              <a:rPr sz="2850" b="1">
                <a:solidFill>
                  <a:srgbClr val="087E86"/>
                </a:solidFill>
                <a:latin typeface="Arial"/>
                <a:ea typeface="Arial"/>
                <a:cs typeface="Arial"/>
              </a:rPr>
              <a:t>¿Qué ocurriría al reducir</a:t>
            </a:r>
          </a:p>
          <a:p>
            <a:pPr>
              <a:defRPr sz="2850" b="1">
                <a:solidFill>
                  <a:srgbClr val="087E86"/>
                </a:solidFill>
                <a:latin typeface="Arial"/>
                <a:ea typeface="Arial"/>
                <a:cs typeface="Arial"/>
              </a:defRPr>
            </a:pPr>
            <a:r>
              <a:rPr sz="2850" b="1">
                <a:solidFill>
                  <a:srgbClr val="087E86"/>
                </a:solidFill>
                <a:latin typeface="Arial"/>
                <a:ea typeface="Arial"/>
                <a:cs typeface="Arial"/>
              </a:rPr>
              <a:t>la extracción?</a:t>
            </a:r>
          </a:p>
        </p:txBody>
      </p:sp>
      <p:sp>
        <p:nvSpPr>
          <p:cNvPr id="6" name="obj-72">
            <a:extLst>
              <a:ext uri="{FF2B5EF4-FFF2-40B4-BE49-F238E27FC236}">
                <a16:creationId xmlns:a16="http://schemas.microsoft.com/office/drawing/2014/main" id="{29932B3D-F5C5-4668-ADF5-F24466D09E76}"/>
              </a:ext>
            </a:extLst>
          </p:cNvPr>
          <p:cNvSpPr>
            <a:spLocks noGrp="1"/>
          </p:cNvSpPr>
          <p:nvPr/>
        </p:nvSpPr>
        <p:spPr>
          <a:xfrm>
            <a:off x="6610350" y="3171825"/>
            <a:ext cx="4953000" cy="952500"/>
          </a:xfrm>
          <a:prstGeom prst="rect">
            <a:avLst/>
          </a:prstGeom>
          <a:noFill/>
          <a:ln w="0">
            <a:noFill/>
            <a:prstDash val="solid"/>
          </a:ln>
        </p:spPr>
        <p:txBody>
          <a:bodyPr wrap="square" lIns="0" tIns="0" rIns="0" bIns="0">
            <a:noAutofit/>
          </a:bodyPr>
          <a:lstStyle>
            <a:defPPr>
              <a:defRPr sz="2250" b="0">
                <a:solidFill>
                  <a:srgbClr val="18343A"/>
                </a:solidFill>
                <a:latin typeface="Arial"/>
                <a:ea typeface="Arial"/>
                <a:cs typeface="Arial"/>
              </a:defRPr>
            </a:defPPr>
          </a:lstStyle>
          <a:p>
            <a:pPr>
              <a:defRPr sz="2250" b="0">
                <a:solidFill>
                  <a:srgbClr val="18343A"/>
                </a:solidFill>
                <a:latin typeface="Arial"/>
                <a:ea typeface="Arial"/>
                <a:cs typeface="Arial"/>
              </a:defRPr>
            </a:pPr>
            <a:r>
              <a:rPr sz="2250" b="0">
                <a:solidFill>
                  <a:srgbClr val="18343A"/>
                </a:solidFill>
                <a:latin typeface="Arial"/>
                <a:ea typeface="Arial"/>
                <a:cs typeface="Arial"/>
              </a:rPr>
              <a:t>Justificar mecanismos causales</a:t>
            </a:r>
          </a:p>
          <a:p>
            <a:pPr>
              <a:defRPr sz="2250" b="0">
                <a:solidFill>
                  <a:srgbClr val="18343A"/>
                </a:solidFill>
                <a:latin typeface="Arial"/>
                <a:ea typeface="Arial"/>
                <a:cs typeface="Arial"/>
              </a:defRPr>
            </a:pPr>
            <a:r>
              <a:rPr sz="2250" b="0">
                <a:solidFill>
                  <a:srgbClr val="18343A"/>
                </a:solidFill>
                <a:latin typeface="Arial"/>
                <a:ea typeface="Arial"/>
                <a:cs typeface="Arial"/>
              </a:rPr>
              <a:t>y comparar posibles acciones</a:t>
            </a:r>
          </a:p>
        </p:txBody>
      </p:sp>
      <p:sp>
        <p:nvSpPr>
          <p:cNvPr id="7" name="obj-73">
            <a:extLst>
              <a:ext uri="{FF2B5EF4-FFF2-40B4-BE49-F238E27FC236}">
                <a16:creationId xmlns:a16="http://schemas.microsoft.com/office/drawing/2014/main" id="{D0092E28-BEB2-4D69-BEA9-0A8ECBD9183E}"/>
              </a:ext>
            </a:extLst>
          </p:cNvPr>
          <p:cNvSpPr>
            <a:spLocks noGrp="1"/>
          </p:cNvSpPr>
          <p:nvPr/>
        </p:nvSpPr>
        <p:spPr>
          <a:xfrm>
            <a:off x="609600" y="5057775"/>
            <a:ext cx="10668000" cy="657225"/>
          </a:xfrm>
          <a:prstGeom prst="rect">
            <a:avLst/>
          </a:prstGeom>
          <a:noFill/>
          <a:ln w="0">
            <a:noFill/>
            <a:prstDash val="solid"/>
          </a:ln>
        </p:spPr>
        <p:txBody>
          <a:bodyPr wrap="square" lIns="0" tIns="0" rIns="0" bIns="0">
            <a:noAutofit/>
          </a:bodyPr>
          <a:lstStyle>
            <a:defPPr>
              <a:defRPr sz="2700" b="1">
                <a:solidFill>
                  <a:srgbClr val="18343A"/>
                </a:solidFill>
                <a:latin typeface="Arial"/>
                <a:ea typeface="Arial"/>
                <a:cs typeface="Arial"/>
              </a:defRPr>
            </a:defPPr>
          </a:lstStyle>
          <a:p>
            <a:pPr>
              <a:defRPr sz="2700" b="1">
                <a:solidFill>
                  <a:srgbClr val="18343A"/>
                </a:solidFill>
                <a:latin typeface="Arial"/>
                <a:ea typeface="Arial"/>
                <a:cs typeface="Arial"/>
              </a:defRPr>
            </a:pPr>
            <a:r>
              <a:rPr sz="2700" b="1">
                <a:solidFill>
                  <a:srgbClr val="18343A"/>
                </a:solidFill>
                <a:latin typeface="Arial"/>
                <a:ea typeface="Arial"/>
                <a:cs typeface="Arial"/>
              </a:rPr>
              <a:t>La segunda pregunta exige supuestos adicionales</a:t>
            </a:r>
          </a:p>
        </p:txBody>
      </p:sp>
      <p:sp>
        <p:nvSpPr>
          <p:cNvPr id="8" name="obj-74">
            <a:extLst>
              <a:ext uri="{FF2B5EF4-FFF2-40B4-BE49-F238E27FC236}">
                <a16:creationId xmlns:a16="http://schemas.microsoft.com/office/drawing/2014/main" id="{87375427-4485-4C07-91D4-7C34ACCFCCE6}"/>
              </a:ext>
            </a:extLst>
          </p:cNvPr>
          <p:cNvSpPr>
            <a:spLocks noGrp="1"/>
          </p:cNvSpPr>
          <p:nvPr/>
        </p:nvSpPr>
        <p:spPr>
          <a:xfrm>
            <a:off x="609600" y="5972175"/>
            <a:ext cx="10668000" cy="381000"/>
          </a:xfrm>
          <a:prstGeom prst="rect">
            <a:avLst/>
          </a:prstGeom>
          <a:noFill/>
          <a:ln w="0">
            <a:noFill/>
            <a:prstDash val="solid"/>
          </a:ln>
        </p:spPr>
        <p:txBody>
          <a:bodyPr wrap="square" lIns="0" tIns="0" rIns="0" bIns="0">
            <a:noAutofit/>
          </a:bodyPr>
          <a:lstStyle>
            <a:defPPr>
              <a:defRPr sz="1725" b="0">
                <a:solidFill>
                  <a:srgbClr val="52656A"/>
                </a:solidFill>
                <a:latin typeface="Arial"/>
                <a:ea typeface="Arial"/>
                <a:cs typeface="Arial"/>
              </a:defRPr>
            </a:defPPr>
          </a:lstStyle>
          <a:p>
            <a:pPr>
              <a:defRPr sz="1725" b="0">
                <a:solidFill>
                  <a:srgbClr val="52656A"/>
                </a:solidFill>
                <a:latin typeface="Arial"/>
                <a:ea typeface="Arial"/>
                <a:cs typeface="Arial"/>
              </a:defRPr>
            </a:pPr>
            <a:r>
              <a:rPr sz="1725" b="0">
                <a:solidFill>
                  <a:srgbClr val="52656A"/>
                </a:solidFill>
                <a:latin typeface="Arial"/>
                <a:ea typeface="Arial"/>
                <a:cs typeface="Arial"/>
              </a:rPr>
              <a:t>Una nueva medición modifica lo que sabemos; una intervención modifica un mecanismo</a:t>
            </a:r>
          </a:p>
        </p:txBody>
      </p:sp>
    </p:spTree>
    <p:extLst>
      <p:ext uri="{BB962C8B-B14F-4D97-AF65-F5344CB8AC3E}">
        <p14:creationId xmlns:p14="http://schemas.microsoft.com/office/powerpoint/2010/main" val="14247948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cxnSp>
        <p:nvCxnSpPr>
          <p:cNvPr id="11" name="Conector recto de flecha 10">
            <a:extLst>
              <a:ext uri="{FF2B5EF4-FFF2-40B4-BE49-F238E27FC236}">
                <a16:creationId xmlns:a16="http://schemas.microsoft.com/office/drawing/2014/main" id="{D5EB331E-8A02-41B7-AF7B-0ECFAA52DB92}"/>
              </a:ext>
            </a:extLst>
          </p:cNvPr>
          <p:cNvCxnSpPr>
            <a:stCxn id="7" idx="2"/>
            <a:endCxn id="6" idx="0"/>
          </p:cNvCxnSpPr>
          <p:nvPr/>
        </p:nvCxnSpPr>
        <p:spPr>
          <a:xfrm>
            <a:off x="4400550" y="1800225"/>
            <a:ext cx="0" cy="1552575"/>
          </a:xfrm>
          <a:prstGeom prst="straightConnector1">
            <a:avLst/>
          </a:prstGeom>
          <a:ln w="25718">
            <a:solidFill>
              <a:srgbClr val="52656A"/>
            </a:solidFill>
            <a:prstDash val="solid"/>
            <a:tailEnd type="triangle" w="med" len="med"/>
          </a:ln>
        </p:spPr>
      </p:cxnSp>
      <p:cxnSp>
        <p:nvCxnSpPr>
          <p:cNvPr id="10" name="Conector recto de flecha 9">
            <a:extLst>
              <a:ext uri="{FF2B5EF4-FFF2-40B4-BE49-F238E27FC236}">
                <a16:creationId xmlns:a16="http://schemas.microsoft.com/office/drawing/2014/main" id="{822F222F-7308-4F3C-B8BB-54DFE7BB4E1E}"/>
              </a:ext>
            </a:extLst>
          </p:cNvPr>
          <p:cNvCxnSpPr>
            <a:stCxn id="5" idx="6"/>
            <a:endCxn id="6" idx="2"/>
          </p:cNvCxnSpPr>
          <p:nvPr/>
        </p:nvCxnSpPr>
        <p:spPr>
          <a:xfrm flipV="1">
            <a:off x="1914525" y="3752850"/>
            <a:ext cx="2085975" cy="838200"/>
          </a:xfrm>
          <a:prstGeom prst="straightConnector1">
            <a:avLst/>
          </a:prstGeom>
          <a:ln w="25718">
            <a:solidFill>
              <a:srgbClr val="52656A"/>
            </a:solidFill>
            <a:prstDash val="solid"/>
            <a:tailEnd type="triangle" w="med" len="med"/>
          </a:ln>
        </p:spPr>
      </p:cxnSp>
      <p:cxnSp>
        <p:nvCxnSpPr>
          <p:cNvPr id="9" name="Conector recto de flecha 8">
            <a:extLst>
              <a:ext uri="{FF2B5EF4-FFF2-40B4-BE49-F238E27FC236}">
                <a16:creationId xmlns:a16="http://schemas.microsoft.com/office/drawing/2014/main" id="{266CDBA2-7C0A-446B-B100-A1799F8CBA1D}"/>
              </a:ext>
            </a:extLst>
          </p:cNvPr>
          <p:cNvCxnSpPr>
            <a:stCxn id="4" idx="6"/>
            <a:endCxn id="6" idx="2"/>
          </p:cNvCxnSpPr>
          <p:nvPr/>
        </p:nvCxnSpPr>
        <p:spPr>
          <a:xfrm>
            <a:off x="1914525" y="2876550"/>
            <a:ext cx="2085975" cy="876300"/>
          </a:xfrm>
          <a:prstGeom prst="straightConnector1">
            <a:avLst/>
          </a:prstGeom>
          <a:ln w="25718">
            <a:solidFill>
              <a:srgbClr val="52656A"/>
            </a:solidFill>
            <a:prstDash val="solid"/>
            <a:tailEnd type="triangle" w="med" len="med"/>
          </a:ln>
        </p:spPr>
      </p:cxnSp>
      <p:cxnSp>
        <p:nvCxnSpPr>
          <p:cNvPr id="8" name="Conector recto de flecha 7">
            <a:extLst>
              <a:ext uri="{FF2B5EF4-FFF2-40B4-BE49-F238E27FC236}">
                <a16:creationId xmlns:a16="http://schemas.microsoft.com/office/drawing/2014/main" id="{41AE8400-7A82-4F5D-A2AE-35E5E3A476DC}"/>
              </a:ext>
            </a:extLst>
          </p:cNvPr>
          <p:cNvCxnSpPr>
            <a:stCxn id="4" idx="4"/>
            <a:endCxn id="5" idx="0"/>
          </p:cNvCxnSpPr>
          <p:nvPr/>
        </p:nvCxnSpPr>
        <p:spPr>
          <a:xfrm>
            <a:off x="1514475" y="3276600"/>
            <a:ext cx="0" cy="914400"/>
          </a:xfrm>
          <a:prstGeom prst="straightConnector1">
            <a:avLst/>
          </a:prstGeom>
          <a:ln w="25718">
            <a:solidFill>
              <a:srgbClr val="52656A"/>
            </a:solidFill>
            <a:prstDash val="dash"/>
            <a:tailEnd type="triangle" w="med" len="med"/>
          </a:ln>
        </p:spPr>
      </p:cxnSp>
      <p:sp>
        <p:nvSpPr>
          <p:cNvPr id="18" name="obj-75">
            <a:extLst>
              <a:ext uri="{FF2B5EF4-FFF2-40B4-BE49-F238E27FC236}">
                <a16:creationId xmlns:a16="http://schemas.microsoft.com/office/drawing/2014/main" id="{19A70785-D8DC-4352-AD71-7052854B15CE}"/>
              </a:ext>
            </a:extLst>
          </p:cNvPr>
          <p:cNvSpPr>
            <a:spLocks noGrp="1"/>
          </p:cNvSpPr>
          <p:nvPr/>
        </p:nvSpPr>
        <p:spPr>
          <a:xfrm>
            <a:off x="609600" y="381000"/>
            <a:ext cx="10953750" cy="762000"/>
          </a:xfrm>
          <a:prstGeom prst="rect">
            <a:avLst/>
          </a:prstGeom>
          <a:noFill/>
          <a:ln w="0">
            <a:noFill/>
            <a:prstDash val="solid"/>
          </a:ln>
        </p:spPr>
        <p:txBody>
          <a:bodyPr wrap="square" lIns="0" tIns="0" rIns="0" bIns="0">
            <a:noAutofit/>
          </a:bodyPr>
          <a:lstStyle>
            <a:defPPr>
              <a:defRPr sz="3300" b="1">
                <a:solidFill>
                  <a:srgbClr val="18343A"/>
                </a:solidFill>
                <a:latin typeface="Arial"/>
                <a:ea typeface="Arial"/>
                <a:cs typeface="Arial"/>
              </a:defRPr>
            </a:defPPr>
          </a:lstStyle>
          <a:p>
            <a:pPr>
              <a:defRPr sz="3300" b="1">
                <a:solidFill>
                  <a:srgbClr val="18343A"/>
                </a:solidFill>
                <a:latin typeface="Arial"/>
                <a:ea typeface="Arial"/>
                <a:cs typeface="Arial"/>
              </a:defRPr>
            </a:pPr>
            <a:r>
              <a:rPr sz="3300" b="1">
                <a:solidFill>
                  <a:srgbClr val="18343A"/>
                </a:solidFill>
                <a:latin typeface="Arial"/>
                <a:ea typeface="Arial"/>
                <a:cs typeface="Arial"/>
              </a:rPr>
              <a:t>Un plate representa muchos sitios</a:t>
            </a:r>
          </a:p>
        </p:txBody>
      </p:sp>
      <p:sp>
        <p:nvSpPr>
          <p:cNvPr id="2" name="obj-76">
            <a:extLst>
              <a:ext uri="{FF2B5EF4-FFF2-40B4-BE49-F238E27FC236}">
                <a16:creationId xmlns:a16="http://schemas.microsoft.com/office/drawing/2014/main" id="{D9918D89-D0A3-4AF6-BFAA-82864F51B22E}"/>
              </a:ext>
            </a:extLst>
          </p:cNvPr>
          <p:cNvSpPr>
            <a:spLocks noGrp="1"/>
          </p:cNvSpPr>
          <p:nvPr/>
        </p:nvSpPr>
        <p:spPr>
          <a:xfrm>
            <a:off x="11144250" y="6410325"/>
            <a:ext cx="428625" cy="247650"/>
          </a:xfrm>
          <a:prstGeom prst="rect">
            <a:avLst/>
          </a:prstGeom>
          <a:noFill/>
          <a:ln w="0">
            <a:noFill/>
            <a:prstDash val="solid"/>
          </a:ln>
        </p:spPr>
        <p:txBody>
          <a:bodyPr wrap="square" lIns="0" tIns="0" rIns="0" bIns="0">
            <a:noAutofit/>
          </a:bodyPr>
          <a:lstStyle>
            <a:defPPr>
              <a:defRPr sz="1350" b="0">
                <a:solidFill>
                  <a:srgbClr val="52656A"/>
                </a:solidFill>
                <a:latin typeface="Arial"/>
                <a:ea typeface="Arial"/>
                <a:cs typeface="Arial"/>
              </a:defRPr>
            </a:defPPr>
          </a:lstStyle>
          <a:p>
            <a:pPr>
              <a:defRPr sz="1350" b="0">
                <a:solidFill>
                  <a:srgbClr val="52656A"/>
                </a:solidFill>
                <a:latin typeface="Arial"/>
                <a:ea typeface="Arial"/>
                <a:cs typeface="Arial"/>
              </a:defRPr>
            </a:pPr>
            <a:r>
              <a:rPr sz="1350" b="0">
                <a:solidFill>
                  <a:srgbClr val="52656A"/>
                </a:solidFill>
                <a:latin typeface="Arial"/>
                <a:ea typeface="Arial"/>
                <a:cs typeface="Arial"/>
              </a:rPr>
              <a:t>10</a:t>
            </a:r>
          </a:p>
        </p:txBody>
      </p:sp>
      <p:sp>
        <p:nvSpPr>
          <p:cNvPr id="3" name="obj-77">
            <a:extLst>
              <a:ext uri="{FF2B5EF4-FFF2-40B4-BE49-F238E27FC236}">
                <a16:creationId xmlns:a16="http://schemas.microsoft.com/office/drawing/2014/main" id="{98EBA7CE-28AE-4B89-BAF4-976DADAE6014}"/>
              </a:ext>
            </a:extLst>
          </p:cNvPr>
          <p:cNvSpPr>
            <a:spLocks noGrp="1"/>
          </p:cNvSpPr>
          <p:nvPr/>
        </p:nvSpPr>
        <p:spPr>
          <a:xfrm>
            <a:off x="609600" y="1981200"/>
            <a:ext cx="5372100" cy="3667125"/>
          </a:xfrm>
          <a:prstGeom prst="rect">
            <a:avLst/>
          </a:prstGeom>
          <a:noFill/>
          <a:ln w="19050">
            <a:solidFill>
              <a:srgbClr val="52656A"/>
            </a:solidFill>
            <a:prstDash val="solid"/>
          </a:ln>
        </p:spPr>
        <p:txBody>
          <a:bodyPr/>
          <a:lstStyle/>
          <a:p>
            <a:endParaRPr lang="es-MX"/>
          </a:p>
        </p:txBody>
      </p:sp>
      <p:sp>
        <p:nvSpPr>
          <p:cNvPr id="4" name="obj-78">
            <a:extLst>
              <a:ext uri="{FF2B5EF4-FFF2-40B4-BE49-F238E27FC236}">
                <a16:creationId xmlns:a16="http://schemas.microsoft.com/office/drawing/2014/main" id="{60788BE0-B0CE-45FB-A924-4C517965BC33}"/>
              </a:ext>
            </a:extLst>
          </p:cNvPr>
          <p:cNvSpPr>
            <a:spLocks noGrp="1"/>
          </p:cNvSpPr>
          <p:nvPr/>
        </p:nvSpPr>
        <p:spPr>
          <a:xfrm>
            <a:off x="1114425" y="2476500"/>
            <a:ext cx="800100" cy="800100"/>
          </a:xfrm>
          <a:prstGeom prst="ellipse">
            <a:avLst/>
          </a:prstGeom>
          <a:solidFill>
            <a:srgbClr val="E3E9E8"/>
          </a:solidFill>
          <a:ln w="28575">
            <a:solidFill>
              <a:srgbClr val="087E86"/>
            </a:solidFill>
            <a:prstDash val="solid"/>
          </a:ln>
        </p:spPr>
        <p:txBody>
          <a:bodyPr lIns="0" tIns="0" rIns="0" bIns="0" anchor="ctr"/>
          <a:lstStyle>
            <a:defPPr algn="ctr">
              <a:defRPr sz="2250" b="1">
                <a:solidFill>
                  <a:srgbClr val="087E86"/>
                </a:solidFill>
                <a:latin typeface="Arial"/>
                <a:ea typeface="Arial"/>
                <a:cs typeface="Arial"/>
              </a:defRPr>
            </a:defPPr>
          </a:lstStyle>
          <a:p>
            <a:pPr algn="ctr">
              <a:defRPr sz="2250" b="1">
                <a:solidFill>
                  <a:srgbClr val="087E86"/>
                </a:solidFill>
                <a:latin typeface="Arial"/>
                <a:ea typeface="Arial"/>
                <a:cs typeface="Arial"/>
              </a:defRPr>
            </a:pPr>
            <a:r>
              <a:rPr sz="2250" b="1">
                <a:solidFill>
                  <a:srgbClr val="087E86"/>
                </a:solidFill>
                <a:latin typeface="Arial"/>
                <a:ea typeface="Arial"/>
                <a:cs typeface="Arial"/>
              </a:rPr>
              <a:t>Xᵢ</a:t>
            </a:r>
          </a:p>
        </p:txBody>
      </p:sp>
      <p:sp>
        <p:nvSpPr>
          <p:cNvPr id="5" name="obj-79">
            <a:extLst>
              <a:ext uri="{FF2B5EF4-FFF2-40B4-BE49-F238E27FC236}">
                <a16:creationId xmlns:a16="http://schemas.microsoft.com/office/drawing/2014/main" id="{DA48A3CF-15A9-4377-B2AD-83481BAEDE8F}"/>
              </a:ext>
            </a:extLst>
          </p:cNvPr>
          <p:cNvSpPr>
            <a:spLocks noGrp="1"/>
          </p:cNvSpPr>
          <p:nvPr/>
        </p:nvSpPr>
        <p:spPr>
          <a:xfrm>
            <a:off x="1114425" y="4191000"/>
            <a:ext cx="800100" cy="800100"/>
          </a:xfrm>
          <a:prstGeom prst="ellipse">
            <a:avLst/>
          </a:prstGeom>
          <a:solidFill>
            <a:srgbClr val="FFFFFF"/>
          </a:solidFill>
          <a:ln w="28575">
            <a:solidFill>
              <a:srgbClr val="73528C"/>
            </a:solidFill>
            <a:prstDash val="solid"/>
          </a:ln>
        </p:spPr>
        <p:txBody>
          <a:bodyPr lIns="0" tIns="0" rIns="0" bIns="0" anchor="ctr"/>
          <a:lstStyle>
            <a:defPPr algn="ctr">
              <a:defRPr sz="2250" b="1">
                <a:solidFill>
                  <a:srgbClr val="73528C"/>
                </a:solidFill>
                <a:latin typeface="Arial"/>
                <a:ea typeface="Arial"/>
                <a:cs typeface="Arial"/>
              </a:defRPr>
            </a:defPPr>
          </a:lstStyle>
          <a:p>
            <a:pPr algn="ctr">
              <a:defRPr sz="2250" b="1">
                <a:solidFill>
                  <a:srgbClr val="73528C"/>
                </a:solidFill>
                <a:latin typeface="Arial"/>
                <a:ea typeface="Arial"/>
                <a:cs typeface="Arial"/>
              </a:defRPr>
            </a:pPr>
            <a:r>
              <a:rPr sz="2250" b="1">
                <a:solidFill>
                  <a:srgbClr val="73528C"/>
                </a:solidFill>
                <a:latin typeface="Arial"/>
                <a:ea typeface="Arial"/>
                <a:cs typeface="Arial"/>
              </a:rPr>
              <a:t>Zᵢ</a:t>
            </a:r>
          </a:p>
        </p:txBody>
      </p:sp>
      <p:sp>
        <p:nvSpPr>
          <p:cNvPr id="6" name="obj-80">
            <a:extLst>
              <a:ext uri="{FF2B5EF4-FFF2-40B4-BE49-F238E27FC236}">
                <a16:creationId xmlns:a16="http://schemas.microsoft.com/office/drawing/2014/main" id="{01EC40D0-73E5-4AF7-AB31-B3E09BA1FB35}"/>
              </a:ext>
            </a:extLst>
          </p:cNvPr>
          <p:cNvSpPr>
            <a:spLocks noGrp="1"/>
          </p:cNvSpPr>
          <p:nvPr/>
        </p:nvSpPr>
        <p:spPr>
          <a:xfrm>
            <a:off x="4000500" y="3352800"/>
            <a:ext cx="800100" cy="800100"/>
          </a:xfrm>
          <a:prstGeom prst="ellipse">
            <a:avLst/>
          </a:prstGeom>
          <a:solidFill>
            <a:srgbClr val="E3E9E8"/>
          </a:solidFill>
          <a:ln w="28575">
            <a:solidFill>
              <a:srgbClr val="AA6717"/>
            </a:solidFill>
            <a:prstDash val="solid"/>
          </a:ln>
        </p:spPr>
        <p:txBody>
          <a:bodyPr lIns="0" tIns="0" rIns="0" bIns="0" anchor="ctr"/>
          <a:lstStyle>
            <a:defPPr algn="ctr">
              <a:defRPr sz="2250" b="1">
                <a:solidFill>
                  <a:srgbClr val="AA6717"/>
                </a:solidFill>
                <a:latin typeface="Arial"/>
                <a:ea typeface="Arial"/>
                <a:cs typeface="Arial"/>
              </a:defRPr>
            </a:defPPr>
          </a:lstStyle>
          <a:p>
            <a:pPr algn="ctr">
              <a:defRPr sz="2250" b="1">
                <a:solidFill>
                  <a:srgbClr val="AA6717"/>
                </a:solidFill>
                <a:latin typeface="Arial"/>
                <a:ea typeface="Arial"/>
                <a:cs typeface="Arial"/>
              </a:defRPr>
            </a:pPr>
            <a:r>
              <a:rPr sz="2250" b="1">
                <a:solidFill>
                  <a:srgbClr val="AA6717"/>
                </a:solidFill>
                <a:latin typeface="Arial"/>
                <a:ea typeface="Arial"/>
                <a:cs typeface="Arial"/>
              </a:rPr>
              <a:t>Yᵢ</a:t>
            </a:r>
          </a:p>
        </p:txBody>
      </p:sp>
      <p:sp>
        <p:nvSpPr>
          <p:cNvPr id="7" name="obj-81">
            <a:extLst>
              <a:ext uri="{FF2B5EF4-FFF2-40B4-BE49-F238E27FC236}">
                <a16:creationId xmlns:a16="http://schemas.microsoft.com/office/drawing/2014/main" id="{B2D33DAD-35E2-47EA-91BD-78C1CC0942D0}"/>
              </a:ext>
            </a:extLst>
          </p:cNvPr>
          <p:cNvSpPr>
            <a:spLocks noGrp="1"/>
          </p:cNvSpPr>
          <p:nvPr/>
        </p:nvSpPr>
        <p:spPr>
          <a:xfrm>
            <a:off x="4095750" y="1190625"/>
            <a:ext cx="609600" cy="609600"/>
          </a:xfrm>
          <a:prstGeom prst="rect">
            <a:avLst/>
          </a:prstGeom>
          <a:solidFill>
            <a:srgbClr val="FFFFFF"/>
          </a:solidFill>
          <a:ln w="28575">
            <a:solidFill>
              <a:srgbClr val="18343A"/>
            </a:solidFill>
            <a:prstDash val="solid"/>
          </a:ln>
        </p:spPr>
        <p:txBody>
          <a:bodyPr lIns="0" tIns="0" rIns="0" bIns="0" anchor="ctr"/>
          <a:lstStyle>
            <a:defPPr algn="ctr">
              <a:defRPr sz="2250" b="1">
                <a:solidFill>
                  <a:srgbClr val="18343A"/>
                </a:solidFill>
                <a:latin typeface="Arial"/>
                <a:ea typeface="Arial"/>
                <a:cs typeface="Arial"/>
              </a:defRPr>
            </a:defPPr>
          </a:lstStyle>
          <a:p>
            <a:pPr algn="ctr">
              <a:defRPr sz="2250" b="1">
                <a:solidFill>
                  <a:srgbClr val="18343A"/>
                </a:solidFill>
                <a:latin typeface="Arial"/>
                <a:ea typeface="Arial"/>
                <a:cs typeface="Arial"/>
              </a:defRPr>
            </a:pPr>
            <a:r>
              <a:rPr sz="2250" b="1">
                <a:solidFill>
                  <a:srgbClr val="18343A"/>
                </a:solidFill>
                <a:latin typeface="Arial"/>
                <a:ea typeface="Arial"/>
                <a:cs typeface="Arial"/>
              </a:rPr>
              <a:t>θ</a:t>
            </a:r>
          </a:p>
        </p:txBody>
      </p:sp>
      <p:sp>
        <p:nvSpPr>
          <p:cNvPr id="12" name="obj-82">
            <a:extLst>
              <a:ext uri="{FF2B5EF4-FFF2-40B4-BE49-F238E27FC236}">
                <a16:creationId xmlns:a16="http://schemas.microsoft.com/office/drawing/2014/main" id="{21437029-7F2E-4464-B1F6-15950F3E3D70}"/>
              </a:ext>
            </a:extLst>
          </p:cNvPr>
          <p:cNvSpPr>
            <a:spLocks noGrp="1"/>
          </p:cNvSpPr>
          <p:nvPr/>
        </p:nvSpPr>
        <p:spPr>
          <a:xfrm>
            <a:off x="819150" y="5200650"/>
            <a:ext cx="4191000" cy="371475"/>
          </a:xfrm>
          <a:prstGeom prst="rect">
            <a:avLst/>
          </a:prstGeom>
          <a:noFill/>
          <a:ln w="0">
            <a:noFill/>
            <a:prstDash val="solid"/>
          </a:ln>
        </p:spPr>
        <p:txBody>
          <a:bodyPr wrap="square" lIns="0" tIns="0" rIns="0" bIns="0">
            <a:noAutofit/>
          </a:bodyPr>
          <a:lstStyle>
            <a:defPPr>
              <a:defRPr sz="1950" b="1">
                <a:solidFill>
                  <a:srgbClr val="18343A"/>
                </a:solidFill>
                <a:latin typeface="Arial"/>
                <a:ea typeface="Arial"/>
                <a:cs typeface="Arial"/>
              </a:defRPr>
            </a:defPPr>
          </a:lstStyle>
          <a:p>
            <a:pPr>
              <a:defRPr sz="1950" b="1">
                <a:solidFill>
                  <a:srgbClr val="18343A"/>
                </a:solidFill>
                <a:latin typeface="Arial"/>
                <a:ea typeface="Arial"/>
                <a:cs typeface="Arial"/>
              </a:defRPr>
            </a:pPr>
            <a:r>
              <a:rPr sz="1950" b="1">
                <a:solidFill>
                  <a:srgbClr val="18343A"/>
                </a:solidFill>
                <a:latin typeface="Arial"/>
                <a:ea typeface="Arial"/>
                <a:cs typeface="Arial"/>
              </a:rPr>
              <a:t>i = 1, …, M sitios</a:t>
            </a:r>
          </a:p>
        </p:txBody>
      </p:sp>
      <p:sp>
        <p:nvSpPr>
          <p:cNvPr id="13" name="obj-83">
            <a:extLst>
              <a:ext uri="{FF2B5EF4-FFF2-40B4-BE49-F238E27FC236}">
                <a16:creationId xmlns:a16="http://schemas.microsoft.com/office/drawing/2014/main" id="{EAA2C949-CDBD-4C58-A7E7-25E9026F0A0F}"/>
              </a:ext>
            </a:extLst>
          </p:cNvPr>
          <p:cNvSpPr>
            <a:spLocks noGrp="1"/>
          </p:cNvSpPr>
          <p:nvPr/>
        </p:nvSpPr>
        <p:spPr>
          <a:xfrm>
            <a:off x="6610350" y="1752600"/>
            <a:ext cx="4857750" cy="447675"/>
          </a:xfrm>
          <a:prstGeom prst="rect">
            <a:avLst/>
          </a:prstGeom>
          <a:noFill/>
          <a:ln w="0">
            <a:noFill/>
            <a:prstDash val="solid"/>
          </a:ln>
        </p:spPr>
        <p:txBody>
          <a:bodyPr wrap="square" lIns="0" tIns="0" rIns="0" bIns="0">
            <a:noAutofit/>
          </a:bodyPr>
          <a:lstStyle>
            <a:defPPr>
              <a:defRPr sz="2400" b="1">
                <a:solidFill>
                  <a:srgbClr val="18343A"/>
                </a:solidFill>
                <a:latin typeface="Arial"/>
                <a:ea typeface="Arial"/>
                <a:cs typeface="Arial"/>
              </a:defRPr>
            </a:defPPr>
          </a:lstStyle>
          <a:p>
            <a:pPr>
              <a:defRPr sz="2400" b="1">
                <a:solidFill>
                  <a:srgbClr val="18343A"/>
                </a:solidFill>
                <a:latin typeface="Arial"/>
                <a:ea typeface="Arial"/>
                <a:cs typeface="Arial"/>
              </a:defRPr>
            </a:pPr>
            <a:r>
              <a:rPr sz="2400" b="1">
                <a:solidFill>
                  <a:srgbClr val="18343A"/>
                </a:solidFill>
                <a:latin typeface="Arial"/>
                <a:ea typeface="Arial"/>
                <a:cs typeface="Arial"/>
              </a:rPr>
              <a:t>Dentro del rectángulo</a:t>
            </a:r>
          </a:p>
        </p:txBody>
      </p:sp>
      <p:sp>
        <p:nvSpPr>
          <p:cNvPr id="14" name="obj-84">
            <a:extLst>
              <a:ext uri="{FF2B5EF4-FFF2-40B4-BE49-F238E27FC236}">
                <a16:creationId xmlns:a16="http://schemas.microsoft.com/office/drawing/2014/main" id="{A460ECA1-5631-4AF5-B28E-50691E73BFF0}"/>
              </a:ext>
            </a:extLst>
          </p:cNvPr>
          <p:cNvSpPr>
            <a:spLocks noGrp="1"/>
          </p:cNvSpPr>
          <p:nvPr/>
        </p:nvSpPr>
        <p:spPr>
          <a:xfrm>
            <a:off x="6610350" y="2419350"/>
            <a:ext cx="4857750" cy="1562100"/>
          </a:xfrm>
          <a:prstGeom prst="rect">
            <a:avLst/>
          </a:prstGeom>
          <a:noFill/>
          <a:ln w="0">
            <a:noFill/>
            <a:prstDash val="solid"/>
          </a:ln>
        </p:spPr>
        <p:txBody>
          <a:bodyPr wrap="square" lIns="0" tIns="0" rIns="0" bIns="0">
            <a:noAutofit/>
          </a:bodyPr>
          <a:lstStyle>
            <a:defPPr>
              <a:defRPr sz="2175" b="0">
                <a:solidFill>
                  <a:srgbClr val="18343A"/>
                </a:solidFill>
                <a:latin typeface="Arial"/>
                <a:ea typeface="Arial"/>
                <a:cs typeface="Arial"/>
              </a:defRPr>
            </a:defPPr>
          </a:lstStyle>
          <a:p>
            <a:pPr>
              <a:defRPr sz="2175" b="0">
                <a:solidFill>
                  <a:srgbClr val="18343A"/>
                </a:solidFill>
                <a:latin typeface="Arial"/>
                <a:ea typeface="Arial"/>
                <a:cs typeface="Arial"/>
              </a:defRPr>
            </a:pPr>
            <a:r>
              <a:rPr sz="2175" b="0">
                <a:solidFill>
                  <a:srgbClr val="18343A"/>
                </a:solidFill>
                <a:latin typeface="Arial"/>
                <a:ea typeface="Arial"/>
                <a:cs typeface="Arial"/>
              </a:rPr>
              <a:t>Un contexto Xᵢ</a:t>
            </a:r>
          </a:p>
          <a:p>
            <a:pPr>
              <a:defRPr sz="2175" b="0">
                <a:solidFill>
                  <a:srgbClr val="18343A"/>
                </a:solidFill>
                <a:latin typeface="Arial"/>
                <a:ea typeface="Arial"/>
                <a:cs typeface="Arial"/>
              </a:defRPr>
            </a:pPr>
            <a:r>
              <a:rPr sz="2175" b="0">
                <a:solidFill>
                  <a:srgbClr val="18343A"/>
                </a:solidFill>
                <a:latin typeface="Arial"/>
                <a:ea typeface="Arial"/>
                <a:cs typeface="Arial"/>
              </a:rPr>
              <a:t>Observaciones Yᵢ</a:t>
            </a:r>
          </a:p>
          <a:p>
            <a:pPr>
              <a:defRPr sz="2175" b="0">
                <a:solidFill>
                  <a:srgbClr val="18343A"/>
                </a:solidFill>
                <a:latin typeface="Arial"/>
                <a:ea typeface="Arial"/>
                <a:cs typeface="Arial"/>
              </a:defRPr>
            </a:pPr>
            <a:r>
              <a:rPr sz="2175" b="0">
                <a:solidFill>
                  <a:srgbClr val="18343A"/>
                </a:solidFill>
                <a:latin typeface="Arial"/>
                <a:ea typeface="Arial"/>
                <a:cs typeface="Arial"/>
              </a:rPr>
              <a:t>Una condición Zᵢ por inferir</a:t>
            </a:r>
          </a:p>
        </p:txBody>
      </p:sp>
      <p:sp>
        <p:nvSpPr>
          <p:cNvPr id="15" name="obj-85">
            <a:extLst>
              <a:ext uri="{FF2B5EF4-FFF2-40B4-BE49-F238E27FC236}">
                <a16:creationId xmlns:a16="http://schemas.microsoft.com/office/drawing/2014/main" id="{59F96232-1F8B-4038-97CF-F97566DBA4F0}"/>
              </a:ext>
            </a:extLst>
          </p:cNvPr>
          <p:cNvSpPr>
            <a:spLocks noGrp="1"/>
          </p:cNvSpPr>
          <p:nvPr/>
        </p:nvSpPr>
        <p:spPr>
          <a:xfrm>
            <a:off x="6610350" y="4419600"/>
            <a:ext cx="4857750" cy="466725"/>
          </a:xfrm>
          <a:prstGeom prst="rect">
            <a:avLst/>
          </a:prstGeom>
          <a:noFill/>
          <a:ln w="0">
            <a:noFill/>
            <a:prstDash val="solid"/>
          </a:ln>
        </p:spPr>
        <p:txBody>
          <a:bodyPr wrap="square" lIns="0" tIns="0" rIns="0" bIns="0">
            <a:noAutofit/>
          </a:bodyPr>
          <a:lstStyle>
            <a:defPPr>
              <a:defRPr sz="2400" b="1">
                <a:solidFill>
                  <a:srgbClr val="087E86"/>
                </a:solidFill>
                <a:latin typeface="Arial"/>
                <a:ea typeface="Arial"/>
                <a:cs typeface="Arial"/>
              </a:defRPr>
            </a:defPPr>
          </a:lstStyle>
          <a:p>
            <a:pPr>
              <a:defRPr sz="2400" b="1">
                <a:solidFill>
                  <a:srgbClr val="087E86"/>
                </a:solidFill>
                <a:latin typeface="Arial"/>
                <a:ea typeface="Arial"/>
                <a:cs typeface="Arial"/>
              </a:defRPr>
            </a:pPr>
            <a:r>
              <a:rPr sz="2400" b="1">
                <a:solidFill>
                  <a:srgbClr val="087E86"/>
                </a:solidFill>
                <a:latin typeface="Arial"/>
                <a:ea typeface="Arial"/>
                <a:cs typeface="Arial"/>
              </a:rPr>
              <a:t>θ se comparte entre sitios</a:t>
            </a:r>
          </a:p>
        </p:txBody>
      </p:sp>
      <p:sp>
        <p:nvSpPr>
          <p:cNvPr id="16" name="obj-86">
            <a:extLst>
              <a:ext uri="{FF2B5EF4-FFF2-40B4-BE49-F238E27FC236}">
                <a16:creationId xmlns:a16="http://schemas.microsoft.com/office/drawing/2014/main" id="{861BD34E-F3AE-41A4-AC60-9AFEE588957D}"/>
              </a:ext>
            </a:extLst>
          </p:cNvPr>
          <p:cNvSpPr>
            <a:spLocks noGrp="1"/>
          </p:cNvSpPr>
          <p:nvPr/>
        </p:nvSpPr>
        <p:spPr>
          <a:xfrm>
            <a:off x="6610350" y="5029200"/>
            <a:ext cx="4857750" cy="704850"/>
          </a:xfrm>
          <a:prstGeom prst="rect">
            <a:avLst/>
          </a:prstGeom>
          <a:noFill/>
          <a:ln w="0">
            <a:noFill/>
            <a:prstDash val="solid"/>
          </a:ln>
        </p:spPr>
        <p:txBody>
          <a:bodyPr wrap="square" lIns="0" tIns="0" rIns="0" bIns="0">
            <a:noAutofit/>
          </a:bodyPr>
          <a:lstStyle>
            <a:defPPr>
              <a:defRPr sz="1950" b="0">
                <a:solidFill>
                  <a:srgbClr val="18343A"/>
                </a:solidFill>
                <a:latin typeface="Arial"/>
                <a:ea typeface="Arial"/>
                <a:cs typeface="Arial"/>
              </a:defRPr>
            </a:defPPr>
          </a:lstStyle>
          <a:p>
            <a:pPr>
              <a:defRPr sz="1950" b="0">
                <a:solidFill>
                  <a:srgbClr val="18343A"/>
                </a:solidFill>
                <a:latin typeface="Arial"/>
                <a:ea typeface="Arial"/>
                <a:cs typeface="Arial"/>
              </a:defRPr>
            </a:pPr>
            <a:r>
              <a:rPr sz="1950" b="0">
                <a:solidFill>
                  <a:srgbClr val="18343A"/>
                </a:solidFill>
                <a:latin typeface="Arial"/>
                <a:ea typeface="Arial"/>
                <a:cs typeface="Arial"/>
              </a:rPr>
              <a:t>Repetir el modelo permite que</a:t>
            </a:r>
          </a:p>
          <a:p>
            <a:pPr>
              <a:defRPr sz="1950" b="0">
                <a:solidFill>
                  <a:srgbClr val="18343A"/>
                </a:solidFill>
                <a:latin typeface="Arial"/>
                <a:ea typeface="Arial"/>
                <a:cs typeface="Arial"/>
              </a:defRPr>
            </a:pPr>
            <a:r>
              <a:rPr sz="1950" b="0">
                <a:solidFill>
                  <a:srgbClr val="18343A"/>
                </a:solidFill>
                <a:latin typeface="Arial"/>
                <a:ea typeface="Arial"/>
                <a:cs typeface="Arial"/>
              </a:rPr>
              <a:t>cambien los datos y el diagnóstico</a:t>
            </a:r>
          </a:p>
        </p:txBody>
      </p:sp>
      <p:sp>
        <p:nvSpPr>
          <p:cNvPr id="17" name="obj-87">
            <a:extLst>
              <a:ext uri="{FF2B5EF4-FFF2-40B4-BE49-F238E27FC236}">
                <a16:creationId xmlns:a16="http://schemas.microsoft.com/office/drawing/2014/main" id="{E9AFF5A4-AC12-4B2C-B287-1D9EEAA5395F}"/>
              </a:ext>
            </a:extLst>
          </p:cNvPr>
          <p:cNvSpPr>
            <a:spLocks noGrp="1"/>
          </p:cNvSpPr>
          <p:nvPr/>
        </p:nvSpPr>
        <p:spPr>
          <a:xfrm>
            <a:off x="609600" y="5972175"/>
            <a:ext cx="10668000" cy="381000"/>
          </a:xfrm>
          <a:prstGeom prst="rect">
            <a:avLst/>
          </a:prstGeom>
          <a:noFill/>
          <a:ln w="0">
            <a:noFill/>
            <a:prstDash val="solid"/>
          </a:ln>
        </p:spPr>
        <p:txBody>
          <a:bodyPr wrap="square" lIns="0" tIns="0" rIns="0" bIns="0">
            <a:noAutofit/>
          </a:bodyPr>
          <a:lstStyle>
            <a:defPPr>
              <a:defRPr sz="1725" b="0">
                <a:solidFill>
                  <a:srgbClr val="52656A"/>
                </a:solidFill>
                <a:latin typeface="Arial"/>
                <a:ea typeface="Arial"/>
                <a:cs typeface="Arial"/>
              </a:defRPr>
            </a:defPPr>
          </a:lstStyle>
          <a:p>
            <a:pPr>
              <a:defRPr sz="1725" b="0">
                <a:solidFill>
                  <a:srgbClr val="52656A"/>
                </a:solidFill>
                <a:latin typeface="Arial"/>
                <a:ea typeface="Arial"/>
                <a:cs typeface="Arial"/>
              </a:defRPr>
            </a:pPr>
            <a:r>
              <a:rPr sz="1725" b="0">
                <a:solidFill>
                  <a:srgbClr val="52656A"/>
                </a:solidFill>
                <a:latin typeface="Arial"/>
                <a:ea typeface="Arial"/>
                <a:cs typeface="Arial"/>
              </a:rPr>
              <a:t>Gris: observado. Blanco: latente. θ: parámetro fijado. Arco discontinuo: en evaluación</a:t>
            </a:r>
          </a:p>
        </p:txBody>
      </p:sp>
    </p:spTree>
    <p:extLst>
      <p:ext uri="{BB962C8B-B14F-4D97-AF65-F5344CB8AC3E}">
        <p14:creationId xmlns:p14="http://schemas.microsoft.com/office/powerpoint/2010/main" val="11356251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8" name="obj-88">
            <a:extLst>
              <a:ext uri="{FF2B5EF4-FFF2-40B4-BE49-F238E27FC236}">
                <a16:creationId xmlns:a16="http://schemas.microsoft.com/office/drawing/2014/main" id="{479564E5-E1DC-4EC3-B480-DD2B73D8F4F8}"/>
              </a:ext>
            </a:extLst>
          </p:cNvPr>
          <p:cNvSpPr>
            <a:spLocks noGrp="1"/>
          </p:cNvSpPr>
          <p:nvPr/>
        </p:nvSpPr>
        <p:spPr>
          <a:xfrm>
            <a:off x="609600" y="381000"/>
            <a:ext cx="10953750" cy="762000"/>
          </a:xfrm>
          <a:prstGeom prst="rect">
            <a:avLst/>
          </a:prstGeom>
          <a:noFill/>
          <a:ln w="0">
            <a:noFill/>
            <a:prstDash val="solid"/>
          </a:ln>
        </p:spPr>
        <p:txBody>
          <a:bodyPr wrap="square" lIns="0" tIns="0" rIns="0" bIns="0">
            <a:noAutofit/>
          </a:bodyPr>
          <a:lstStyle>
            <a:defPPr>
              <a:defRPr sz="3300" b="1">
                <a:solidFill>
                  <a:srgbClr val="18343A"/>
                </a:solidFill>
                <a:latin typeface="Arial"/>
                <a:ea typeface="Arial"/>
                <a:cs typeface="Arial"/>
              </a:defRPr>
            </a:defPPr>
          </a:lstStyle>
          <a:p>
            <a:pPr>
              <a:defRPr sz="3300" b="1">
                <a:solidFill>
                  <a:srgbClr val="18343A"/>
                </a:solidFill>
                <a:latin typeface="Arial"/>
                <a:ea typeface="Arial"/>
                <a:cs typeface="Arial"/>
              </a:defRPr>
            </a:pPr>
            <a:r>
              <a:rPr sz="3300" b="1">
                <a:solidFill>
                  <a:srgbClr val="18343A"/>
                </a:solidFill>
                <a:latin typeface="Arial"/>
                <a:ea typeface="Arial"/>
                <a:cs typeface="Arial"/>
              </a:rPr>
              <a:t>El mismo modelo en los píxeles de México</a:t>
            </a:r>
          </a:p>
        </p:txBody>
      </p:sp>
      <p:sp>
        <p:nvSpPr>
          <p:cNvPr id="2" name="obj-89">
            <a:extLst>
              <a:ext uri="{FF2B5EF4-FFF2-40B4-BE49-F238E27FC236}">
                <a16:creationId xmlns:a16="http://schemas.microsoft.com/office/drawing/2014/main" id="{441F08D2-6A8D-4CB2-8069-FF05F8EBD256}"/>
              </a:ext>
            </a:extLst>
          </p:cNvPr>
          <p:cNvSpPr>
            <a:spLocks noGrp="1"/>
          </p:cNvSpPr>
          <p:nvPr/>
        </p:nvSpPr>
        <p:spPr>
          <a:xfrm>
            <a:off x="11144250" y="6410325"/>
            <a:ext cx="428625" cy="247650"/>
          </a:xfrm>
          <a:prstGeom prst="rect">
            <a:avLst/>
          </a:prstGeom>
          <a:noFill/>
          <a:ln w="0">
            <a:noFill/>
            <a:prstDash val="solid"/>
          </a:ln>
        </p:spPr>
        <p:txBody>
          <a:bodyPr wrap="square" lIns="0" tIns="0" rIns="0" bIns="0">
            <a:noAutofit/>
          </a:bodyPr>
          <a:lstStyle>
            <a:defPPr>
              <a:defRPr sz="1350" b="0">
                <a:solidFill>
                  <a:srgbClr val="52656A"/>
                </a:solidFill>
                <a:latin typeface="Arial"/>
                <a:ea typeface="Arial"/>
                <a:cs typeface="Arial"/>
              </a:defRPr>
            </a:defPPr>
          </a:lstStyle>
          <a:p>
            <a:pPr>
              <a:defRPr sz="1350" b="0">
                <a:solidFill>
                  <a:srgbClr val="52656A"/>
                </a:solidFill>
                <a:latin typeface="Arial"/>
                <a:ea typeface="Arial"/>
                <a:cs typeface="Arial"/>
              </a:defRPr>
            </a:pPr>
            <a:r>
              <a:rPr sz="1350" b="0">
                <a:solidFill>
                  <a:srgbClr val="52656A"/>
                </a:solidFill>
                <a:latin typeface="Arial"/>
                <a:ea typeface="Arial"/>
                <a:cs typeface="Arial"/>
              </a:rPr>
              <a:t>11</a:t>
            </a:r>
          </a:p>
        </p:txBody>
      </p:sp>
      <p:pic>
        <p:nvPicPr>
          <p:cNvPr id="3" name="Imagen 2">
            <a:extLst>
              <a:ext uri="{FF2B5EF4-FFF2-40B4-BE49-F238E27FC236}">
                <a16:creationId xmlns:a16="http://schemas.microsoft.com/office/drawing/2014/main" id="{20BD6991-CC1E-4389-AE21-A233722C2BE0}"/>
              </a:ext>
            </a:extLst>
          </p:cNvPr>
          <p:cNvPicPr>
            <a:picLocks noChangeAspect="1"/>
          </p:cNvPicPr>
          <p:nvPr/>
        </p:nvPicPr>
        <p:blipFill>
          <a:blip r:embed="rId3"/>
          <a:stretch/>
        </p:blipFill>
        <p:spPr>
          <a:xfrm>
            <a:off x="708492" y="1304925"/>
            <a:ext cx="6631641" cy="5124450"/>
          </a:xfrm>
          <a:prstGeom prst="rect">
            <a:avLst/>
          </a:prstGeom>
        </p:spPr>
      </p:pic>
      <p:sp>
        <p:nvSpPr>
          <p:cNvPr id="4" name="obj-90">
            <a:extLst>
              <a:ext uri="{FF2B5EF4-FFF2-40B4-BE49-F238E27FC236}">
                <a16:creationId xmlns:a16="http://schemas.microsoft.com/office/drawing/2014/main" id="{7DBE5C65-5DF0-49D1-A4E1-5BD343199518}"/>
              </a:ext>
            </a:extLst>
          </p:cNvPr>
          <p:cNvSpPr>
            <a:spLocks noGrp="1"/>
          </p:cNvSpPr>
          <p:nvPr/>
        </p:nvSpPr>
        <p:spPr>
          <a:xfrm>
            <a:off x="8077200" y="1657350"/>
            <a:ext cx="3476625" cy="685800"/>
          </a:xfrm>
          <a:prstGeom prst="rect">
            <a:avLst/>
          </a:prstGeom>
          <a:noFill/>
          <a:ln w="0">
            <a:noFill/>
            <a:prstDash val="solid"/>
          </a:ln>
        </p:spPr>
        <p:txBody>
          <a:bodyPr wrap="square" lIns="0" tIns="0" rIns="0" bIns="0">
            <a:noAutofit/>
          </a:bodyPr>
          <a:lstStyle>
            <a:defPPr>
              <a:defRPr sz="2400" b="1">
                <a:solidFill>
                  <a:srgbClr val="087E86"/>
                </a:solidFill>
                <a:latin typeface="Arial"/>
                <a:ea typeface="Arial"/>
                <a:cs typeface="Arial"/>
              </a:defRPr>
            </a:defPPr>
          </a:lstStyle>
          <a:p>
            <a:pPr>
              <a:defRPr sz="2400" b="1">
                <a:solidFill>
                  <a:srgbClr val="087E86"/>
                </a:solidFill>
                <a:latin typeface="Arial"/>
                <a:ea typeface="Arial"/>
                <a:cs typeface="Arial"/>
              </a:defRPr>
            </a:pPr>
            <a:r>
              <a:rPr sz="2400" b="1">
                <a:solidFill>
                  <a:srgbClr val="087E86"/>
                </a:solidFill>
                <a:latin typeface="Arial"/>
                <a:ea typeface="Arial"/>
                <a:cs typeface="Arial"/>
              </a:rPr>
              <a:t>Entradas por píxel</a:t>
            </a:r>
          </a:p>
        </p:txBody>
      </p:sp>
      <p:sp>
        <p:nvSpPr>
          <p:cNvPr id="5" name="obj-91">
            <a:extLst>
              <a:ext uri="{FF2B5EF4-FFF2-40B4-BE49-F238E27FC236}">
                <a16:creationId xmlns:a16="http://schemas.microsoft.com/office/drawing/2014/main" id="{F30C5F15-D58E-48F5-B81C-78FCBBB1B3CA}"/>
              </a:ext>
            </a:extLst>
          </p:cNvPr>
          <p:cNvSpPr>
            <a:spLocks noGrp="1"/>
          </p:cNvSpPr>
          <p:nvPr/>
        </p:nvSpPr>
        <p:spPr>
          <a:xfrm>
            <a:off x="8077200" y="2486025"/>
            <a:ext cx="3476625" cy="933450"/>
          </a:xfrm>
          <a:prstGeom prst="rect">
            <a:avLst/>
          </a:prstGeom>
          <a:noFill/>
          <a:ln w="0">
            <a:noFill/>
            <a:prstDash val="solid"/>
          </a:ln>
        </p:spPr>
        <p:txBody>
          <a:bodyPr wrap="square" lIns="0" tIns="0" rIns="0" bIns="0">
            <a:noAutofit/>
          </a:bodyPr>
          <a:lstStyle>
            <a:defPPr>
              <a:defRPr sz="2175" b="0">
                <a:solidFill>
                  <a:srgbClr val="18343A"/>
                </a:solidFill>
                <a:latin typeface="Arial"/>
                <a:ea typeface="Arial"/>
                <a:cs typeface="Arial"/>
              </a:defRPr>
            </a:defPPr>
          </a:lstStyle>
          <a:p>
            <a:pPr>
              <a:defRPr sz="2175" b="0">
                <a:solidFill>
                  <a:srgbClr val="18343A"/>
                </a:solidFill>
                <a:latin typeface="Arial"/>
                <a:ea typeface="Arial"/>
                <a:cs typeface="Arial"/>
              </a:defRPr>
            </a:pPr>
            <a:r>
              <a:rPr sz="2175" b="0">
                <a:solidFill>
                  <a:srgbClr val="18343A"/>
                </a:solidFill>
                <a:latin typeface="Arial"/>
                <a:ea typeface="Arial"/>
                <a:cs typeface="Arial"/>
              </a:rPr>
              <a:t>Contexto y señales</a:t>
            </a:r>
          </a:p>
          <a:p>
            <a:pPr>
              <a:defRPr sz="2175" b="0">
                <a:solidFill>
                  <a:srgbClr val="18343A"/>
                </a:solidFill>
                <a:latin typeface="Arial"/>
                <a:ea typeface="Arial"/>
                <a:cs typeface="Arial"/>
              </a:defRPr>
            </a:pPr>
            <a:r>
              <a:rPr sz="2175" b="0">
                <a:solidFill>
                  <a:srgbClr val="18343A"/>
                </a:solidFill>
                <a:latin typeface="Arial"/>
                <a:ea typeface="Arial"/>
                <a:cs typeface="Arial"/>
              </a:rPr>
              <a:t>locales</a:t>
            </a:r>
          </a:p>
        </p:txBody>
      </p:sp>
      <p:sp>
        <p:nvSpPr>
          <p:cNvPr id="6" name="obj-92">
            <a:extLst>
              <a:ext uri="{FF2B5EF4-FFF2-40B4-BE49-F238E27FC236}">
                <a16:creationId xmlns:a16="http://schemas.microsoft.com/office/drawing/2014/main" id="{43E73AA5-D4B5-44EC-B3E9-4A2A7A81EA8A}"/>
              </a:ext>
            </a:extLst>
          </p:cNvPr>
          <p:cNvSpPr>
            <a:spLocks noGrp="1"/>
          </p:cNvSpPr>
          <p:nvPr/>
        </p:nvSpPr>
        <p:spPr>
          <a:xfrm>
            <a:off x="8077200" y="3686175"/>
            <a:ext cx="3476625" cy="685800"/>
          </a:xfrm>
          <a:prstGeom prst="rect">
            <a:avLst/>
          </a:prstGeom>
          <a:noFill/>
          <a:ln w="0">
            <a:noFill/>
            <a:prstDash val="solid"/>
          </a:ln>
        </p:spPr>
        <p:txBody>
          <a:bodyPr wrap="square" lIns="0" tIns="0" rIns="0" bIns="0">
            <a:noAutofit/>
          </a:bodyPr>
          <a:lstStyle>
            <a:defPPr>
              <a:defRPr sz="2400" b="1">
                <a:solidFill>
                  <a:srgbClr val="73528C"/>
                </a:solidFill>
                <a:latin typeface="Arial"/>
                <a:ea typeface="Arial"/>
                <a:cs typeface="Arial"/>
              </a:defRPr>
            </a:defPPr>
          </a:lstStyle>
          <a:p>
            <a:pPr>
              <a:defRPr sz="2400" b="1">
                <a:solidFill>
                  <a:srgbClr val="73528C"/>
                </a:solidFill>
                <a:latin typeface="Arial"/>
                <a:ea typeface="Arial"/>
                <a:cs typeface="Arial"/>
              </a:defRPr>
            </a:pPr>
            <a:r>
              <a:rPr sz="2400" b="1">
                <a:solidFill>
                  <a:srgbClr val="73528C"/>
                </a:solidFill>
                <a:latin typeface="Arial"/>
                <a:ea typeface="Arial"/>
                <a:cs typeface="Arial"/>
              </a:rPr>
              <a:t>Modelo compartido</a:t>
            </a:r>
          </a:p>
        </p:txBody>
      </p:sp>
      <p:sp>
        <p:nvSpPr>
          <p:cNvPr id="7" name="obj-93">
            <a:extLst>
              <a:ext uri="{FF2B5EF4-FFF2-40B4-BE49-F238E27FC236}">
                <a16:creationId xmlns:a16="http://schemas.microsoft.com/office/drawing/2014/main" id="{3E14E54B-F28E-44F7-A5BE-D7A35611A56F}"/>
              </a:ext>
            </a:extLst>
          </p:cNvPr>
          <p:cNvSpPr>
            <a:spLocks noGrp="1"/>
          </p:cNvSpPr>
          <p:nvPr/>
        </p:nvSpPr>
        <p:spPr>
          <a:xfrm>
            <a:off x="8077200" y="4514850"/>
            <a:ext cx="3476625" cy="1228725"/>
          </a:xfrm>
          <a:prstGeom prst="rect">
            <a:avLst/>
          </a:prstGeom>
          <a:noFill/>
          <a:ln w="0">
            <a:noFill/>
            <a:prstDash val="solid"/>
          </a:ln>
        </p:spPr>
        <p:txBody>
          <a:bodyPr wrap="square" lIns="0" tIns="0" rIns="0" bIns="0">
            <a:noAutofit/>
          </a:bodyPr>
          <a:lstStyle>
            <a:defPPr>
              <a:defRPr sz="2175" b="0">
                <a:solidFill>
                  <a:srgbClr val="18343A"/>
                </a:solidFill>
                <a:latin typeface="Arial"/>
                <a:ea typeface="Arial"/>
                <a:cs typeface="Arial"/>
              </a:defRPr>
            </a:defPPr>
          </a:lstStyle>
          <a:p>
            <a:pPr>
              <a:defRPr sz="2175" b="0">
                <a:solidFill>
                  <a:srgbClr val="18343A"/>
                </a:solidFill>
                <a:latin typeface="Arial"/>
                <a:ea typeface="Arial"/>
                <a:cs typeface="Arial"/>
              </a:defRPr>
            </a:pPr>
            <a:r>
              <a:rPr sz="2175" b="0">
                <a:solidFill>
                  <a:srgbClr val="18343A"/>
                </a:solidFill>
                <a:latin typeface="Arial"/>
                <a:ea typeface="Arial"/>
                <a:cs typeface="Arial"/>
              </a:rPr>
              <a:t>Los valores de entrada</a:t>
            </a:r>
          </a:p>
          <a:p>
            <a:pPr>
              <a:defRPr sz="2175" b="0">
                <a:solidFill>
                  <a:srgbClr val="18343A"/>
                </a:solidFill>
                <a:latin typeface="Arial"/>
                <a:ea typeface="Arial"/>
                <a:cs typeface="Arial"/>
              </a:defRPr>
            </a:pPr>
            <a:r>
              <a:rPr sz="2175" b="0">
                <a:solidFill>
                  <a:srgbClr val="18343A"/>
                </a:solidFill>
                <a:latin typeface="Arial"/>
                <a:ea typeface="Arial"/>
                <a:cs typeface="Arial"/>
              </a:rPr>
              <a:t>pueden producir</a:t>
            </a:r>
          </a:p>
          <a:p>
            <a:pPr>
              <a:defRPr sz="2175" b="0">
                <a:solidFill>
                  <a:srgbClr val="18343A"/>
                </a:solidFill>
                <a:latin typeface="Arial"/>
                <a:ea typeface="Arial"/>
                <a:cs typeface="Arial"/>
              </a:defRPr>
            </a:pPr>
            <a:r>
              <a:rPr sz="2175" b="0">
                <a:solidFill>
                  <a:srgbClr val="18343A"/>
                </a:solidFill>
                <a:latin typeface="Arial"/>
                <a:ea typeface="Arial"/>
                <a:cs typeface="Arial"/>
              </a:rPr>
              <a:t>diagnósticos diferentes</a:t>
            </a:r>
          </a:p>
        </p:txBody>
      </p:sp>
    </p:spTree>
    <p:extLst>
      <p:ext uri="{BB962C8B-B14F-4D97-AF65-F5344CB8AC3E}">
        <p14:creationId xmlns:p14="http://schemas.microsoft.com/office/powerpoint/2010/main" val="1661678055"/>
      </p:ext>
    </p:extLst>
  </p:cSld>
  <p:clrMapOvr>
    <a:masterClrMapping/>
  </p:clrMapOvr>
</p:sld>
</file>

<file path=ppt/slides/slide12.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pic>
        <p:nvPicPr>
          <p:cNvPr id="3" name="">
            <a:extLst xmlns:a="http://schemas.openxmlformats.org/drawingml/2006/main">
              <a:ext uri="{FF2B5EF4-FFF2-40B4-BE49-F238E27FC236}">
                <a16:creationId xmlns:a16="http://schemas.microsoft.com/office/drawing/2014/main" id="{F4E4748E-688B-4561-B4C5-F066A5342AF3}"/>
              </a:ext>
            </a:extLst>
          </p:cNvPr>
          <p:cNvPicPr>
            <a:picLocks xmlns:a="http://schemas.openxmlformats.org/drawingml/2006/main" noChangeAspect="1"/>
          </p:cNvPicPr>
          <p:nvPr/>
        </p:nvPicPr>
        <p:blipFill>
          <a:blip xmlns:r="http://schemas.openxmlformats.org/officeDocument/2006/relationships" xmlns:a="http://schemas.openxmlformats.org/drawingml/2006/main" r:embed="R554695027aec4b9f"/>
          <a:stretch xmlns:a="http://schemas.openxmlformats.org/drawingml/2006/main"/>
        </p:blipFill>
        <p:spPr>
          <a:xfrm xmlns:a="http://schemas.openxmlformats.org/drawingml/2006/main">
            <a:off x="609600" y="76200"/>
            <a:ext cx="10972800" cy="67056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54A9524-3126-4110-8E7C-6F139E5FA048}"/>
              </a:ext>
            </a:extLst>
          </p:cNvPr>
          <p:cNvSpPr>
            <a:spLocks xmlns:a="http://schemas.openxmlformats.org/drawingml/2006/main" noGrp="1"/>
          </p:cNvSpPr>
          <p:nvPr/>
        </p:nvSpPr>
        <p:spPr>
          <a:xfrm xmlns:a="http://schemas.openxmlformats.org/drawingml/2006/main">
            <a:off x="11715750" y="6410325"/>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a:solidFill>
                  <a:srgbClr val="52656A"/>
                </a:solidFill>
                <a:latin typeface="Arial"/>
                <a:ea typeface="Arial"/>
                <a:cs typeface="Arial"/>
              </a:defRPr>
            </a:defPPr>
          </a:lstStyle>
          <a:p xmlns:a="http://schemas.openxmlformats.org/drawingml/2006/main">
            <a:pPr>
              <a:defRPr sz="1350">
                <a:solidFill>
                  <a:srgbClr val="52656A"/>
                </a:solidFill>
                <a:latin typeface="Arial"/>
                <a:ea typeface="Arial"/>
                <a:cs typeface="Arial"/>
              </a:defRPr>
            </a:pPr>
            <a:r>
              <a:rPr sz="1350">
                <a:solidFill>
                  <a:srgbClr val="52656A"/>
                </a:solidFill>
                <a:latin typeface="Arial"/>
                <a:ea typeface="Arial"/>
                <a:cs typeface="Arial"/>
              </a:rPr>
              <a:t>12</a:t>
            </a:r>
          </a:p>
        </p:txBody>
      </p:sp>
    </p:spTree>
    <p:extLst>
      <p:ext uri="{BB962C8B-B14F-4D97-AF65-F5344CB8AC3E}">
        <p14:creationId xmlns:p14="http://schemas.microsoft.com/office/powerpoint/2010/main" val="1468381543"/>
      </p:ext>
    </p:extLst>
  </p:cSld>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cxnSp>
        <p:nvCxnSpPr>
          <p:cNvPr id="12" name="Conector recto de flecha 11">
            <a:extLst>
              <a:ext uri="{FF2B5EF4-FFF2-40B4-BE49-F238E27FC236}">
                <a16:creationId xmlns:a16="http://schemas.microsoft.com/office/drawing/2014/main" id="{DED1C82A-D335-46AE-90A7-5C4033EBF1A2}"/>
              </a:ext>
            </a:extLst>
          </p:cNvPr>
          <p:cNvCxnSpPr>
            <a:stCxn id="8" idx="2"/>
            <a:endCxn id="7" idx="0"/>
          </p:cNvCxnSpPr>
          <p:nvPr/>
        </p:nvCxnSpPr>
        <p:spPr>
          <a:xfrm>
            <a:off x="4933950" y="1714500"/>
            <a:ext cx="0" cy="2247900"/>
          </a:xfrm>
          <a:prstGeom prst="straightConnector1">
            <a:avLst/>
          </a:prstGeom>
          <a:ln w="25718">
            <a:solidFill>
              <a:srgbClr val="52656A"/>
            </a:solidFill>
            <a:prstDash val="solid"/>
            <a:tailEnd type="triangle" w="med" len="med"/>
          </a:ln>
        </p:spPr>
      </p:cxnSp>
      <p:cxnSp>
        <p:nvCxnSpPr>
          <p:cNvPr id="11" name="Conector recto de flecha 10">
            <a:extLst>
              <a:ext uri="{FF2B5EF4-FFF2-40B4-BE49-F238E27FC236}">
                <a16:creationId xmlns:a16="http://schemas.microsoft.com/office/drawing/2014/main" id="{81B7BE32-CDD1-4680-BE79-89D8263576CD}"/>
              </a:ext>
            </a:extLst>
          </p:cNvPr>
          <p:cNvCxnSpPr>
            <a:stCxn id="6" idx="6"/>
            <a:endCxn id="7" idx="2"/>
          </p:cNvCxnSpPr>
          <p:nvPr/>
        </p:nvCxnSpPr>
        <p:spPr>
          <a:xfrm>
            <a:off x="2000250" y="4333875"/>
            <a:ext cx="2562225" cy="0"/>
          </a:xfrm>
          <a:prstGeom prst="straightConnector1">
            <a:avLst/>
          </a:prstGeom>
          <a:ln w="25718">
            <a:solidFill>
              <a:srgbClr val="52656A"/>
            </a:solidFill>
            <a:prstDash val="solid"/>
            <a:tailEnd type="triangle" w="med" len="med"/>
          </a:ln>
        </p:spPr>
      </p:cxnSp>
      <p:cxnSp>
        <p:nvCxnSpPr>
          <p:cNvPr id="10" name="Conector recto de flecha 9">
            <a:extLst>
              <a:ext uri="{FF2B5EF4-FFF2-40B4-BE49-F238E27FC236}">
                <a16:creationId xmlns:a16="http://schemas.microsoft.com/office/drawing/2014/main" id="{44833AFE-1D43-4554-B531-9A88E646EAD9}"/>
              </a:ext>
            </a:extLst>
          </p:cNvPr>
          <p:cNvCxnSpPr>
            <a:stCxn id="5" idx="6"/>
            <a:endCxn id="7" idx="0"/>
          </p:cNvCxnSpPr>
          <p:nvPr/>
        </p:nvCxnSpPr>
        <p:spPr>
          <a:xfrm>
            <a:off x="2000250" y="2771775"/>
            <a:ext cx="2933700" cy="1190625"/>
          </a:xfrm>
          <a:prstGeom prst="straightConnector1">
            <a:avLst/>
          </a:prstGeom>
          <a:ln w="25718">
            <a:solidFill>
              <a:srgbClr val="52656A"/>
            </a:solidFill>
            <a:prstDash val="solid"/>
            <a:tailEnd type="triangle" w="med" len="med"/>
          </a:ln>
        </p:spPr>
      </p:cxnSp>
      <p:cxnSp>
        <p:nvCxnSpPr>
          <p:cNvPr id="9" name="Conector recto de flecha 8">
            <a:extLst>
              <a:ext uri="{FF2B5EF4-FFF2-40B4-BE49-F238E27FC236}">
                <a16:creationId xmlns:a16="http://schemas.microsoft.com/office/drawing/2014/main" id="{D56B4F65-CFF2-4352-8C60-1D6272C2945F}"/>
              </a:ext>
            </a:extLst>
          </p:cNvPr>
          <p:cNvCxnSpPr>
            <a:stCxn id="5" idx="4"/>
            <a:endCxn id="6" idx="0"/>
          </p:cNvCxnSpPr>
          <p:nvPr/>
        </p:nvCxnSpPr>
        <p:spPr>
          <a:xfrm>
            <a:off x="1628775" y="3143250"/>
            <a:ext cx="0" cy="819150"/>
          </a:xfrm>
          <a:prstGeom prst="straightConnector1">
            <a:avLst/>
          </a:prstGeom>
          <a:ln w="25718">
            <a:solidFill>
              <a:srgbClr val="52656A"/>
            </a:solidFill>
            <a:prstDash val="dash"/>
            <a:tailEnd type="triangle" w="med" len="med"/>
          </a:ln>
        </p:spPr>
      </p:cxnSp>
      <p:sp>
        <p:nvSpPr>
          <p:cNvPr id="19" name="obj-94">
            <a:extLst>
              <a:ext uri="{FF2B5EF4-FFF2-40B4-BE49-F238E27FC236}">
                <a16:creationId xmlns:a16="http://schemas.microsoft.com/office/drawing/2014/main" id="{58E36DFD-01FA-4664-B7D8-D0AB65C11F41}"/>
              </a:ext>
            </a:extLst>
          </p:cNvPr>
          <p:cNvSpPr>
            <a:spLocks noGrp="1"/>
          </p:cNvSpPr>
          <p:nvPr/>
        </p:nvSpPr>
        <p:spPr>
          <a:xfrm>
            <a:off x="609600" y="381000"/>
            <a:ext cx="10953750" cy="762000"/>
          </a:xfrm>
          <a:prstGeom prst="rect">
            <a:avLst/>
          </a:prstGeom>
          <a:noFill/>
          <a:ln w="0">
            <a:noFill/>
            <a:prstDash val="solid"/>
          </a:ln>
        </p:spPr>
        <p:txBody>
          <a:bodyPr wrap="square" lIns="0" tIns="0" rIns="0" bIns="0">
            <a:noAutofit/>
          </a:bodyPr>
          <a:lstStyle>
            <a:defPPr>
              <a:defRPr sz="3300" b="1">
                <a:solidFill>
                  <a:srgbClr val="18343A"/>
                </a:solidFill>
                <a:latin typeface="Arial"/>
                <a:ea typeface="Arial"/>
                <a:cs typeface="Arial"/>
              </a:defRPr>
            </a:defPPr>
          </a:lstStyle>
          <a:p>
            <a:pPr>
              <a:defRPr sz="3300" b="1">
                <a:solidFill>
                  <a:srgbClr val="18343A"/>
                </a:solidFill>
                <a:latin typeface="Arial"/>
                <a:ea typeface="Arial"/>
                <a:cs typeface="Arial"/>
              </a:defRPr>
            </a:pPr>
            <a:r>
              <a:rPr sz="3300" b="1">
                <a:solidFill>
                  <a:srgbClr val="18343A"/>
                </a:solidFill>
                <a:latin typeface="Arial"/>
                <a:ea typeface="Arial"/>
                <a:cs typeface="Arial"/>
              </a:rPr>
              <a:t>Contexto compartido, señales locales</a:t>
            </a:r>
          </a:p>
        </p:txBody>
      </p:sp>
      <p:sp>
        <p:nvSpPr>
          <p:cNvPr id="2" name="obj-95">
            <a:extLst>
              <a:ext uri="{FF2B5EF4-FFF2-40B4-BE49-F238E27FC236}">
                <a16:creationId xmlns:a16="http://schemas.microsoft.com/office/drawing/2014/main" id="{202F4F89-B165-40E2-A04C-E88A27130C68}"/>
              </a:ext>
            </a:extLst>
          </p:cNvPr>
          <p:cNvSpPr>
            <a:spLocks noGrp="1"/>
          </p:cNvSpPr>
          <p:nvPr/>
        </p:nvSpPr>
        <p:spPr>
          <a:xfrm>
            <a:off x="11144250" y="6410325"/>
            <a:ext cx="428625" cy="247650"/>
          </a:xfrm>
          <a:prstGeom prst="rect">
            <a:avLst/>
          </a:prstGeom>
          <a:noFill/>
          <a:ln w="0">
            <a:noFill/>
            <a:prstDash val="solid"/>
          </a:ln>
        </p:spPr>
        <p:txBody>
          <a:bodyPr wrap="square" lIns="0" tIns="0" rIns="0" bIns="0">
            <a:noAutofit/>
          </a:bodyPr>
          <a:lstStyle>
            <a:defPPr>
              <a:defRPr sz="1350" b="0">
                <a:solidFill>
                  <a:srgbClr val="52656A"/>
                </a:solidFill>
                <a:latin typeface="Arial"/>
                <a:ea typeface="Arial"/>
                <a:cs typeface="Arial"/>
              </a:defRPr>
            </a:defPPr>
          </a:lstStyle>
          <a:p>
            <a:pPr>
              <a:defRPr sz="1350" b="0">
                <a:solidFill>
                  <a:srgbClr val="52656A"/>
                </a:solidFill>
                <a:latin typeface="Arial"/>
                <a:ea typeface="Arial"/>
                <a:cs typeface="Arial"/>
              </a:defRPr>
            </a:pPr>
            <a:r>
              <a:rPr sz="1350" b="0">
                <a:solidFill>
                  <a:srgbClr val="52656A"/>
                </a:solidFill>
                <a:latin typeface="Arial"/>
                <a:ea typeface="Arial"/>
                <a:cs typeface="Arial"/>
              </a:rPr>
              <a:t>13</a:t>
            </a:r>
          </a:p>
        </p:txBody>
      </p:sp>
      <p:sp>
        <p:nvSpPr>
          <p:cNvPr id="3" name="obj-96">
            <a:extLst>
              <a:ext uri="{FF2B5EF4-FFF2-40B4-BE49-F238E27FC236}">
                <a16:creationId xmlns:a16="http://schemas.microsoft.com/office/drawing/2014/main" id="{8368CE80-BC09-4DFC-98D8-4C7825071379}"/>
              </a:ext>
            </a:extLst>
          </p:cNvPr>
          <p:cNvSpPr>
            <a:spLocks noGrp="1"/>
          </p:cNvSpPr>
          <p:nvPr/>
        </p:nvSpPr>
        <p:spPr>
          <a:xfrm>
            <a:off x="609600" y="1924050"/>
            <a:ext cx="5591175" cy="3914775"/>
          </a:xfrm>
          <a:prstGeom prst="rect">
            <a:avLst/>
          </a:prstGeom>
          <a:noFill/>
          <a:ln w="19050">
            <a:solidFill>
              <a:srgbClr val="087E86"/>
            </a:solidFill>
            <a:prstDash val="solid"/>
          </a:ln>
        </p:spPr>
        <p:txBody>
          <a:bodyPr/>
          <a:lstStyle/>
          <a:p>
            <a:endParaRPr lang="es-MX"/>
          </a:p>
        </p:txBody>
      </p:sp>
      <p:sp>
        <p:nvSpPr>
          <p:cNvPr id="4" name="obj-97">
            <a:extLst>
              <a:ext uri="{FF2B5EF4-FFF2-40B4-BE49-F238E27FC236}">
                <a16:creationId xmlns:a16="http://schemas.microsoft.com/office/drawing/2014/main" id="{483A18D5-4A8A-43B1-BEFA-FBD0B7892E2D}"/>
              </a:ext>
            </a:extLst>
          </p:cNvPr>
          <p:cNvSpPr>
            <a:spLocks noGrp="1"/>
          </p:cNvSpPr>
          <p:nvPr/>
        </p:nvSpPr>
        <p:spPr>
          <a:xfrm>
            <a:off x="838200" y="3514725"/>
            <a:ext cx="5076825" cy="1771650"/>
          </a:xfrm>
          <a:prstGeom prst="rect">
            <a:avLst/>
          </a:prstGeom>
          <a:noFill/>
          <a:ln w="19050">
            <a:solidFill>
              <a:srgbClr val="52656A"/>
            </a:solidFill>
            <a:prstDash val="solid"/>
          </a:ln>
        </p:spPr>
        <p:txBody>
          <a:bodyPr/>
          <a:lstStyle/>
          <a:p>
            <a:endParaRPr lang="es-MX"/>
          </a:p>
        </p:txBody>
      </p:sp>
      <p:sp>
        <p:nvSpPr>
          <p:cNvPr id="5" name="obj-98">
            <a:extLst>
              <a:ext uri="{FF2B5EF4-FFF2-40B4-BE49-F238E27FC236}">
                <a16:creationId xmlns:a16="http://schemas.microsoft.com/office/drawing/2014/main" id="{CB7EA52F-F696-4AFD-AD84-7E2FBB0505B2}"/>
              </a:ext>
            </a:extLst>
          </p:cNvPr>
          <p:cNvSpPr>
            <a:spLocks noGrp="1"/>
          </p:cNvSpPr>
          <p:nvPr/>
        </p:nvSpPr>
        <p:spPr>
          <a:xfrm>
            <a:off x="1257300" y="2400300"/>
            <a:ext cx="742950" cy="742950"/>
          </a:xfrm>
          <a:prstGeom prst="ellipse">
            <a:avLst/>
          </a:prstGeom>
          <a:solidFill>
            <a:srgbClr val="E3E9E8"/>
          </a:solidFill>
          <a:ln w="28575">
            <a:solidFill>
              <a:srgbClr val="087E86"/>
            </a:solidFill>
            <a:prstDash val="solid"/>
          </a:ln>
        </p:spPr>
        <p:txBody>
          <a:bodyPr lIns="0" tIns="0" rIns="0" bIns="0" anchor="ctr"/>
          <a:lstStyle>
            <a:defPPr algn="ctr">
              <a:defRPr sz="2250" b="1">
                <a:solidFill>
                  <a:srgbClr val="087E86"/>
                </a:solidFill>
                <a:latin typeface="Arial"/>
                <a:ea typeface="Arial"/>
                <a:cs typeface="Arial"/>
              </a:defRPr>
            </a:defPPr>
          </a:lstStyle>
          <a:p>
            <a:pPr algn="ctr">
              <a:defRPr sz="2250" b="1">
                <a:solidFill>
                  <a:srgbClr val="087E86"/>
                </a:solidFill>
                <a:latin typeface="Arial"/>
                <a:ea typeface="Arial"/>
                <a:cs typeface="Arial"/>
              </a:defRPr>
            </a:pPr>
            <a:r>
              <a:rPr sz="2250" b="1">
                <a:solidFill>
                  <a:srgbClr val="087E86"/>
                </a:solidFill>
                <a:latin typeface="Arial"/>
                <a:ea typeface="Arial"/>
                <a:cs typeface="Arial"/>
              </a:rPr>
              <a:t>Xⱼ</a:t>
            </a:r>
          </a:p>
        </p:txBody>
      </p:sp>
      <p:sp>
        <p:nvSpPr>
          <p:cNvPr id="6" name="obj-99">
            <a:extLst>
              <a:ext uri="{FF2B5EF4-FFF2-40B4-BE49-F238E27FC236}">
                <a16:creationId xmlns:a16="http://schemas.microsoft.com/office/drawing/2014/main" id="{4CDFE16C-41CE-479D-A330-A68A1B9DB957}"/>
              </a:ext>
            </a:extLst>
          </p:cNvPr>
          <p:cNvSpPr>
            <a:spLocks noGrp="1"/>
          </p:cNvSpPr>
          <p:nvPr/>
        </p:nvSpPr>
        <p:spPr>
          <a:xfrm>
            <a:off x="1257300" y="3962400"/>
            <a:ext cx="742950" cy="742950"/>
          </a:xfrm>
          <a:prstGeom prst="ellipse">
            <a:avLst/>
          </a:prstGeom>
          <a:solidFill>
            <a:srgbClr val="FFFFFF"/>
          </a:solidFill>
          <a:ln w="28575">
            <a:solidFill>
              <a:srgbClr val="73528C"/>
            </a:solidFill>
            <a:prstDash val="solid"/>
          </a:ln>
        </p:spPr>
        <p:txBody>
          <a:bodyPr lIns="0" tIns="0" rIns="0" bIns="0" anchor="ctr"/>
          <a:lstStyle>
            <a:defPPr algn="ctr">
              <a:defRPr sz="2250" b="1">
                <a:solidFill>
                  <a:srgbClr val="73528C"/>
                </a:solidFill>
                <a:latin typeface="Arial"/>
                <a:ea typeface="Arial"/>
                <a:cs typeface="Arial"/>
              </a:defRPr>
            </a:defPPr>
          </a:lstStyle>
          <a:p>
            <a:pPr algn="ctr">
              <a:defRPr sz="2250" b="1">
                <a:solidFill>
                  <a:srgbClr val="73528C"/>
                </a:solidFill>
                <a:latin typeface="Arial"/>
                <a:ea typeface="Arial"/>
                <a:cs typeface="Arial"/>
              </a:defRPr>
            </a:pPr>
            <a:r>
              <a:rPr sz="2250" b="1">
                <a:solidFill>
                  <a:srgbClr val="73528C"/>
                </a:solidFill>
                <a:latin typeface="Arial"/>
                <a:ea typeface="Arial"/>
                <a:cs typeface="Arial"/>
              </a:rPr>
              <a:t>Zᵢⱼ</a:t>
            </a:r>
          </a:p>
        </p:txBody>
      </p:sp>
      <p:sp>
        <p:nvSpPr>
          <p:cNvPr id="7" name="obj-100">
            <a:extLst>
              <a:ext uri="{FF2B5EF4-FFF2-40B4-BE49-F238E27FC236}">
                <a16:creationId xmlns:a16="http://schemas.microsoft.com/office/drawing/2014/main" id="{66234D87-8BE2-424A-8762-746DBD6F01E6}"/>
              </a:ext>
            </a:extLst>
          </p:cNvPr>
          <p:cNvSpPr>
            <a:spLocks noGrp="1"/>
          </p:cNvSpPr>
          <p:nvPr/>
        </p:nvSpPr>
        <p:spPr>
          <a:xfrm>
            <a:off x="4562475" y="3962400"/>
            <a:ext cx="742950" cy="742950"/>
          </a:xfrm>
          <a:prstGeom prst="ellipse">
            <a:avLst/>
          </a:prstGeom>
          <a:solidFill>
            <a:srgbClr val="E3E9E8"/>
          </a:solidFill>
          <a:ln w="28575">
            <a:solidFill>
              <a:srgbClr val="AA6717"/>
            </a:solidFill>
            <a:prstDash val="solid"/>
          </a:ln>
        </p:spPr>
        <p:txBody>
          <a:bodyPr lIns="0" tIns="0" rIns="0" bIns="0" anchor="ctr"/>
          <a:lstStyle>
            <a:defPPr algn="ctr">
              <a:defRPr sz="2250" b="1">
                <a:solidFill>
                  <a:srgbClr val="AA6717"/>
                </a:solidFill>
                <a:latin typeface="Arial"/>
                <a:ea typeface="Arial"/>
                <a:cs typeface="Arial"/>
              </a:defRPr>
            </a:defPPr>
          </a:lstStyle>
          <a:p>
            <a:pPr algn="ctr">
              <a:defRPr sz="2250" b="1">
                <a:solidFill>
                  <a:srgbClr val="AA6717"/>
                </a:solidFill>
                <a:latin typeface="Arial"/>
                <a:ea typeface="Arial"/>
                <a:cs typeface="Arial"/>
              </a:defRPr>
            </a:pPr>
            <a:r>
              <a:rPr sz="2250" b="1">
                <a:solidFill>
                  <a:srgbClr val="AA6717"/>
                </a:solidFill>
                <a:latin typeface="Arial"/>
                <a:ea typeface="Arial"/>
                <a:cs typeface="Arial"/>
              </a:rPr>
              <a:t>Yᵢⱼ</a:t>
            </a:r>
          </a:p>
        </p:txBody>
      </p:sp>
      <p:sp>
        <p:nvSpPr>
          <p:cNvPr id="8" name="obj-101">
            <a:extLst>
              <a:ext uri="{FF2B5EF4-FFF2-40B4-BE49-F238E27FC236}">
                <a16:creationId xmlns:a16="http://schemas.microsoft.com/office/drawing/2014/main" id="{5F1F3CB4-2085-47C9-816D-7AD0501EB16F}"/>
              </a:ext>
            </a:extLst>
          </p:cNvPr>
          <p:cNvSpPr>
            <a:spLocks noGrp="1"/>
          </p:cNvSpPr>
          <p:nvPr/>
        </p:nvSpPr>
        <p:spPr>
          <a:xfrm>
            <a:off x="4648200" y="1143000"/>
            <a:ext cx="571500" cy="571500"/>
          </a:xfrm>
          <a:prstGeom prst="rect">
            <a:avLst/>
          </a:prstGeom>
          <a:solidFill>
            <a:srgbClr val="FFFFFF"/>
          </a:solidFill>
          <a:ln w="28575">
            <a:solidFill>
              <a:srgbClr val="18343A"/>
            </a:solidFill>
            <a:prstDash val="solid"/>
          </a:ln>
        </p:spPr>
        <p:txBody>
          <a:bodyPr lIns="0" tIns="0" rIns="0" bIns="0" anchor="ctr"/>
          <a:lstStyle>
            <a:defPPr algn="ctr">
              <a:defRPr sz="2250" b="1">
                <a:solidFill>
                  <a:srgbClr val="18343A"/>
                </a:solidFill>
                <a:latin typeface="Arial"/>
                <a:ea typeface="Arial"/>
                <a:cs typeface="Arial"/>
              </a:defRPr>
            </a:defPPr>
          </a:lstStyle>
          <a:p>
            <a:pPr algn="ctr">
              <a:defRPr sz="2250" b="1">
                <a:solidFill>
                  <a:srgbClr val="18343A"/>
                </a:solidFill>
                <a:latin typeface="Arial"/>
                <a:ea typeface="Arial"/>
                <a:cs typeface="Arial"/>
              </a:defRPr>
            </a:pPr>
            <a:r>
              <a:rPr sz="2250" b="1">
                <a:solidFill>
                  <a:srgbClr val="18343A"/>
                </a:solidFill>
                <a:latin typeface="Arial"/>
                <a:ea typeface="Arial"/>
                <a:cs typeface="Arial"/>
              </a:rPr>
              <a:t>θ</a:t>
            </a:r>
          </a:p>
        </p:txBody>
      </p:sp>
      <p:sp>
        <p:nvSpPr>
          <p:cNvPr id="13" name="obj-102">
            <a:extLst>
              <a:ext uri="{FF2B5EF4-FFF2-40B4-BE49-F238E27FC236}">
                <a16:creationId xmlns:a16="http://schemas.microsoft.com/office/drawing/2014/main" id="{3B6C48D1-64FE-4354-A043-9CEA00812B21}"/>
              </a:ext>
            </a:extLst>
          </p:cNvPr>
          <p:cNvSpPr>
            <a:spLocks noGrp="1"/>
          </p:cNvSpPr>
          <p:nvPr/>
        </p:nvSpPr>
        <p:spPr>
          <a:xfrm>
            <a:off x="1028700" y="4810125"/>
            <a:ext cx="3714750" cy="361950"/>
          </a:xfrm>
          <a:prstGeom prst="rect">
            <a:avLst/>
          </a:prstGeom>
          <a:noFill/>
          <a:ln w="0">
            <a:noFill/>
            <a:prstDash val="solid"/>
          </a:ln>
        </p:spPr>
        <p:txBody>
          <a:bodyPr wrap="square" lIns="0" tIns="0" rIns="0" bIns="0">
            <a:noAutofit/>
          </a:bodyPr>
          <a:lstStyle>
            <a:defPPr>
              <a:defRPr sz="1800" b="0">
                <a:solidFill>
                  <a:srgbClr val="18343A"/>
                </a:solidFill>
                <a:latin typeface="Arial"/>
                <a:ea typeface="Arial"/>
                <a:cs typeface="Arial"/>
              </a:defRPr>
            </a:defPPr>
          </a:lstStyle>
          <a:p>
            <a:pPr>
              <a:defRPr sz="1800" b="0">
                <a:solidFill>
                  <a:srgbClr val="18343A"/>
                </a:solidFill>
                <a:latin typeface="Arial"/>
                <a:ea typeface="Arial"/>
                <a:cs typeface="Arial"/>
              </a:defRPr>
            </a:pPr>
            <a:r>
              <a:rPr sz="1800" b="0">
                <a:solidFill>
                  <a:srgbClr val="18343A"/>
                </a:solidFill>
                <a:latin typeface="Arial"/>
                <a:ea typeface="Arial"/>
                <a:cs typeface="Arial"/>
              </a:rPr>
              <a:t>i = 1, …, nⱼ píxeles</a:t>
            </a:r>
          </a:p>
        </p:txBody>
      </p:sp>
      <p:sp>
        <p:nvSpPr>
          <p:cNvPr id="14" name="obj-103">
            <a:extLst>
              <a:ext uri="{FF2B5EF4-FFF2-40B4-BE49-F238E27FC236}">
                <a16:creationId xmlns:a16="http://schemas.microsoft.com/office/drawing/2014/main" id="{6CCEA111-0EF1-4172-824A-0672FCC2D700}"/>
              </a:ext>
            </a:extLst>
          </p:cNvPr>
          <p:cNvSpPr>
            <a:spLocks noGrp="1"/>
          </p:cNvSpPr>
          <p:nvPr/>
        </p:nvSpPr>
        <p:spPr>
          <a:xfrm>
            <a:off x="800100" y="5429250"/>
            <a:ext cx="4905375" cy="333375"/>
          </a:xfrm>
          <a:prstGeom prst="rect">
            <a:avLst/>
          </a:prstGeom>
          <a:noFill/>
          <a:ln w="0">
            <a:noFill/>
            <a:prstDash val="solid"/>
          </a:ln>
        </p:spPr>
        <p:txBody>
          <a:bodyPr wrap="square" lIns="0" tIns="0" rIns="0" bIns="0">
            <a:noAutofit/>
          </a:bodyPr>
          <a:lstStyle>
            <a:defPPr>
              <a:defRPr sz="1800" b="1">
                <a:solidFill>
                  <a:srgbClr val="087E86"/>
                </a:solidFill>
                <a:latin typeface="Arial"/>
                <a:ea typeface="Arial"/>
                <a:cs typeface="Arial"/>
              </a:defRPr>
            </a:defPPr>
          </a:lstStyle>
          <a:p>
            <a:pPr>
              <a:defRPr sz="1800" b="1">
                <a:solidFill>
                  <a:srgbClr val="087E86"/>
                </a:solidFill>
                <a:latin typeface="Arial"/>
                <a:ea typeface="Arial"/>
                <a:cs typeface="Arial"/>
              </a:defRPr>
            </a:pPr>
            <a:r>
              <a:rPr sz="1800" b="1">
                <a:solidFill>
                  <a:srgbClr val="087E86"/>
                </a:solidFill>
                <a:latin typeface="Arial"/>
                <a:ea typeface="Arial"/>
                <a:cs typeface="Arial"/>
              </a:rPr>
              <a:t>j = 1, …, J zonas o clases</a:t>
            </a:r>
          </a:p>
        </p:txBody>
      </p:sp>
      <p:sp>
        <p:nvSpPr>
          <p:cNvPr id="15" name="obj-104">
            <a:extLst>
              <a:ext uri="{FF2B5EF4-FFF2-40B4-BE49-F238E27FC236}">
                <a16:creationId xmlns:a16="http://schemas.microsoft.com/office/drawing/2014/main" id="{1AF796AE-AF44-4298-8498-A80F0D4CA7E0}"/>
              </a:ext>
            </a:extLst>
          </p:cNvPr>
          <p:cNvSpPr>
            <a:spLocks noGrp="1"/>
          </p:cNvSpPr>
          <p:nvPr/>
        </p:nvSpPr>
        <p:spPr>
          <a:xfrm>
            <a:off x="6753225" y="2000250"/>
            <a:ext cx="4791075" cy="971550"/>
          </a:xfrm>
          <a:prstGeom prst="rect">
            <a:avLst/>
          </a:prstGeom>
          <a:noFill/>
          <a:ln w="0">
            <a:noFill/>
            <a:prstDash val="solid"/>
          </a:ln>
        </p:spPr>
        <p:txBody>
          <a:bodyPr wrap="square" lIns="0" tIns="0" rIns="0" bIns="0">
            <a:noAutofit/>
          </a:bodyPr>
          <a:lstStyle>
            <a:defPPr>
              <a:defRPr sz="2175" b="1">
                <a:solidFill>
                  <a:srgbClr val="087E86"/>
                </a:solidFill>
                <a:latin typeface="Arial"/>
                <a:ea typeface="Arial"/>
                <a:cs typeface="Arial"/>
              </a:defRPr>
            </a:defPPr>
          </a:lstStyle>
          <a:p>
            <a:pPr>
              <a:defRPr sz="2175" b="1">
                <a:solidFill>
                  <a:srgbClr val="087E86"/>
                </a:solidFill>
                <a:latin typeface="Arial"/>
                <a:ea typeface="Arial"/>
                <a:cs typeface="Arial"/>
              </a:defRPr>
            </a:pPr>
            <a:r>
              <a:rPr sz="2175" b="1">
                <a:solidFill>
                  <a:srgbClr val="087E86"/>
                </a:solidFill>
                <a:latin typeface="Arial"/>
                <a:ea typeface="Arial"/>
                <a:cs typeface="Arial"/>
              </a:rPr>
              <a:t>Un componente de contexto Xⱼ</a:t>
            </a:r>
          </a:p>
          <a:p>
            <a:pPr>
              <a:defRPr sz="2175" b="1">
                <a:solidFill>
                  <a:srgbClr val="087E86"/>
                </a:solidFill>
                <a:latin typeface="Arial"/>
                <a:ea typeface="Arial"/>
                <a:cs typeface="Arial"/>
              </a:defRPr>
            </a:pPr>
            <a:r>
              <a:rPr sz="2175" b="1">
                <a:solidFill>
                  <a:srgbClr val="087E86"/>
                </a:solidFill>
                <a:latin typeface="Arial"/>
                <a:ea typeface="Arial"/>
                <a:cs typeface="Arial"/>
              </a:rPr>
              <a:t>para la zona o clase j</a:t>
            </a:r>
          </a:p>
        </p:txBody>
      </p:sp>
      <p:sp>
        <p:nvSpPr>
          <p:cNvPr id="16" name="obj-105">
            <a:extLst>
              <a:ext uri="{FF2B5EF4-FFF2-40B4-BE49-F238E27FC236}">
                <a16:creationId xmlns:a16="http://schemas.microsoft.com/office/drawing/2014/main" id="{45E21BBF-ED65-4A49-862E-BA3D99512D14}"/>
              </a:ext>
            </a:extLst>
          </p:cNvPr>
          <p:cNvSpPr>
            <a:spLocks noGrp="1"/>
          </p:cNvSpPr>
          <p:nvPr/>
        </p:nvSpPr>
        <p:spPr>
          <a:xfrm>
            <a:off x="6753225" y="3476625"/>
            <a:ext cx="4791075" cy="1066800"/>
          </a:xfrm>
          <a:prstGeom prst="rect">
            <a:avLst/>
          </a:prstGeom>
          <a:noFill/>
          <a:ln w="0">
            <a:noFill/>
            <a:prstDash val="solid"/>
          </a:ln>
        </p:spPr>
        <p:txBody>
          <a:bodyPr wrap="square" lIns="0" tIns="0" rIns="0" bIns="0">
            <a:noAutofit/>
          </a:bodyPr>
          <a:lstStyle>
            <a:defPPr>
              <a:defRPr sz="2175" b="0">
                <a:solidFill>
                  <a:srgbClr val="18343A"/>
                </a:solidFill>
                <a:latin typeface="Arial"/>
                <a:ea typeface="Arial"/>
                <a:cs typeface="Arial"/>
              </a:defRPr>
            </a:defPPr>
          </a:lstStyle>
          <a:p>
            <a:pPr>
              <a:defRPr sz="2175" b="0">
                <a:solidFill>
                  <a:srgbClr val="18343A"/>
                </a:solidFill>
                <a:latin typeface="Arial"/>
                <a:ea typeface="Arial"/>
                <a:cs typeface="Arial"/>
              </a:defRPr>
            </a:pPr>
            <a:r>
              <a:rPr sz="2175" b="0">
                <a:solidFill>
                  <a:srgbClr val="18343A"/>
                </a:solidFill>
                <a:latin typeface="Arial"/>
                <a:ea typeface="Arial"/>
                <a:cs typeface="Arial"/>
              </a:rPr>
              <a:t>Observaciones Yᵢⱼ y condición Zᵢⱼ</a:t>
            </a:r>
          </a:p>
          <a:p>
            <a:pPr>
              <a:defRPr sz="2175" b="0">
                <a:solidFill>
                  <a:srgbClr val="18343A"/>
                </a:solidFill>
                <a:latin typeface="Arial"/>
                <a:ea typeface="Arial"/>
                <a:cs typeface="Arial"/>
              </a:defRPr>
            </a:pPr>
            <a:r>
              <a:rPr sz="2175" b="0">
                <a:solidFill>
                  <a:srgbClr val="18343A"/>
                </a:solidFill>
                <a:latin typeface="Arial"/>
                <a:ea typeface="Arial"/>
                <a:cs typeface="Arial"/>
              </a:rPr>
              <a:t>para cada píxel i</a:t>
            </a:r>
          </a:p>
        </p:txBody>
      </p:sp>
      <p:sp>
        <p:nvSpPr>
          <p:cNvPr id="17" name="obj-106">
            <a:extLst>
              <a:ext uri="{FF2B5EF4-FFF2-40B4-BE49-F238E27FC236}">
                <a16:creationId xmlns:a16="http://schemas.microsoft.com/office/drawing/2014/main" id="{CF1FAAE9-10BF-47E3-8461-B62FFD184779}"/>
              </a:ext>
            </a:extLst>
          </p:cNvPr>
          <p:cNvSpPr>
            <a:spLocks noGrp="1"/>
          </p:cNvSpPr>
          <p:nvPr/>
        </p:nvSpPr>
        <p:spPr>
          <a:xfrm>
            <a:off x="6753225" y="4962525"/>
            <a:ext cx="4791075" cy="542925"/>
          </a:xfrm>
          <a:prstGeom prst="rect">
            <a:avLst/>
          </a:prstGeom>
          <a:noFill/>
          <a:ln w="0">
            <a:noFill/>
            <a:prstDash val="solid"/>
          </a:ln>
        </p:spPr>
        <p:txBody>
          <a:bodyPr wrap="square" lIns="0" tIns="0" rIns="0" bIns="0">
            <a:noAutofit/>
          </a:bodyPr>
          <a:lstStyle>
            <a:defPPr>
              <a:defRPr sz="2250" b="1">
                <a:solidFill>
                  <a:srgbClr val="73528C"/>
                </a:solidFill>
                <a:latin typeface="Arial"/>
                <a:ea typeface="Arial"/>
                <a:cs typeface="Arial"/>
              </a:defRPr>
            </a:defPPr>
          </a:lstStyle>
          <a:p>
            <a:pPr>
              <a:defRPr sz="2250" b="1">
                <a:solidFill>
                  <a:srgbClr val="73528C"/>
                </a:solidFill>
                <a:latin typeface="Arial"/>
                <a:ea typeface="Arial"/>
                <a:cs typeface="Arial"/>
              </a:defRPr>
            </a:pPr>
            <a:r>
              <a:rPr sz="2250" b="1">
                <a:solidFill>
                  <a:srgbClr val="73528C"/>
                </a:solidFill>
                <a:latin typeface="Arial"/>
                <a:ea typeface="Arial"/>
                <a:cs typeface="Arial"/>
              </a:rPr>
              <a:t>Parámetros θ compartidos</a:t>
            </a:r>
          </a:p>
        </p:txBody>
      </p:sp>
      <p:sp>
        <p:nvSpPr>
          <p:cNvPr id="18" name="obj-107">
            <a:extLst>
              <a:ext uri="{FF2B5EF4-FFF2-40B4-BE49-F238E27FC236}">
                <a16:creationId xmlns:a16="http://schemas.microsoft.com/office/drawing/2014/main" id="{13F72111-2475-4B98-85D3-D1E618ADC01A}"/>
              </a:ext>
            </a:extLst>
          </p:cNvPr>
          <p:cNvSpPr>
            <a:spLocks noGrp="1"/>
          </p:cNvSpPr>
          <p:nvPr/>
        </p:nvSpPr>
        <p:spPr>
          <a:xfrm>
            <a:off x="609600" y="5972175"/>
            <a:ext cx="10668000" cy="381000"/>
          </a:xfrm>
          <a:prstGeom prst="rect">
            <a:avLst/>
          </a:prstGeom>
          <a:noFill/>
          <a:ln w="0">
            <a:noFill/>
            <a:prstDash val="solid"/>
          </a:ln>
        </p:spPr>
        <p:txBody>
          <a:bodyPr wrap="square" lIns="0" tIns="0" rIns="0" bIns="0">
            <a:noAutofit/>
          </a:bodyPr>
          <a:lstStyle>
            <a:defPPr>
              <a:defRPr sz="1725" b="0">
                <a:solidFill>
                  <a:srgbClr val="52656A"/>
                </a:solidFill>
                <a:latin typeface="Arial"/>
                <a:ea typeface="Arial"/>
                <a:cs typeface="Arial"/>
              </a:defRPr>
            </a:defPPr>
          </a:lstStyle>
          <a:p>
            <a:pPr>
              <a:defRPr sz="1725" b="0">
                <a:solidFill>
                  <a:srgbClr val="52656A"/>
                </a:solidFill>
                <a:latin typeface="Arial"/>
                <a:ea typeface="Arial"/>
                <a:cs typeface="Arial"/>
              </a:defRPr>
            </a:pPr>
            <a:r>
              <a:rPr sz="1725" b="0">
                <a:solidFill>
                  <a:srgbClr val="52656A"/>
                </a:solidFill>
                <a:latin typeface="Arial"/>
                <a:ea typeface="Arial"/>
                <a:cs typeface="Arial"/>
              </a:rPr>
              <a:t>Compartir contexto no obliga a inferir la misma condición ni garantiza independencia espacial</a:t>
            </a:r>
          </a:p>
        </p:txBody>
      </p:sp>
    </p:spTree>
    <p:extLst>
      <p:ext uri="{BB962C8B-B14F-4D97-AF65-F5344CB8AC3E}">
        <p14:creationId xmlns:p14="http://schemas.microsoft.com/office/powerpoint/2010/main" val="11572251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cxnSp>
        <p:nvCxnSpPr>
          <p:cNvPr id="10" name="Conector recto de flecha 9">
            <a:extLst>
              <a:ext uri="{FF2B5EF4-FFF2-40B4-BE49-F238E27FC236}">
                <a16:creationId xmlns:a16="http://schemas.microsoft.com/office/drawing/2014/main" id="{DC1C69EA-44B3-4529-9829-2484586178D9}"/>
              </a:ext>
            </a:extLst>
          </p:cNvPr>
          <p:cNvCxnSpPr>
            <a:stCxn id="6" idx="6"/>
            <a:endCxn id="7" idx="2"/>
          </p:cNvCxnSpPr>
          <p:nvPr/>
        </p:nvCxnSpPr>
        <p:spPr>
          <a:xfrm flipV="1">
            <a:off x="3667125" y="1885950"/>
            <a:ext cx="4572000" cy="800100"/>
          </a:xfrm>
          <a:prstGeom prst="straightConnector1">
            <a:avLst/>
          </a:prstGeom>
          <a:ln w="25718">
            <a:solidFill>
              <a:srgbClr val="52656A"/>
            </a:solidFill>
            <a:prstDash val="solid"/>
            <a:tailEnd type="triangle" w="med" len="med"/>
          </a:ln>
        </p:spPr>
      </p:cxnSp>
      <p:cxnSp>
        <p:nvCxnSpPr>
          <p:cNvPr id="9" name="Conector recto de flecha 8">
            <a:extLst>
              <a:ext uri="{FF2B5EF4-FFF2-40B4-BE49-F238E27FC236}">
                <a16:creationId xmlns:a16="http://schemas.microsoft.com/office/drawing/2014/main" id="{BDF1BF1C-4408-4851-A883-2476010443E0}"/>
              </a:ext>
            </a:extLst>
          </p:cNvPr>
          <p:cNvCxnSpPr>
            <a:stCxn id="5" idx="6"/>
            <a:endCxn id="8" idx="2"/>
          </p:cNvCxnSpPr>
          <p:nvPr/>
        </p:nvCxnSpPr>
        <p:spPr>
          <a:xfrm>
            <a:off x="3667125" y="1885950"/>
            <a:ext cx="4572000" cy="800100"/>
          </a:xfrm>
          <a:prstGeom prst="straightConnector1">
            <a:avLst/>
          </a:prstGeom>
          <a:ln w="25718">
            <a:solidFill>
              <a:srgbClr val="52656A"/>
            </a:solidFill>
            <a:prstDash val="solid"/>
            <a:tailEnd type="triangle" w="med" len="med"/>
          </a:ln>
        </p:spPr>
      </p:cxnSp>
      <p:sp>
        <p:nvSpPr>
          <p:cNvPr id="17" name="obj-108">
            <a:extLst>
              <a:ext uri="{FF2B5EF4-FFF2-40B4-BE49-F238E27FC236}">
                <a16:creationId xmlns:a16="http://schemas.microsoft.com/office/drawing/2014/main" id="{848575B1-9507-4637-991F-4E1709AA79AE}"/>
              </a:ext>
            </a:extLst>
          </p:cNvPr>
          <p:cNvSpPr>
            <a:spLocks noGrp="1"/>
          </p:cNvSpPr>
          <p:nvPr/>
        </p:nvSpPr>
        <p:spPr>
          <a:xfrm>
            <a:off x="609600" y="381000"/>
            <a:ext cx="10953750" cy="762000"/>
          </a:xfrm>
          <a:prstGeom prst="rect">
            <a:avLst/>
          </a:prstGeom>
          <a:noFill/>
          <a:ln w="0">
            <a:noFill/>
            <a:prstDash val="solid"/>
          </a:ln>
        </p:spPr>
        <p:txBody>
          <a:bodyPr wrap="square" lIns="0" tIns="0" rIns="0" bIns="0">
            <a:noAutofit/>
          </a:bodyPr>
          <a:lstStyle>
            <a:defPPr>
              <a:defRPr sz="3300" b="1">
                <a:solidFill>
                  <a:srgbClr val="18343A"/>
                </a:solidFill>
                <a:latin typeface="Arial"/>
                <a:ea typeface="Arial"/>
                <a:cs typeface="Arial"/>
              </a:defRPr>
            </a:defPPr>
          </a:lstStyle>
          <a:p>
            <a:pPr>
              <a:defRPr sz="3300" b="1">
                <a:solidFill>
                  <a:srgbClr val="18343A"/>
                </a:solidFill>
                <a:latin typeface="Arial"/>
                <a:ea typeface="Arial"/>
                <a:cs typeface="Arial"/>
              </a:defRPr>
            </a:pPr>
            <a:r>
              <a:rPr sz="3300" b="1">
                <a:solidFill>
                  <a:srgbClr val="18343A"/>
                </a:solidFill>
                <a:latin typeface="Arial"/>
                <a:ea typeface="Arial"/>
                <a:cs typeface="Arial"/>
              </a:rPr>
              <a:t>Retroalimentación entre vegetación y suelo</a:t>
            </a:r>
          </a:p>
        </p:txBody>
      </p:sp>
      <p:sp>
        <p:nvSpPr>
          <p:cNvPr id="2" name="obj-109">
            <a:extLst>
              <a:ext uri="{FF2B5EF4-FFF2-40B4-BE49-F238E27FC236}">
                <a16:creationId xmlns:a16="http://schemas.microsoft.com/office/drawing/2014/main" id="{FDCE1597-DCF4-480E-998A-17135A41AE7A}"/>
              </a:ext>
            </a:extLst>
          </p:cNvPr>
          <p:cNvSpPr>
            <a:spLocks noGrp="1"/>
          </p:cNvSpPr>
          <p:nvPr/>
        </p:nvSpPr>
        <p:spPr>
          <a:xfrm>
            <a:off x="11144250" y="6410325"/>
            <a:ext cx="428625" cy="247650"/>
          </a:xfrm>
          <a:prstGeom prst="rect">
            <a:avLst/>
          </a:prstGeom>
          <a:noFill/>
          <a:ln w="0">
            <a:noFill/>
            <a:prstDash val="solid"/>
          </a:ln>
        </p:spPr>
        <p:txBody>
          <a:bodyPr wrap="square" lIns="0" tIns="0" rIns="0" bIns="0">
            <a:noAutofit/>
          </a:bodyPr>
          <a:lstStyle>
            <a:defPPr>
              <a:defRPr sz="1350" b="0">
                <a:solidFill>
                  <a:srgbClr val="52656A"/>
                </a:solidFill>
                <a:latin typeface="Arial"/>
                <a:ea typeface="Arial"/>
                <a:cs typeface="Arial"/>
              </a:defRPr>
            </a:defPPr>
          </a:lstStyle>
          <a:p>
            <a:pPr>
              <a:defRPr sz="1350" b="0">
                <a:solidFill>
                  <a:srgbClr val="52656A"/>
                </a:solidFill>
                <a:latin typeface="Arial"/>
                <a:ea typeface="Arial"/>
                <a:cs typeface="Arial"/>
              </a:defRPr>
            </a:pPr>
            <a:r>
              <a:rPr sz="1350" b="0">
                <a:solidFill>
                  <a:srgbClr val="52656A"/>
                </a:solidFill>
                <a:latin typeface="Arial"/>
                <a:ea typeface="Arial"/>
                <a:cs typeface="Arial"/>
              </a:rPr>
              <a:t>14</a:t>
            </a:r>
          </a:p>
        </p:txBody>
      </p:sp>
      <p:sp>
        <p:nvSpPr>
          <p:cNvPr id="3" name="obj-110">
            <a:extLst>
              <a:ext uri="{FF2B5EF4-FFF2-40B4-BE49-F238E27FC236}">
                <a16:creationId xmlns:a16="http://schemas.microsoft.com/office/drawing/2014/main" id="{BE00651F-3F71-478B-BE5D-09C3F3357FF3}"/>
              </a:ext>
            </a:extLst>
          </p:cNvPr>
          <p:cNvSpPr>
            <a:spLocks noGrp="1"/>
          </p:cNvSpPr>
          <p:nvPr/>
        </p:nvSpPr>
        <p:spPr>
          <a:xfrm>
            <a:off x="2714625" y="1171575"/>
            <a:ext cx="2381250" cy="400050"/>
          </a:xfrm>
          <a:prstGeom prst="rect">
            <a:avLst/>
          </a:prstGeom>
          <a:noFill/>
          <a:ln w="0">
            <a:noFill/>
            <a:prstDash val="solid"/>
          </a:ln>
        </p:spPr>
        <p:txBody>
          <a:bodyPr wrap="square" lIns="0" tIns="0" rIns="0" bIns="0">
            <a:noAutofit/>
          </a:bodyPr>
          <a:lstStyle>
            <a:defPPr>
              <a:defRPr sz="2175" b="1">
                <a:solidFill>
                  <a:srgbClr val="087E86"/>
                </a:solidFill>
                <a:latin typeface="Arial"/>
                <a:ea typeface="Arial"/>
                <a:cs typeface="Arial"/>
              </a:defRPr>
            </a:defPPr>
          </a:lstStyle>
          <a:p>
            <a:pPr>
              <a:defRPr sz="2175" b="1">
                <a:solidFill>
                  <a:srgbClr val="087E86"/>
                </a:solidFill>
                <a:latin typeface="Arial"/>
                <a:ea typeface="Arial"/>
                <a:cs typeface="Arial"/>
              </a:defRPr>
            </a:pPr>
            <a:r>
              <a:rPr sz="2175" b="1">
                <a:solidFill>
                  <a:srgbClr val="087E86"/>
                </a:solidFill>
                <a:latin typeface="Arial"/>
                <a:ea typeface="Arial"/>
                <a:cs typeface="Arial"/>
              </a:rPr>
              <a:t>Tiempo t</a:t>
            </a:r>
          </a:p>
        </p:txBody>
      </p:sp>
      <p:sp>
        <p:nvSpPr>
          <p:cNvPr id="4" name="obj-111">
            <a:extLst>
              <a:ext uri="{FF2B5EF4-FFF2-40B4-BE49-F238E27FC236}">
                <a16:creationId xmlns:a16="http://schemas.microsoft.com/office/drawing/2014/main" id="{74F1A442-4D31-4646-B4B4-4005C9BE0E71}"/>
              </a:ext>
            </a:extLst>
          </p:cNvPr>
          <p:cNvSpPr>
            <a:spLocks noGrp="1"/>
          </p:cNvSpPr>
          <p:nvPr/>
        </p:nvSpPr>
        <p:spPr>
          <a:xfrm>
            <a:off x="7800975" y="1171575"/>
            <a:ext cx="2857500" cy="400050"/>
          </a:xfrm>
          <a:prstGeom prst="rect">
            <a:avLst/>
          </a:prstGeom>
          <a:noFill/>
          <a:ln w="0">
            <a:noFill/>
            <a:prstDash val="solid"/>
          </a:ln>
        </p:spPr>
        <p:txBody>
          <a:bodyPr wrap="square" lIns="0" tIns="0" rIns="0" bIns="0">
            <a:noAutofit/>
          </a:bodyPr>
          <a:lstStyle>
            <a:defPPr>
              <a:defRPr sz="2175" b="1">
                <a:solidFill>
                  <a:srgbClr val="087E86"/>
                </a:solidFill>
                <a:latin typeface="Arial"/>
                <a:ea typeface="Arial"/>
                <a:cs typeface="Arial"/>
              </a:defRPr>
            </a:defPPr>
          </a:lstStyle>
          <a:p>
            <a:pPr>
              <a:defRPr sz="2175" b="1">
                <a:solidFill>
                  <a:srgbClr val="087E86"/>
                </a:solidFill>
                <a:latin typeface="Arial"/>
                <a:ea typeface="Arial"/>
                <a:cs typeface="Arial"/>
              </a:defRPr>
            </a:pPr>
            <a:r>
              <a:rPr sz="2175" b="1">
                <a:solidFill>
                  <a:srgbClr val="087E86"/>
                </a:solidFill>
                <a:latin typeface="Arial"/>
                <a:ea typeface="Arial"/>
                <a:cs typeface="Arial"/>
              </a:rPr>
              <a:t>Tiempo t + 1</a:t>
            </a:r>
          </a:p>
        </p:txBody>
      </p:sp>
      <p:sp>
        <p:nvSpPr>
          <p:cNvPr id="5" name="obj-112">
            <a:extLst>
              <a:ext uri="{FF2B5EF4-FFF2-40B4-BE49-F238E27FC236}">
                <a16:creationId xmlns:a16="http://schemas.microsoft.com/office/drawing/2014/main" id="{5470325C-9C1F-44E9-92FA-C84D6FAA340B}"/>
              </a:ext>
            </a:extLst>
          </p:cNvPr>
          <p:cNvSpPr>
            <a:spLocks noGrp="1"/>
          </p:cNvSpPr>
          <p:nvPr/>
        </p:nvSpPr>
        <p:spPr>
          <a:xfrm>
            <a:off x="3000375" y="1552575"/>
            <a:ext cx="666750" cy="666750"/>
          </a:xfrm>
          <a:prstGeom prst="ellipse">
            <a:avLst/>
          </a:prstGeom>
          <a:solidFill>
            <a:srgbClr val="FFFFFF"/>
          </a:solidFill>
          <a:ln w="28575">
            <a:solidFill>
              <a:srgbClr val="AA6717"/>
            </a:solidFill>
            <a:prstDash val="solid"/>
          </a:ln>
        </p:spPr>
        <p:txBody>
          <a:bodyPr lIns="0" tIns="0" rIns="0" bIns="0" anchor="ctr"/>
          <a:lstStyle>
            <a:defPPr algn="ctr">
              <a:defRPr sz="1800" b="1">
                <a:solidFill>
                  <a:srgbClr val="AA6717"/>
                </a:solidFill>
                <a:latin typeface="Arial"/>
                <a:ea typeface="Arial"/>
                <a:cs typeface="Arial"/>
              </a:defRPr>
            </a:defPPr>
          </a:lstStyle>
          <a:p>
            <a:pPr algn="ctr">
              <a:defRPr sz="1800" b="1">
                <a:solidFill>
                  <a:srgbClr val="AA6717"/>
                </a:solidFill>
                <a:latin typeface="Arial"/>
                <a:ea typeface="Arial"/>
                <a:cs typeface="Arial"/>
              </a:defRPr>
            </a:pPr>
            <a:r>
              <a:rPr sz="1800" b="1">
                <a:solidFill>
                  <a:srgbClr val="AA6717"/>
                </a:solidFill>
                <a:latin typeface="Arial"/>
                <a:ea typeface="Arial"/>
                <a:cs typeface="Arial"/>
              </a:rPr>
              <a:t>Vₜ</a:t>
            </a:r>
          </a:p>
        </p:txBody>
      </p:sp>
      <p:sp>
        <p:nvSpPr>
          <p:cNvPr id="6" name="obj-113">
            <a:extLst>
              <a:ext uri="{FF2B5EF4-FFF2-40B4-BE49-F238E27FC236}">
                <a16:creationId xmlns:a16="http://schemas.microsoft.com/office/drawing/2014/main" id="{12EB4405-45B9-454F-8EC5-64438E5AE750}"/>
              </a:ext>
            </a:extLst>
          </p:cNvPr>
          <p:cNvSpPr>
            <a:spLocks noGrp="1"/>
          </p:cNvSpPr>
          <p:nvPr/>
        </p:nvSpPr>
        <p:spPr>
          <a:xfrm>
            <a:off x="3000375" y="2352675"/>
            <a:ext cx="666750" cy="666750"/>
          </a:xfrm>
          <a:prstGeom prst="ellipse">
            <a:avLst/>
          </a:prstGeom>
          <a:solidFill>
            <a:srgbClr val="FFFFFF"/>
          </a:solidFill>
          <a:ln w="28575">
            <a:solidFill>
              <a:srgbClr val="087E86"/>
            </a:solidFill>
            <a:prstDash val="solid"/>
          </a:ln>
        </p:spPr>
        <p:txBody>
          <a:bodyPr lIns="0" tIns="0" rIns="0" bIns="0" anchor="ctr"/>
          <a:lstStyle>
            <a:defPPr algn="ctr">
              <a:defRPr sz="1800" b="1">
                <a:solidFill>
                  <a:srgbClr val="087E86"/>
                </a:solidFill>
                <a:latin typeface="Arial"/>
                <a:ea typeface="Arial"/>
                <a:cs typeface="Arial"/>
              </a:defRPr>
            </a:defPPr>
          </a:lstStyle>
          <a:p>
            <a:pPr algn="ctr">
              <a:defRPr sz="1800" b="1">
                <a:solidFill>
                  <a:srgbClr val="087E86"/>
                </a:solidFill>
                <a:latin typeface="Arial"/>
                <a:ea typeface="Arial"/>
                <a:cs typeface="Arial"/>
              </a:defRPr>
            </a:pPr>
            <a:r>
              <a:rPr sz="1800" b="1">
                <a:solidFill>
                  <a:srgbClr val="087E86"/>
                </a:solidFill>
                <a:latin typeface="Arial"/>
                <a:ea typeface="Arial"/>
                <a:cs typeface="Arial"/>
              </a:rPr>
              <a:t>Sₜ</a:t>
            </a:r>
          </a:p>
        </p:txBody>
      </p:sp>
      <p:sp>
        <p:nvSpPr>
          <p:cNvPr id="7" name="obj-114">
            <a:extLst>
              <a:ext uri="{FF2B5EF4-FFF2-40B4-BE49-F238E27FC236}">
                <a16:creationId xmlns:a16="http://schemas.microsoft.com/office/drawing/2014/main" id="{F3332B82-896B-4238-9619-CC944E466043}"/>
              </a:ext>
            </a:extLst>
          </p:cNvPr>
          <p:cNvSpPr>
            <a:spLocks noGrp="1"/>
          </p:cNvSpPr>
          <p:nvPr/>
        </p:nvSpPr>
        <p:spPr>
          <a:xfrm>
            <a:off x="8239125" y="1552575"/>
            <a:ext cx="666750" cy="666750"/>
          </a:xfrm>
          <a:prstGeom prst="ellipse">
            <a:avLst/>
          </a:prstGeom>
          <a:solidFill>
            <a:srgbClr val="FFFFFF"/>
          </a:solidFill>
          <a:ln w="28575">
            <a:solidFill>
              <a:srgbClr val="AA6717"/>
            </a:solidFill>
            <a:prstDash val="solid"/>
          </a:ln>
        </p:spPr>
        <p:txBody>
          <a:bodyPr lIns="0" tIns="0" rIns="0" bIns="0" anchor="ctr"/>
          <a:lstStyle>
            <a:defPPr algn="ctr">
              <a:defRPr sz="1800" b="1">
                <a:solidFill>
                  <a:srgbClr val="AA6717"/>
                </a:solidFill>
                <a:latin typeface="Arial"/>
                <a:ea typeface="Arial"/>
                <a:cs typeface="Arial"/>
              </a:defRPr>
            </a:defPPr>
          </a:lstStyle>
          <a:p>
            <a:pPr algn="ctr">
              <a:defRPr sz="1800" b="1">
                <a:solidFill>
                  <a:srgbClr val="AA6717"/>
                </a:solidFill>
                <a:latin typeface="Arial"/>
                <a:ea typeface="Arial"/>
                <a:cs typeface="Arial"/>
              </a:defRPr>
            </a:pPr>
            <a:r>
              <a:rPr sz="1800" b="1">
                <a:solidFill>
                  <a:srgbClr val="AA6717"/>
                </a:solidFill>
                <a:latin typeface="Arial"/>
                <a:ea typeface="Arial"/>
                <a:cs typeface="Arial"/>
              </a:rPr>
              <a:t>Vₜ₊₁</a:t>
            </a:r>
          </a:p>
        </p:txBody>
      </p:sp>
      <p:sp>
        <p:nvSpPr>
          <p:cNvPr id="8" name="obj-115">
            <a:extLst>
              <a:ext uri="{FF2B5EF4-FFF2-40B4-BE49-F238E27FC236}">
                <a16:creationId xmlns:a16="http://schemas.microsoft.com/office/drawing/2014/main" id="{6CC208C4-B116-4A4C-B18F-1C7160659356}"/>
              </a:ext>
            </a:extLst>
          </p:cNvPr>
          <p:cNvSpPr>
            <a:spLocks noGrp="1"/>
          </p:cNvSpPr>
          <p:nvPr/>
        </p:nvSpPr>
        <p:spPr>
          <a:xfrm>
            <a:off x="8239125" y="2352675"/>
            <a:ext cx="666750" cy="666750"/>
          </a:xfrm>
          <a:prstGeom prst="ellipse">
            <a:avLst/>
          </a:prstGeom>
          <a:solidFill>
            <a:srgbClr val="FFFFFF"/>
          </a:solidFill>
          <a:ln w="28575">
            <a:solidFill>
              <a:srgbClr val="087E86"/>
            </a:solidFill>
            <a:prstDash val="solid"/>
          </a:ln>
        </p:spPr>
        <p:txBody>
          <a:bodyPr lIns="0" tIns="0" rIns="0" bIns="0" anchor="ctr"/>
          <a:lstStyle>
            <a:defPPr algn="ctr">
              <a:defRPr sz="1800" b="1">
                <a:solidFill>
                  <a:srgbClr val="087E86"/>
                </a:solidFill>
                <a:latin typeface="Arial"/>
                <a:ea typeface="Arial"/>
                <a:cs typeface="Arial"/>
              </a:defRPr>
            </a:defPPr>
          </a:lstStyle>
          <a:p>
            <a:pPr algn="ctr">
              <a:defRPr sz="1800" b="1">
                <a:solidFill>
                  <a:srgbClr val="087E86"/>
                </a:solidFill>
                <a:latin typeface="Arial"/>
                <a:ea typeface="Arial"/>
                <a:cs typeface="Arial"/>
              </a:defRPr>
            </a:pPr>
            <a:r>
              <a:rPr sz="1800" b="1">
                <a:solidFill>
                  <a:srgbClr val="087E86"/>
                </a:solidFill>
                <a:latin typeface="Arial"/>
                <a:ea typeface="Arial"/>
                <a:cs typeface="Arial"/>
              </a:rPr>
              <a:t>Sₜ₊₁</a:t>
            </a:r>
          </a:p>
        </p:txBody>
      </p:sp>
      <p:sp>
        <p:nvSpPr>
          <p:cNvPr id="11" name="obj-116">
            <a:extLst>
              <a:ext uri="{FF2B5EF4-FFF2-40B4-BE49-F238E27FC236}">
                <a16:creationId xmlns:a16="http://schemas.microsoft.com/office/drawing/2014/main" id="{23B045F7-E45D-4B9A-A397-31B63146E062}"/>
              </a:ext>
            </a:extLst>
          </p:cNvPr>
          <p:cNvSpPr>
            <a:spLocks noGrp="1"/>
          </p:cNvSpPr>
          <p:nvPr/>
        </p:nvSpPr>
        <p:spPr>
          <a:xfrm>
            <a:off x="609600" y="1685925"/>
            <a:ext cx="2286000" cy="342900"/>
          </a:xfrm>
          <a:prstGeom prst="rect">
            <a:avLst/>
          </a:prstGeom>
          <a:noFill/>
          <a:ln w="0">
            <a:noFill/>
            <a:prstDash val="solid"/>
          </a:ln>
        </p:spPr>
        <p:txBody>
          <a:bodyPr wrap="square" lIns="0" tIns="0" rIns="0" bIns="0">
            <a:noAutofit/>
          </a:bodyPr>
          <a:lstStyle>
            <a:defPPr>
              <a:defRPr sz="1950" b="0">
                <a:solidFill>
                  <a:srgbClr val="AA6717"/>
                </a:solidFill>
                <a:latin typeface="Arial"/>
                <a:ea typeface="Arial"/>
                <a:cs typeface="Arial"/>
              </a:defRPr>
            </a:defPPr>
          </a:lstStyle>
          <a:p>
            <a:pPr>
              <a:defRPr sz="1950" b="0">
                <a:solidFill>
                  <a:srgbClr val="AA6717"/>
                </a:solidFill>
                <a:latin typeface="Arial"/>
                <a:ea typeface="Arial"/>
                <a:cs typeface="Arial"/>
              </a:defRPr>
            </a:pPr>
            <a:r>
              <a:rPr sz="1950" b="0">
                <a:solidFill>
                  <a:srgbClr val="AA6717"/>
                </a:solidFill>
                <a:latin typeface="Arial"/>
                <a:ea typeface="Arial"/>
                <a:cs typeface="Arial"/>
              </a:rPr>
              <a:t>Vegetación</a:t>
            </a:r>
          </a:p>
        </p:txBody>
      </p:sp>
      <p:sp>
        <p:nvSpPr>
          <p:cNvPr id="12" name="obj-117">
            <a:extLst>
              <a:ext uri="{FF2B5EF4-FFF2-40B4-BE49-F238E27FC236}">
                <a16:creationId xmlns:a16="http://schemas.microsoft.com/office/drawing/2014/main" id="{B4AF479C-40D8-4D45-9BF8-38578FDD045B}"/>
              </a:ext>
            </a:extLst>
          </p:cNvPr>
          <p:cNvSpPr>
            <a:spLocks noGrp="1"/>
          </p:cNvSpPr>
          <p:nvPr/>
        </p:nvSpPr>
        <p:spPr>
          <a:xfrm>
            <a:off x="609600" y="2447925"/>
            <a:ext cx="2476500" cy="666750"/>
          </a:xfrm>
          <a:prstGeom prst="rect">
            <a:avLst/>
          </a:prstGeom>
          <a:noFill/>
          <a:ln w="0">
            <a:noFill/>
            <a:prstDash val="solid"/>
          </a:ln>
        </p:spPr>
        <p:txBody>
          <a:bodyPr wrap="square" lIns="0" tIns="0" rIns="0" bIns="0">
            <a:noAutofit/>
          </a:bodyPr>
          <a:lstStyle>
            <a:defPPr>
              <a:defRPr sz="1950" b="0">
                <a:solidFill>
                  <a:srgbClr val="087E86"/>
                </a:solidFill>
                <a:latin typeface="Arial"/>
                <a:ea typeface="Arial"/>
                <a:cs typeface="Arial"/>
              </a:defRPr>
            </a:defPPr>
          </a:lstStyle>
          <a:p>
            <a:pPr>
              <a:defRPr sz="1950" b="0">
                <a:solidFill>
                  <a:srgbClr val="087E86"/>
                </a:solidFill>
                <a:latin typeface="Arial"/>
                <a:ea typeface="Arial"/>
                <a:cs typeface="Arial"/>
              </a:defRPr>
            </a:pPr>
            <a:r>
              <a:rPr sz="1950" b="0">
                <a:solidFill>
                  <a:srgbClr val="087E86"/>
                </a:solidFill>
                <a:latin typeface="Arial"/>
                <a:ea typeface="Arial"/>
                <a:cs typeface="Arial"/>
              </a:rPr>
              <a:t>Humedad del suelo</a:t>
            </a:r>
          </a:p>
        </p:txBody>
      </p:sp>
      <p:sp>
        <p:nvSpPr>
          <p:cNvPr id="13" name="obj-118">
            <a:extLst>
              <a:ext uri="{FF2B5EF4-FFF2-40B4-BE49-F238E27FC236}">
                <a16:creationId xmlns:a16="http://schemas.microsoft.com/office/drawing/2014/main" id="{968E5DF1-511A-4239-8190-3274B0C7FA43}"/>
              </a:ext>
            </a:extLst>
          </p:cNvPr>
          <p:cNvSpPr>
            <a:spLocks noGrp="1"/>
          </p:cNvSpPr>
          <p:nvPr/>
        </p:nvSpPr>
        <p:spPr>
          <a:xfrm>
            <a:off x="9324975" y="1685925"/>
            <a:ext cx="2257425" cy="342900"/>
          </a:xfrm>
          <a:prstGeom prst="rect">
            <a:avLst/>
          </a:prstGeom>
          <a:noFill/>
          <a:ln w="0">
            <a:noFill/>
            <a:prstDash val="solid"/>
          </a:ln>
        </p:spPr>
        <p:txBody>
          <a:bodyPr wrap="square" lIns="0" tIns="0" rIns="0" bIns="0">
            <a:noAutofit/>
          </a:bodyPr>
          <a:lstStyle>
            <a:defPPr>
              <a:defRPr sz="1950" b="0">
                <a:solidFill>
                  <a:srgbClr val="AA6717"/>
                </a:solidFill>
                <a:latin typeface="Arial"/>
                <a:ea typeface="Arial"/>
                <a:cs typeface="Arial"/>
              </a:defRPr>
            </a:defPPr>
          </a:lstStyle>
          <a:p>
            <a:pPr>
              <a:defRPr sz="1950" b="0">
                <a:solidFill>
                  <a:srgbClr val="AA6717"/>
                </a:solidFill>
                <a:latin typeface="Arial"/>
                <a:ea typeface="Arial"/>
                <a:cs typeface="Arial"/>
              </a:defRPr>
            </a:pPr>
            <a:r>
              <a:rPr sz="1950" b="0">
                <a:solidFill>
                  <a:srgbClr val="AA6717"/>
                </a:solidFill>
                <a:latin typeface="Arial"/>
                <a:ea typeface="Arial"/>
                <a:cs typeface="Arial"/>
              </a:rPr>
              <a:t>Vegetación</a:t>
            </a:r>
          </a:p>
        </p:txBody>
      </p:sp>
      <p:sp>
        <p:nvSpPr>
          <p:cNvPr id="14" name="obj-119">
            <a:extLst>
              <a:ext uri="{FF2B5EF4-FFF2-40B4-BE49-F238E27FC236}">
                <a16:creationId xmlns:a16="http://schemas.microsoft.com/office/drawing/2014/main" id="{C30320E9-4615-422F-A990-4B91DC66C4B2}"/>
              </a:ext>
            </a:extLst>
          </p:cNvPr>
          <p:cNvSpPr>
            <a:spLocks noGrp="1"/>
          </p:cNvSpPr>
          <p:nvPr/>
        </p:nvSpPr>
        <p:spPr>
          <a:xfrm>
            <a:off x="9324975" y="2352675"/>
            <a:ext cx="2257425" cy="704850"/>
          </a:xfrm>
          <a:prstGeom prst="rect">
            <a:avLst/>
          </a:prstGeom>
          <a:noFill/>
          <a:ln w="0">
            <a:noFill/>
            <a:prstDash val="solid"/>
          </a:ln>
        </p:spPr>
        <p:txBody>
          <a:bodyPr wrap="square" lIns="0" tIns="0" rIns="0" bIns="0">
            <a:noAutofit/>
          </a:bodyPr>
          <a:lstStyle>
            <a:defPPr>
              <a:defRPr sz="1950" b="0">
                <a:solidFill>
                  <a:srgbClr val="087E86"/>
                </a:solidFill>
                <a:latin typeface="Arial"/>
                <a:ea typeface="Arial"/>
                <a:cs typeface="Arial"/>
              </a:defRPr>
            </a:defPPr>
          </a:lstStyle>
          <a:p>
            <a:pPr>
              <a:defRPr sz="1950" b="0">
                <a:solidFill>
                  <a:srgbClr val="087E86"/>
                </a:solidFill>
                <a:latin typeface="Arial"/>
                <a:ea typeface="Arial"/>
                <a:cs typeface="Arial"/>
              </a:defRPr>
            </a:pPr>
            <a:r>
              <a:rPr sz="1950" b="0">
                <a:solidFill>
                  <a:srgbClr val="087E86"/>
                </a:solidFill>
                <a:latin typeface="Arial"/>
                <a:ea typeface="Arial"/>
                <a:cs typeface="Arial"/>
              </a:rPr>
              <a:t>Humedad</a:t>
            </a:r>
          </a:p>
          <a:p>
            <a:pPr>
              <a:defRPr sz="1950" b="0">
                <a:solidFill>
                  <a:srgbClr val="087E86"/>
                </a:solidFill>
                <a:latin typeface="Arial"/>
                <a:ea typeface="Arial"/>
                <a:cs typeface="Arial"/>
              </a:defRPr>
            </a:pPr>
            <a:r>
              <a:rPr sz="1950" b="0">
                <a:solidFill>
                  <a:srgbClr val="087E86"/>
                </a:solidFill>
                <a:latin typeface="Arial"/>
                <a:ea typeface="Arial"/>
                <a:cs typeface="Arial"/>
              </a:rPr>
              <a:t>del suelo</a:t>
            </a:r>
          </a:p>
        </p:txBody>
      </p:sp>
      <p:pic>
        <p:nvPicPr>
          <p:cNvPr id="15" name="Imagen 14">
            <a:extLst>
              <a:ext uri="{FF2B5EF4-FFF2-40B4-BE49-F238E27FC236}">
                <a16:creationId xmlns:a16="http://schemas.microsoft.com/office/drawing/2014/main" id="{5088F31F-496C-48EA-8704-393FD3BE7B9C}"/>
              </a:ext>
            </a:extLst>
          </p:cNvPr>
          <p:cNvPicPr>
            <a:picLocks noChangeAspect="1"/>
          </p:cNvPicPr>
          <p:nvPr/>
        </p:nvPicPr>
        <p:blipFill>
          <a:blip r:embed="rId3"/>
          <a:stretch/>
        </p:blipFill>
        <p:spPr>
          <a:xfrm>
            <a:off x="1524000" y="3143250"/>
            <a:ext cx="9144000" cy="3048000"/>
          </a:xfrm>
          <a:prstGeom prst="rect">
            <a:avLst/>
          </a:prstGeom>
        </p:spPr>
      </p:pic>
      <p:sp>
        <p:nvSpPr>
          <p:cNvPr id="16" name="obj-120">
            <a:extLst>
              <a:ext uri="{FF2B5EF4-FFF2-40B4-BE49-F238E27FC236}">
                <a16:creationId xmlns:a16="http://schemas.microsoft.com/office/drawing/2014/main" id="{D2A8E05B-D8CC-46B9-845B-4890A2CF8C4E}"/>
              </a:ext>
            </a:extLst>
          </p:cNvPr>
          <p:cNvSpPr>
            <a:spLocks noGrp="1"/>
          </p:cNvSpPr>
          <p:nvPr/>
        </p:nvSpPr>
        <p:spPr>
          <a:xfrm>
            <a:off x="609600" y="6353175"/>
            <a:ext cx="10477500" cy="304800"/>
          </a:xfrm>
          <a:prstGeom prst="rect">
            <a:avLst/>
          </a:prstGeom>
          <a:noFill/>
          <a:ln w="0">
            <a:noFill/>
            <a:prstDash val="solid"/>
          </a:ln>
        </p:spPr>
        <p:txBody>
          <a:bodyPr wrap="square" lIns="0" tIns="0" rIns="0" bIns="0">
            <a:noAutofit/>
          </a:bodyPr>
          <a:lstStyle>
            <a:defPPr>
              <a:defRPr sz="1650" b="0">
                <a:solidFill>
                  <a:srgbClr val="52656A"/>
                </a:solidFill>
                <a:latin typeface="Arial"/>
                <a:ea typeface="Arial"/>
                <a:cs typeface="Arial"/>
              </a:defRPr>
            </a:defPPr>
          </a:lstStyle>
          <a:p>
            <a:pPr>
              <a:defRPr sz="1650" b="0">
                <a:solidFill>
                  <a:srgbClr val="52656A"/>
                </a:solidFill>
                <a:latin typeface="Arial"/>
                <a:ea typeface="Arial"/>
                <a:cs typeface="Arial"/>
              </a:defRPr>
            </a:pPr>
            <a:r>
              <a:rPr sz="1650" b="0">
                <a:solidFill>
                  <a:srgbClr val="52656A"/>
                </a:solidFill>
                <a:latin typeface="Arial"/>
                <a:ea typeface="Arial"/>
                <a:cs typeface="Arial"/>
              </a:rPr>
              <a:t>Relaciones hipotéticas. El modelo requiere una distribución inicial y transiciones</a:t>
            </a:r>
          </a:p>
        </p:txBody>
      </p:sp>
    </p:spTree>
    <p:extLst>
      <p:ext uri="{BB962C8B-B14F-4D97-AF65-F5344CB8AC3E}">
        <p14:creationId xmlns:p14="http://schemas.microsoft.com/office/powerpoint/2010/main" val="5377689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8" name="obj-121">
            <a:extLst>
              <a:ext uri="{FF2B5EF4-FFF2-40B4-BE49-F238E27FC236}">
                <a16:creationId xmlns:a16="http://schemas.microsoft.com/office/drawing/2014/main" id="{398C1C7F-F47B-42C8-93FC-4AE1F266B3C3}"/>
              </a:ext>
            </a:extLst>
          </p:cNvPr>
          <p:cNvSpPr>
            <a:spLocks noGrp="1"/>
          </p:cNvSpPr>
          <p:nvPr/>
        </p:nvSpPr>
        <p:spPr>
          <a:xfrm>
            <a:off x="609600" y="381000"/>
            <a:ext cx="10953750" cy="762000"/>
          </a:xfrm>
          <a:prstGeom prst="rect">
            <a:avLst/>
          </a:prstGeom>
          <a:noFill/>
          <a:ln w="0">
            <a:noFill/>
            <a:prstDash val="solid"/>
          </a:ln>
        </p:spPr>
        <p:txBody>
          <a:bodyPr wrap="square" lIns="0" tIns="0" rIns="0" bIns="0">
            <a:noAutofit/>
          </a:bodyPr>
          <a:lstStyle>
            <a:defPPr>
              <a:defRPr sz="3300" b="1">
                <a:solidFill>
                  <a:srgbClr val="18343A"/>
                </a:solidFill>
                <a:latin typeface="Arial"/>
                <a:ea typeface="Arial"/>
                <a:cs typeface="Arial"/>
              </a:defRPr>
            </a:defPPr>
          </a:lstStyle>
          <a:p>
            <a:pPr>
              <a:defRPr sz="3300" b="1">
                <a:solidFill>
                  <a:srgbClr val="18343A"/>
                </a:solidFill>
                <a:latin typeface="Arial"/>
                <a:ea typeface="Arial"/>
                <a:cs typeface="Arial"/>
              </a:defRPr>
            </a:pPr>
            <a:r>
              <a:rPr sz="3300" b="1">
                <a:solidFill>
                  <a:srgbClr val="18343A"/>
                </a:solidFill>
                <a:latin typeface="Arial"/>
                <a:ea typeface="Arial"/>
                <a:cs typeface="Arial"/>
              </a:rPr>
              <a:t>El IIE operativo y las ampliaciones</a:t>
            </a:r>
          </a:p>
        </p:txBody>
      </p:sp>
      <p:sp>
        <p:nvSpPr>
          <p:cNvPr id="2" name="obj-122">
            <a:extLst>
              <a:ext uri="{FF2B5EF4-FFF2-40B4-BE49-F238E27FC236}">
                <a16:creationId xmlns:a16="http://schemas.microsoft.com/office/drawing/2014/main" id="{B73714FA-71F5-40B3-B3DB-63F3B9A37809}"/>
              </a:ext>
            </a:extLst>
          </p:cNvPr>
          <p:cNvSpPr>
            <a:spLocks noGrp="1"/>
          </p:cNvSpPr>
          <p:nvPr/>
        </p:nvSpPr>
        <p:spPr>
          <a:xfrm>
            <a:off x="11144250" y="6410325"/>
            <a:ext cx="428625" cy="247650"/>
          </a:xfrm>
          <a:prstGeom prst="rect">
            <a:avLst/>
          </a:prstGeom>
          <a:noFill/>
          <a:ln w="0">
            <a:noFill/>
            <a:prstDash val="solid"/>
          </a:ln>
        </p:spPr>
        <p:txBody>
          <a:bodyPr wrap="square" lIns="0" tIns="0" rIns="0" bIns="0">
            <a:noAutofit/>
          </a:bodyPr>
          <a:lstStyle>
            <a:defPPr>
              <a:defRPr sz="1350" b="0">
                <a:solidFill>
                  <a:srgbClr val="52656A"/>
                </a:solidFill>
                <a:latin typeface="Arial"/>
                <a:ea typeface="Arial"/>
                <a:cs typeface="Arial"/>
              </a:defRPr>
            </a:defPPr>
          </a:lstStyle>
          <a:p>
            <a:pPr>
              <a:defRPr sz="1350" b="0">
                <a:solidFill>
                  <a:srgbClr val="52656A"/>
                </a:solidFill>
                <a:latin typeface="Arial"/>
                <a:ea typeface="Arial"/>
                <a:cs typeface="Arial"/>
              </a:defRPr>
            </a:pPr>
            <a:r>
              <a:rPr sz="1350" b="0">
                <a:solidFill>
                  <a:srgbClr val="52656A"/>
                </a:solidFill>
                <a:latin typeface="Arial"/>
                <a:ea typeface="Arial"/>
                <a:cs typeface="Arial"/>
              </a:rPr>
              <a:t>15</a:t>
            </a:r>
          </a:p>
        </p:txBody>
      </p:sp>
      <p:sp>
        <p:nvSpPr>
          <p:cNvPr id="3" name="obj-123">
            <a:extLst>
              <a:ext uri="{FF2B5EF4-FFF2-40B4-BE49-F238E27FC236}">
                <a16:creationId xmlns:a16="http://schemas.microsoft.com/office/drawing/2014/main" id="{1F488BEB-0F39-4C57-8438-D4124E064B3B}"/>
              </a:ext>
            </a:extLst>
          </p:cNvPr>
          <p:cNvSpPr>
            <a:spLocks noGrp="1"/>
          </p:cNvSpPr>
          <p:nvPr/>
        </p:nvSpPr>
        <p:spPr>
          <a:xfrm>
            <a:off x="609600" y="1628775"/>
            <a:ext cx="4905375" cy="466725"/>
          </a:xfrm>
          <a:prstGeom prst="rect">
            <a:avLst/>
          </a:prstGeom>
          <a:noFill/>
          <a:ln w="0">
            <a:noFill/>
            <a:prstDash val="solid"/>
          </a:ln>
        </p:spPr>
        <p:txBody>
          <a:bodyPr wrap="square" lIns="0" tIns="0" rIns="0" bIns="0">
            <a:noAutofit/>
          </a:bodyPr>
          <a:lstStyle>
            <a:defPPr>
              <a:defRPr sz="2550" b="1">
                <a:solidFill>
                  <a:srgbClr val="18343A"/>
                </a:solidFill>
                <a:latin typeface="Arial"/>
                <a:ea typeface="Arial"/>
                <a:cs typeface="Arial"/>
              </a:defRPr>
            </a:defPPr>
          </a:lstStyle>
          <a:p>
            <a:pPr>
              <a:defRPr sz="2550" b="1">
                <a:solidFill>
                  <a:srgbClr val="18343A"/>
                </a:solidFill>
                <a:latin typeface="Arial"/>
                <a:ea typeface="Arial"/>
                <a:cs typeface="Arial"/>
              </a:defRPr>
            </a:pPr>
            <a:r>
              <a:rPr sz="2550" b="1">
                <a:solidFill>
                  <a:srgbClr val="18343A"/>
                </a:solidFill>
                <a:latin typeface="Arial"/>
                <a:ea typeface="Arial"/>
                <a:cs typeface="Arial"/>
              </a:rPr>
              <a:t>Trayectoria operativa</a:t>
            </a:r>
          </a:p>
        </p:txBody>
      </p:sp>
      <p:sp>
        <p:nvSpPr>
          <p:cNvPr id="4" name="obj-124">
            <a:extLst>
              <a:ext uri="{FF2B5EF4-FFF2-40B4-BE49-F238E27FC236}">
                <a16:creationId xmlns:a16="http://schemas.microsoft.com/office/drawing/2014/main" id="{5546FB6F-AB27-48CB-AE7B-7FC04F2CAC82}"/>
              </a:ext>
            </a:extLst>
          </p:cNvPr>
          <p:cNvSpPr>
            <a:spLocks noGrp="1"/>
          </p:cNvSpPr>
          <p:nvPr/>
        </p:nvSpPr>
        <p:spPr>
          <a:xfrm>
            <a:off x="609600" y="2428875"/>
            <a:ext cx="5143500" cy="1695450"/>
          </a:xfrm>
          <a:prstGeom prst="rect">
            <a:avLst/>
          </a:prstGeom>
          <a:noFill/>
          <a:ln w="0">
            <a:noFill/>
            <a:prstDash val="solid"/>
          </a:ln>
        </p:spPr>
        <p:txBody>
          <a:bodyPr wrap="square" lIns="0" tIns="0" rIns="0" bIns="0">
            <a:noAutofit/>
          </a:bodyPr>
          <a:lstStyle>
            <a:defPPr>
              <a:defRPr sz="2175" b="0">
                <a:solidFill>
                  <a:srgbClr val="18343A"/>
                </a:solidFill>
                <a:latin typeface="Arial"/>
                <a:ea typeface="Arial"/>
                <a:cs typeface="Arial"/>
              </a:defRPr>
            </a:defPPr>
          </a:lstStyle>
          <a:p>
            <a:pPr>
              <a:defRPr sz="2175" b="0">
                <a:solidFill>
                  <a:srgbClr val="18343A"/>
                </a:solidFill>
                <a:latin typeface="Arial"/>
                <a:ea typeface="Arial"/>
                <a:cs typeface="Arial"/>
              </a:defRPr>
            </a:pPr>
            <a:r>
              <a:rPr sz="2175" b="0">
                <a:solidFill>
                  <a:srgbClr val="18343A"/>
                </a:solidFill>
                <a:latin typeface="Arial"/>
                <a:ea typeface="Arial"/>
                <a:cs typeface="Arial"/>
              </a:rPr>
              <a:t>Anclaje experto imperfecto</a:t>
            </a:r>
          </a:p>
          <a:p>
            <a:pPr>
              <a:defRPr sz="2175" b="0">
                <a:solidFill>
                  <a:srgbClr val="18343A"/>
                </a:solidFill>
                <a:latin typeface="Arial"/>
                <a:ea typeface="Arial"/>
                <a:cs typeface="Arial"/>
              </a:defRPr>
            </a:pPr>
            <a:r>
              <a:rPr sz="2175" b="0">
                <a:solidFill>
                  <a:srgbClr val="18343A"/>
                </a:solidFill>
                <a:latin typeface="Arial"/>
                <a:ea typeface="Arial"/>
                <a:cs typeface="Arial"/>
              </a:rPr>
              <a:t>Dependencias entre indicadores</a:t>
            </a:r>
          </a:p>
          <a:p>
            <a:pPr>
              <a:defRPr sz="2175" b="0">
                <a:solidFill>
                  <a:srgbClr val="18343A"/>
                </a:solidFill>
                <a:latin typeface="Arial"/>
                <a:ea typeface="Arial"/>
                <a:cs typeface="Arial"/>
              </a:defRPr>
            </a:pPr>
            <a:r>
              <a:rPr sz="2175" b="0">
                <a:solidFill>
                  <a:srgbClr val="18343A"/>
                </a:solidFill>
                <a:latin typeface="Arial"/>
                <a:ea typeface="Arial"/>
                <a:cs typeface="Arial"/>
              </a:rPr>
              <a:t>Síntesis de una condición integrada</a:t>
            </a:r>
          </a:p>
        </p:txBody>
      </p:sp>
      <p:sp>
        <p:nvSpPr>
          <p:cNvPr id="5" name="obj-125">
            <a:extLst>
              <a:ext uri="{FF2B5EF4-FFF2-40B4-BE49-F238E27FC236}">
                <a16:creationId xmlns:a16="http://schemas.microsoft.com/office/drawing/2014/main" id="{AC01D48F-DDBD-4E05-AF8B-F8C1B45254C4}"/>
              </a:ext>
            </a:extLst>
          </p:cNvPr>
          <p:cNvSpPr>
            <a:spLocks noGrp="1"/>
          </p:cNvSpPr>
          <p:nvPr/>
        </p:nvSpPr>
        <p:spPr>
          <a:xfrm>
            <a:off x="6619875" y="1628775"/>
            <a:ext cx="4914900" cy="857250"/>
          </a:xfrm>
          <a:prstGeom prst="rect">
            <a:avLst/>
          </a:prstGeom>
          <a:noFill/>
          <a:ln w="0">
            <a:noFill/>
            <a:prstDash val="solid"/>
          </a:ln>
        </p:spPr>
        <p:txBody>
          <a:bodyPr wrap="square" lIns="0" tIns="0" rIns="0" bIns="0">
            <a:noAutofit/>
          </a:bodyPr>
          <a:lstStyle>
            <a:defPPr>
              <a:defRPr sz="2550" b="1">
                <a:solidFill>
                  <a:srgbClr val="73528C"/>
                </a:solidFill>
                <a:latin typeface="Arial"/>
                <a:ea typeface="Arial"/>
                <a:cs typeface="Arial"/>
              </a:defRPr>
            </a:defPPr>
          </a:lstStyle>
          <a:p>
            <a:pPr>
              <a:defRPr sz="2550" b="1">
                <a:solidFill>
                  <a:srgbClr val="73528C"/>
                </a:solidFill>
                <a:latin typeface="Arial"/>
                <a:ea typeface="Arial"/>
                <a:cs typeface="Arial"/>
              </a:defRPr>
            </a:pPr>
            <a:r>
              <a:rPr sz="2550" b="1">
                <a:solidFill>
                  <a:srgbClr val="73528C"/>
                </a:solidFill>
                <a:latin typeface="Arial"/>
                <a:ea typeface="Arial"/>
                <a:cs typeface="Arial"/>
              </a:rPr>
              <a:t>Ampliaciones por explorar</a:t>
            </a:r>
          </a:p>
        </p:txBody>
      </p:sp>
      <p:sp>
        <p:nvSpPr>
          <p:cNvPr id="6" name="obj-126">
            <a:extLst>
              <a:ext uri="{FF2B5EF4-FFF2-40B4-BE49-F238E27FC236}">
                <a16:creationId xmlns:a16="http://schemas.microsoft.com/office/drawing/2014/main" id="{BAEA4AF7-9CCE-42DA-BBC5-91C41F910C77}"/>
              </a:ext>
            </a:extLst>
          </p:cNvPr>
          <p:cNvSpPr>
            <a:spLocks noGrp="1"/>
          </p:cNvSpPr>
          <p:nvPr/>
        </p:nvSpPr>
        <p:spPr>
          <a:xfrm>
            <a:off x="6619875" y="2686050"/>
            <a:ext cx="4857750" cy="1514475"/>
          </a:xfrm>
          <a:prstGeom prst="rect">
            <a:avLst/>
          </a:prstGeom>
          <a:noFill/>
          <a:ln w="0">
            <a:noFill/>
            <a:prstDash val="solid"/>
          </a:ln>
        </p:spPr>
        <p:txBody>
          <a:bodyPr wrap="square" lIns="0" tIns="0" rIns="0" bIns="0">
            <a:noAutofit/>
          </a:bodyPr>
          <a:lstStyle>
            <a:defPPr>
              <a:defRPr sz="2175" b="0">
                <a:solidFill>
                  <a:srgbClr val="18343A"/>
                </a:solidFill>
                <a:latin typeface="Arial"/>
                <a:ea typeface="Arial"/>
                <a:cs typeface="Arial"/>
              </a:defRPr>
            </a:defPPr>
          </a:lstStyle>
          <a:p>
            <a:pPr>
              <a:defRPr sz="2175" b="0">
                <a:solidFill>
                  <a:srgbClr val="18343A"/>
                </a:solidFill>
                <a:latin typeface="Arial"/>
                <a:ea typeface="Arial"/>
                <a:cs typeface="Arial"/>
              </a:defRPr>
            </a:pPr>
            <a:r>
              <a:rPr sz="2175" b="0">
                <a:solidFill>
                  <a:srgbClr val="18343A"/>
                </a:solidFill>
                <a:latin typeface="Arial"/>
                <a:ea typeface="Arial"/>
                <a:cs typeface="Arial"/>
              </a:rPr>
              <a:t>Dimensiones de condición</a:t>
            </a:r>
          </a:p>
          <a:p>
            <a:pPr>
              <a:defRPr sz="2175" b="0">
                <a:solidFill>
                  <a:srgbClr val="18343A"/>
                </a:solidFill>
                <a:latin typeface="Arial"/>
                <a:ea typeface="Arial"/>
                <a:cs typeface="Arial"/>
              </a:defRPr>
            </a:pPr>
            <a:r>
              <a:rPr sz="2175" b="0">
                <a:solidFill>
                  <a:srgbClr val="18343A"/>
                </a:solidFill>
                <a:latin typeface="Arial"/>
                <a:ea typeface="Arial"/>
                <a:cs typeface="Arial"/>
              </a:rPr>
              <a:t>Servicios y beneficios</a:t>
            </a:r>
          </a:p>
          <a:p>
            <a:pPr>
              <a:defRPr sz="2175" b="0">
                <a:solidFill>
                  <a:srgbClr val="18343A"/>
                </a:solidFill>
                <a:latin typeface="Arial"/>
                <a:ea typeface="Arial"/>
                <a:cs typeface="Arial"/>
              </a:defRPr>
            </a:pPr>
            <a:r>
              <a:rPr sz="2175" b="0">
                <a:solidFill>
                  <a:srgbClr val="18343A"/>
                </a:solidFill>
                <a:latin typeface="Arial"/>
                <a:ea typeface="Arial"/>
                <a:cs typeface="Arial"/>
              </a:rPr>
              <a:t>Dinámica temporal</a:t>
            </a:r>
          </a:p>
        </p:txBody>
      </p:sp>
      <p:sp>
        <p:nvSpPr>
          <p:cNvPr id="7" name="obj-127">
            <a:extLst>
              <a:ext uri="{FF2B5EF4-FFF2-40B4-BE49-F238E27FC236}">
                <a16:creationId xmlns:a16="http://schemas.microsoft.com/office/drawing/2014/main" id="{3F3DA2A8-64B0-48E1-A000-BFE85D9A9770}"/>
              </a:ext>
            </a:extLst>
          </p:cNvPr>
          <p:cNvSpPr>
            <a:spLocks noGrp="1"/>
          </p:cNvSpPr>
          <p:nvPr/>
        </p:nvSpPr>
        <p:spPr>
          <a:xfrm>
            <a:off x="609600" y="4962525"/>
            <a:ext cx="10668000" cy="971550"/>
          </a:xfrm>
          <a:prstGeom prst="rect">
            <a:avLst/>
          </a:prstGeom>
          <a:noFill/>
          <a:ln w="0">
            <a:noFill/>
            <a:prstDash val="solid"/>
          </a:ln>
        </p:spPr>
        <p:txBody>
          <a:bodyPr wrap="square" lIns="0" tIns="0" rIns="0" bIns="0">
            <a:noAutofit/>
          </a:bodyPr>
          <a:lstStyle>
            <a:defPPr>
              <a:defRPr sz="2775" b="1">
                <a:solidFill>
                  <a:srgbClr val="18343A"/>
                </a:solidFill>
                <a:latin typeface="Arial"/>
                <a:ea typeface="Arial"/>
                <a:cs typeface="Arial"/>
              </a:defRPr>
            </a:defPPr>
          </a:lstStyle>
          <a:p>
            <a:pPr>
              <a:defRPr sz="2775" b="1">
                <a:solidFill>
                  <a:srgbClr val="18343A"/>
                </a:solidFill>
                <a:latin typeface="Arial"/>
                <a:ea typeface="Arial"/>
                <a:cs typeface="Arial"/>
              </a:defRPr>
            </a:pPr>
            <a:r>
              <a:rPr sz="2775" b="1">
                <a:solidFill>
                  <a:srgbClr val="18343A"/>
                </a:solidFill>
                <a:latin typeface="Arial"/>
                <a:ea typeface="Arial"/>
                <a:cs typeface="Arial"/>
              </a:rPr>
              <a:t>Cada producto necesita una definición</a:t>
            </a:r>
          </a:p>
          <a:p>
            <a:pPr>
              <a:defRPr sz="2775" b="1">
                <a:solidFill>
                  <a:srgbClr val="18343A"/>
                </a:solidFill>
                <a:latin typeface="Arial"/>
                <a:ea typeface="Arial"/>
                <a:cs typeface="Arial"/>
              </a:defRPr>
            </a:pPr>
            <a:r>
              <a:rPr sz="2775" b="1">
                <a:solidFill>
                  <a:srgbClr val="18343A"/>
                </a:solidFill>
                <a:latin typeface="Arial"/>
                <a:ea typeface="Arial"/>
                <a:cs typeface="Arial"/>
              </a:rPr>
              <a:t>y evidencia para sostener su interpretación</a:t>
            </a:r>
          </a:p>
        </p:txBody>
      </p:sp>
    </p:spTree>
    <p:extLst>
      <p:ext uri="{BB962C8B-B14F-4D97-AF65-F5344CB8AC3E}">
        <p14:creationId xmlns:p14="http://schemas.microsoft.com/office/powerpoint/2010/main" val="15806104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8" name="obj-128">
            <a:extLst>
              <a:ext uri="{FF2B5EF4-FFF2-40B4-BE49-F238E27FC236}">
                <a16:creationId xmlns:a16="http://schemas.microsoft.com/office/drawing/2014/main" id="{56AE6C17-94D7-4287-ACFE-1D2A1E3FBCF4}"/>
              </a:ext>
            </a:extLst>
          </p:cNvPr>
          <p:cNvSpPr>
            <a:spLocks noGrp="1"/>
          </p:cNvSpPr>
          <p:nvPr/>
        </p:nvSpPr>
        <p:spPr>
          <a:xfrm>
            <a:off x="609600" y="381000"/>
            <a:ext cx="10953750" cy="762000"/>
          </a:xfrm>
          <a:prstGeom prst="rect">
            <a:avLst/>
          </a:prstGeom>
          <a:noFill/>
          <a:ln w="0">
            <a:noFill/>
            <a:prstDash val="solid"/>
          </a:ln>
        </p:spPr>
        <p:txBody>
          <a:bodyPr wrap="square" lIns="0" tIns="0" rIns="0" bIns="0">
            <a:noAutofit/>
          </a:bodyPr>
          <a:lstStyle>
            <a:defPPr>
              <a:defRPr sz="3300" b="1">
                <a:solidFill>
                  <a:srgbClr val="18343A"/>
                </a:solidFill>
                <a:latin typeface="Arial"/>
                <a:ea typeface="Arial"/>
                <a:cs typeface="Arial"/>
              </a:defRPr>
            </a:defPPr>
          </a:lstStyle>
          <a:p>
            <a:pPr>
              <a:defRPr sz="3300" b="1">
                <a:solidFill>
                  <a:srgbClr val="18343A"/>
                </a:solidFill>
                <a:latin typeface="Arial"/>
                <a:ea typeface="Arial"/>
                <a:cs typeface="Arial"/>
              </a:defRPr>
            </a:pPr>
            <a:r>
              <a:rPr sz="3300" b="1">
                <a:solidFill>
                  <a:srgbClr val="18343A"/>
                </a:solidFill>
                <a:latin typeface="Arial"/>
                <a:ea typeface="Arial"/>
                <a:cs typeface="Arial"/>
              </a:rPr>
              <a:t>Una explicación para un nuevo sitio</a:t>
            </a:r>
          </a:p>
        </p:txBody>
      </p:sp>
      <p:sp>
        <p:nvSpPr>
          <p:cNvPr id="2" name="obj-129">
            <a:extLst>
              <a:ext uri="{FF2B5EF4-FFF2-40B4-BE49-F238E27FC236}">
                <a16:creationId xmlns:a16="http://schemas.microsoft.com/office/drawing/2014/main" id="{65141767-09CC-4E38-85BE-379B33749AA4}"/>
              </a:ext>
            </a:extLst>
          </p:cNvPr>
          <p:cNvSpPr>
            <a:spLocks noGrp="1"/>
          </p:cNvSpPr>
          <p:nvPr/>
        </p:nvSpPr>
        <p:spPr>
          <a:xfrm>
            <a:off x="11144250" y="6410325"/>
            <a:ext cx="428625" cy="247650"/>
          </a:xfrm>
          <a:prstGeom prst="rect">
            <a:avLst/>
          </a:prstGeom>
          <a:noFill/>
          <a:ln w="0">
            <a:noFill/>
            <a:prstDash val="solid"/>
          </a:ln>
        </p:spPr>
        <p:txBody>
          <a:bodyPr wrap="square" lIns="0" tIns="0" rIns="0" bIns="0">
            <a:noAutofit/>
          </a:bodyPr>
          <a:lstStyle>
            <a:defPPr>
              <a:defRPr sz="1350" b="0">
                <a:solidFill>
                  <a:srgbClr val="52656A"/>
                </a:solidFill>
                <a:latin typeface="Arial"/>
                <a:ea typeface="Arial"/>
                <a:cs typeface="Arial"/>
              </a:defRPr>
            </a:defPPr>
          </a:lstStyle>
          <a:p>
            <a:pPr>
              <a:defRPr sz="1350" b="0">
                <a:solidFill>
                  <a:srgbClr val="52656A"/>
                </a:solidFill>
                <a:latin typeface="Arial"/>
                <a:ea typeface="Arial"/>
                <a:cs typeface="Arial"/>
              </a:defRPr>
            </a:pPr>
            <a:r>
              <a:rPr sz="1350" b="0">
                <a:solidFill>
                  <a:srgbClr val="52656A"/>
                </a:solidFill>
                <a:latin typeface="Arial"/>
                <a:ea typeface="Arial"/>
                <a:cs typeface="Arial"/>
              </a:rPr>
              <a:t>16</a:t>
            </a:r>
          </a:p>
        </p:txBody>
      </p:sp>
      <p:sp>
        <p:nvSpPr>
          <p:cNvPr id="3" name="obj-130">
            <a:extLst>
              <a:ext uri="{FF2B5EF4-FFF2-40B4-BE49-F238E27FC236}">
                <a16:creationId xmlns:a16="http://schemas.microsoft.com/office/drawing/2014/main" id="{42B14E2E-5E83-4352-8441-66C2D8508B13}"/>
              </a:ext>
            </a:extLst>
          </p:cNvPr>
          <p:cNvSpPr>
            <a:spLocks noGrp="1"/>
          </p:cNvSpPr>
          <p:nvPr/>
        </p:nvSpPr>
        <p:spPr>
          <a:xfrm>
            <a:off x="609600" y="1495425"/>
            <a:ext cx="10477500" cy="990600"/>
          </a:xfrm>
          <a:prstGeom prst="rect">
            <a:avLst/>
          </a:prstGeom>
          <a:noFill/>
          <a:ln w="0">
            <a:noFill/>
            <a:prstDash val="solid"/>
          </a:ln>
        </p:spPr>
        <p:txBody>
          <a:bodyPr wrap="square" lIns="0" tIns="0" rIns="0" bIns="0">
            <a:noAutofit/>
          </a:bodyPr>
          <a:lstStyle>
            <a:defPPr>
              <a:defRPr sz="2850" b="1">
                <a:solidFill>
                  <a:srgbClr val="18343A"/>
                </a:solidFill>
                <a:latin typeface="Arial"/>
                <a:ea typeface="Arial"/>
                <a:cs typeface="Arial"/>
              </a:defRPr>
            </a:defPPr>
          </a:lstStyle>
          <a:p>
            <a:pPr>
              <a:defRPr sz="2850" b="1">
                <a:solidFill>
                  <a:srgbClr val="18343A"/>
                </a:solidFill>
                <a:latin typeface="Arial"/>
                <a:ea typeface="Arial"/>
                <a:cs typeface="Arial"/>
              </a:defRPr>
            </a:pPr>
            <a:r>
              <a:rPr sz="2850" b="1">
                <a:solidFill>
                  <a:srgbClr val="18343A"/>
                </a:solidFill>
                <a:latin typeface="Arial"/>
                <a:ea typeface="Arial"/>
                <a:cs typeface="Arial"/>
              </a:rPr>
              <a:t>Un nuevo bosque tiene la misma cobertura</a:t>
            </a:r>
          </a:p>
          <a:p>
            <a:pPr>
              <a:defRPr sz="2850" b="1">
                <a:solidFill>
                  <a:srgbClr val="18343A"/>
                </a:solidFill>
                <a:latin typeface="Arial"/>
                <a:ea typeface="Arial"/>
                <a:cs typeface="Arial"/>
              </a:defRPr>
            </a:pPr>
            <a:r>
              <a:rPr sz="2850" b="1">
                <a:solidFill>
                  <a:srgbClr val="18343A"/>
                </a:solidFill>
                <a:latin typeface="Arial"/>
                <a:ea typeface="Arial"/>
                <a:cs typeface="Arial"/>
              </a:rPr>
              <a:t>y pertenece al mismo contexto</a:t>
            </a:r>
          </a:p>
        </p:txBody>
      </p:sp>
      <p:sp>
        <p:nvSpPr>
          <p:cNvPr id="4" name="obj-131">
            <a:extLst>
              <a:ext uri="{FF2B5EF4-FFF2-40B4-BE49-F238E27FC236}">
                <a16:creationId xmlns:a16="http://schemas.microsoft.com/office/drawing/2014/main" id="{5BCA2197-6D61-4C49-9FD2-015C6470DAAB}"/>
              </a:ext>
            </a:extLst>
          </p:cNvPr>
          <p:cNvSpPr>
            <a:spLocks noGrp="1"/>
          </p:cNvSpPr>
          <p:nvPr/>
        </p:nvSpPr>
        <p:spPr>
          <a:xfrm>
            <a:off x="609600" y="3086100"/>
            <a:ext cx="10668000" cy="619125"/>
          </a:xfrm>
          <a:prstGeom prst="rect">
            <a:avLst/>
          </a:prstGeom>
          <a:noFill/>
          <a:ln w="0">
            <a:noFill/>
            <a:prstDash val="solid"/>
          </a:ln>
        </p:spPr>
        <p:txBody>
          <a:bodyPr wrap="square" lIns="0" tIns="0" rIns="0" bIns="0">
            <a:noAutofit/>
          </a:bodyPr>
          <a:lstStyle>
            <a:defPPr>
              <a:defRPr sz="2325" b="0">
                <a:solidFill>
                  <a:srgbClr val="18343A"/>
                </a:solidFill>
                <a:latin typeface="Arial"/>
                <a:ea typeface="Arial"/>
                <a:cs typeface="Arial"/>
              </a:defRPr>
            </a:defPPr>
          </a:lstStyle>
          <a:p>
            <a:pPr>
              <a:defRPr sz="2325" b="0">
                <a:solidFill>
                  <a:srgbClr val="18343A"/>
                </a:solidFill>
                <a:latin typeface="Arial"/>
                <a:ea typeface="Arial"/>
                <a:cs typeface="Arial"/>
              </a:defRPr>
            </a:pPr>
            <a:r>
              <a:rPr sz="2325" b="0">
                <a:solidFill>
                  <a:srgbClr val="18343A"/>
                </a:solidFill>
                <a:latin typeface="Arial"/>
                <a:ea typeface="Arial"/>
                <a:cs typeface="Arial"/>
              </a:rPr>
              <a:t>1   ¿Qué observarías antes de emitir un diagnóstico?</a:t>
            </a:r>
          </a:p>
        </p:txBody>
      </p:sp>
      <p:sp>
        <p:nvSpPr>
          <p:cNvPr id="5" name="obj-132">
            <a:extLst>
              <a:ext uri="{FF2B5EF4-FFF2-40B4-BE49-F238E27FC236}">
                <a16:creationId xmlns:a16="http://schemas.microsoft.com/office/drawing/2014/main" id="{24681D7C-DDB5-47AE-A55A-B944214681B2}"/>
              </a:ext>
            </a:extLst>
          </p:cNvPr>
          <p:cNvSpPr>
            <a:spLocks noGrp="1"/>
          </p:cNvSpPr>
          <p:nvPr/>
        </p:nvSpPr>
        <p:spPr>
          <a:xfrm>
            <a:off x="609600" y="4019550"/>
            <a:ext cx="10668000" cy="619125"/>
          </a:xfrm>
          <a:prstGeom prst="rect">
            <a:avLst/>
          </a:prstGeom>
          <a:noFill/>
          <a:ln w="0">
            <a:noFill/>
            <a:prstDash val="solid"/>
          </a:ln>
        </p:spPr>
        <p:txBody>
          <a:bodyPr wrap="square" lIns="0" tIns="0" rIns="0" bIns="0">
            <a:noAutofit/>
          </a:bodyPr>
          <a:lstStyle>
            <a:defPPr>
              <a:defRPr sz="2325" b="0">
                <a:solidFill>
                  <a:srgbClr val="18343A"/>
                </a:solidFill>
                <a:latin typeface="Arial"/>
                <a:ea typeface="Arial"/>
                <a:cs typeface="Arial"/>
              </a:defRPr>
            </a:defPPr>
          </a:lstStyle>
          <a:p>
            <a:pPr>
              <a:defRPr sz="2325" b="0">
                <a:solidFill>
                  <a:srgbClr val="18343A"/>
                </a:solidFill>
                <a:latin typeface="Arial"/>
                <a:ea typeface="Arial"/>
                <a:cs typeface="Arial"/>
              </a:defRPr>
            </a:pPr>
            <a:r>
              <a:rPr sz="2325" b="0">
                <a:solidFill>
                  <a:srgbClr val="18343A"/>
                </a:solidFill>
                <a:latin typeface="Arial"/>
                <a:ea typeface="Arial"/>
                <a:cs typeface="Arial"/>
              </a:rPr>
              <a:t>2   ¿Qué cambia en el plate y qué sigue compartido?</a:t>
            </a:r>
          </a:p>
        </p:txBody>
      </p:sp>
      <p:sp>
        <p:nvSpPr>
          <p:cNvPr id="6" name="obj-133">
            <a:extLst>
              <a:ext uri="{FF2B5EF4-FFF2-40B4-BE49-F238E27FC236}">
                <a16:creationId xmlns:a16="http://schemas.microsoft.com/office/drawing/2014/main" id="{8DC197FB-2F35-45FA-97EF-A7EA71C920D0}"/>
              </a:ext>
            </a:extLst>
          </p:cNvPr>
          <p:cNvSpPr>
            <a:spLocks noGrp="1"/>
          </p:cNvSpPr>
          <p:nvPr/>
        </p:nvSpPr>
        <p:spPr>
          <a:xfrm>
            <a:off x="609600" y="4953000"/>
            <a:ext cx="10668000" cy="619125"/>
          </a:xfrm>
          <a:prstGeom prst="rect">
            <a:avLst/>
          </a:prstGeom>
          <a:noFill/>
          <a:ln w="0">
            <a:noFill/>
            <a:prstDash val="solid"/>
          </a:ln>
        </p:spPr>
        <p:txBody>
          <a:bodyPr wrap="square" lIns="0" tIns="0" rIns="0" bIns="0">
            <a:noAutofit/>
          </a:bodyPr>
          <a:lstStyle>
            <a:defPPr>
              <a:defRPr sz="2325" b="0">
                <a:solidFill>
                  <a:srgbClr val="18343A"/>
                </a:solidFill>
                <a:latin typeface="Arial"/>
                <a:ea typeface="Arial"/>
                <a:cs typeface="Arial"/>
              </a:defRPr>
            </a:defPPr>
          </a:lstStyle>
          <a:p>
            <a:pPr>
              <a:defRPr sz="2325" b="0">
                <a:solidFill>
                  <a:srgbClr val="18343A"/>
                </a:solidFill>
                <a:latin typeface="Arial"/>
                <a:ea typeface="Arial"/>
                <a:cs typeface="Arial"/>
              </a:defRPr>
            </a:pPr>
            <a:r>
              <a:rPr sz="2325" b="0">
                <a:solidFill>
                  <a:srgbClr val="18343A"/>
                </a:solidFill>
                <a:latin typeface="Arial"/>
                <a:ea typeface="Arial"/>
                <a:cs typeface="Arial"/>
              </a:rPr>
              <a:t>3   ¿Qué falta para evaluar una acción de manejo?</a:t>
            </a:r>
          </a:p>
        </p:txBody>
      </p:sp>
      <p:sp>
        <p:nvSpPr>
          <p:cNvPr id="7" name="obj-134">
            <a:extLst>
              <a:ext uri="{FF2B5EF4-FFF2-40B4-BE49-F238E27FC236}">
                <a16:creationId xmlns:a16="http://schemas.microsoft.com/office/drawing/2014/main" id="{842C30F1-9325-4BB2-8720-3FD78981ADC4}"/>
              </a:ext>
            </a:extLst>
          </p:cNvPr>
          <p:cNvSpPr>
            <a:spLocks noGrp="1"/>
          </p:cNvSpPr>
          <p:nvPr/>
        </p:nvSpPr>
        <p:spPr>
          <a:xfrm>
            <a:off x="609600" y="5972175"/>
            <a:ext cx="10668000" cy="381000"/>
          </a:xfrm>
          <a:prstGeom prst="rect">
            <a:avLst/>
          </a:prstGeom>
          <a:noFill/>
          <a:ln w="0">
            <a:noFill/>
            <a:prstDash val="solid"/>
          </a:ln>
        </p:spPr>
        <p:txBody>
          <a:bodyPr wrap="square" lIns="0" tIns="0" rIns="0" bIns="0">
            <a:noAutofit/>
          </a:bodyPr>
          <a:lstStyle>
            <a:defPPr>
              <a:defRPr sz="1725" b="0">
                <a:solidFill>
                  <a:srgbClr val="52656A"/>
                </a:solidFill>
                <a:latin typeface="Arial"/>
                <a:ea typeface="Arial"/>
                <a:cs typeface="Arial"/>
              </a:defRPr>
            </a:defPPr>
          </a:lstStyle>
          <a:p>
            <a:pPr>
              <a:defRPr sz="1725" b="0">
                <a:solidFill>
                  <a:srgbClr val="52656A"/>
                </a:solidFill>
                <a:latin typeface="Arial"/>
                <a:ea typeface="Arial"/>
                <a:cs typeface="Arial"/>
              </a:defRPr>
            </a:pPr>
            <a:r>
              <a:rPr sz="1725" b="0">
                <a:solidFill>
                  <a:srgbClr val="52656A"/>
                </a:solidFill>
                <a:latin typeface="Arial"/>
                <a:ea typeface="Arial"/>
                <a:cs typeface="Arial"/>
              </a:rPr>
              <a:t>Cinco minutos en parejas. Explicar una respuesta y conservar una pregunta abierta</a:t>
            </a:r>
          </a:p>
        </p:txBody>
      </p:sp>
    </p:spTree>
    <p:extLst>
      <p:ext uri="{BB962C8B-B14F-4D97-AF65-F5344CB8AC3E}">
        <p14:creationId xmlns:p14="http://schemas.microsoft.com/office/powerpoint/2010/main" val="20076546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6" name="obj-135">
            <a:extLst>
              <a:ext uri="{FF2B5EF4-FFF2-40B4-BE49-F238E27FC236}">
                <a16:creationId xmlns:a16="http://schemas.microsoft.com/office/drawing/2014/main" id="{60171F15-7D66-4D59-BE10-0FADB0C1966E}"/>
              </a:ext>
            </a:extLst>
          </p:cNvPr>
          <p:cNvSpPr>
            <a:spLocks noGrp="1"/>
          </p:cNvSpPr>
          <p:nvPr/>
        </p:nvSpPr>
        <p:spPr>
          <a:xfrm>
            <a:off x="609600" y="381000"/>
            <a:ext cx="10953750" cy="762000"/>
          </a:xfrm>
          <a:prstGeom prst="rect">
            <a:avLst/>
          </a:prstGeom>
          <a:noFill/>
          <a:ln w="0">
            <a:noFill/>
            <a:prstDash val="solid"/>
          </a:ln>
        </p:spPr>
        <p:txBody>
          <a:bodyPr wrap="square" lIns="0" tIns="0" rIns="0" bIns="0">
            <a:noAutofit/>
          </a:bodyPr>
          <a:lstStyle>
            <a:defPPr>
              <a:defRPr sz="3300" b="1">
                <a:solidFill>
                  <a:srgbClr val="18343A"/>
                </a:solidFill>
                <a:latin typeface="Arial"/>
                <a:ea typeface="Arial"/>
                <a:cs typeface="Arial"/>
              </a:defRPr>
            </a:defPPr>
          </a:lstStyle>
          <a:p>
            <a:pPr>
              <a:defRPr sz="3300" b="1">
                <a:solidFill>
                  <a:srgbClr val="18343A"/>
                </a:solidFill>
                <a:latin typeface="Arial"/>
                <a:ea typeface="Arial"/>
                <a:cs typeface="Arial"/>
              </a:defRPr>
            </a:pPr>
            <a:r>
              <a:rPr sz="3300" b="1">
                <a:solidFill>
                  <a:srgbClr val="18343A"/>
                </a:solidFill>
                <a:latin typeface="Arial"/>
                <a:ea typeface="Arial"/>
                <a:cs typeface="Arial"/>
              </a:rPr>
              <a:t>Una pregunta para el semillero</a:t>
            </a:r>
          </a:p>
        </p:txBody>
      </p:sp>
      <p:sp>
        <p:nvSpPr>
          <p:cNvPr id="2" name="obj-136">
            <a:extLst>
              <a:ext uri="{FF2B5EF4-FFF2-40B4-BE49-F238E27FC236}">
                <a16:creationId xmlns:a16="http://schemas.microsoft.com/office/drawing/2014/main" id="{2923FFFA-D0FE-456D-A3FC-651FA8F506D5}"/>
              </a:ext>
            </a:extLst>
          </p:cNvPr>
          <p:cNvSpPr>
            <a:spLocks noGrp="1"/>
          </p:cNvSpPr>
          <p:nvPr/>
        </p:nvSpPr>
        <p:spPr>
          <a:xfrm>
            <a:off x="11144250" y="6410325"/>
            <a:ext cx="428625" cy="247650"/>
          </a:xfrm>
          <a:prstGeom prst="rect">
            <a:avLst/>
          </a:prstGeom>
          <a:noFill/>
          <a:ln w="0">
            <a:noFill/>
            <a:prstDash val="solid"/>
          </a:ln>
        </p:spPr>
        <p:txBody>
          <a:bodyPr wrap="square" lIns="0" tIns="0" rIns="0" bIns="0">
            <a:noAutofit/>
          </a:bodyPr>
          <a:lstStyle>
            <a:defPPr>
              <a:defRPr sz="1350" b="0">
                <a:solidFill>
                  <a:srgbClr val="52656A"/>
                </a:solidFill>
                <a:latin typeface="Arial"/>
                <a:ea typeface="Arial"/>
                <a:cs typeface="Arial"/>
              </a:defRPr>
            </a:defPPr>
          </a:lstStyle>
          <a:p>
            <a:pPr>
              <a:defRPr sz="1350" b="0">
                <a:solidFill>
                  <a:srgbClr val="52656A"/>
                </a:solidFill>
                <a:latin typeface="Arial"/>
                <a:ea typeface="Arial"/>
                <a:cs typeface="Arial"/>
              </a:defRPr>
            </a:pPr>
            <a:r>
              <a:rPr sz="1350" b="0">
                <a:solidFill>
                  <a:srgbClr val="52656A"/>
                </a:solidFill>
                <a:latin typeface="Arial"/>
                <a:ea typeface="Arial"/>
                <a:cs typeface="Arial"/>
              </a:rPr>
              <a:t>17</a:t>
            </a:r>
          </a:p>
        </p:txBody>
      </p:sp>
      <p:sp>
        <p:nvSpPr>
          <p:cNvPr id="3" name="obj-137">
            <a:extLst>
              <a:ext uri="{FF2B5EF4-FFF2-40B4-BE49-F238E27FC236}">
                <a16:creationId xmlns:a16="http://schemas.microsoft.com/office/drawing/2014/main" id="{A6BAA34C-C686-429E-AF6F-F78184D31D8F}"/>
              </a:ext>
            </a:extLst>
          </p:cNvPr>
          <p:cNvSpPr>
            <a:spLocks noGrp="1"/>
          </p:cNvSpPr>
          <p:nvPr/>
        </p:nvSpPr>
        <p:spPr>
          <a:xfrm>
            <a:off x="609600" y="1771650"/>
            <a:ext cx="10572750" cy="1581150"/>
          </a:xfrm>
          <a:prstGeom prst="rect">
            <a:avLst/>
          </a:prstGeom>
          <a:noFill/>
          <a:ln w="0">
            <a:noFill/>
            <a:prstDash val="solid"/>
          </a:ln>
        </p:spPr>
        <p:txBody>
          <a:bodyPr wrap="square" lIns="0" tIns="0" rIns="0" bIns="0">
            <a:noAutofit/>
          </a:bodyPr>
          <a:lstStyle>
            <a:defPPr>
              <a:defRPr sz="4125" b="1">
                <a:solidFill>
                  <a:srgbClr val="73528C"/>
                </a:solidFill>
                <a:latin typeface="Arial"/>
                <a:ea typeface="Arial"/>
                <a:cs typeface="Arial"/>
              </a:defRPr>
            </a:defPPr>
          </a:lstStyle>
          <a:p>
            <a:pPr>
              <a:defRPr sz="4125" b="1">
                <a:solidFill>
                  <a:srgbClr val="73528C"/>
                </a:solidFill>
                <a:latin typeface="Arial"/>
                <a:ea typeface="Arial"/>
                <a:cs typeface="Arial"/>
              </a:defRPr>
            </a:pPr>
            <a:r>
              <a:rPr sz="4125" b="1">
                <a:solidFill>
                  <a:srgbClr val="73528C"/>
                </a:solidFill>
                <a:latin typeface="Arial"/>
                <a:ea typeface="Arial"/>
                <a:cs typeface="Arial"/>
              </a:rPr>
              <a:t>¿Qué propones explorar</a:t>
            </a:r>
          </a:p>
          <a:p>
            <a:pPr>
              <a:defRPr sz="4125" b="1">
                <a:solidFill>
                  <a:srgbClr val="73528C"/>
                </a:solidFill>
                <a:latin typeface="Arial"/>
                <a:ea typeface="Arial"/>
                <a:cs typeface="Arial"/>
              </a:defRPr>
            </a:pPr>
            <a:r>
              <a:rPr sz="4125" b="1">
                <a:solidFill>
                  <a:srgbClr val="73528C"/>
                </a:solidFill>
                <a:latin typeface="Arial"/>
                <a:ea typeface="Arial"/>
                <a:cs typeface="Arial"/>
              </a:rPr>
              <a:t>y por qué importa?</a:t>
            </a:r>
          </a:p>
        </p:txBody>
      </p:sp>
      <p:sp>
        <p:nvSpPr>
          <p:cNvPr id="4" name="obj-138">
            <a:extLst>
              <a:ext uri="{FF2B5EF4-FFF2-40B4-BE49-F238E27FC236}">
                <a16:creationId xmlns:a16="http://schemas.microsoft.com/office/drawing/2014/main" id="{8849947E-0E0E-41B1-A368-0C402E6E01D6}"/>
              </a:ext>
            </a:extLst>
          </p:cNvPr>
          <p:cNvSpPr>
            <a:spLocks noGrp="1"/>
          </p:cNvSpPr>
          <p:nvPr/>
        </p:nvSpPr>
        <p:spPr>
          <a:xfrm>
            <a:off x="609600" y="3895725"/>
            <a:ext cx="10477500" cy="1438275"/>
          </a:xfrm>
          <a:prstGeom prst="rect">
            <a:avLst/>
          </a:prstGeom>
          <a:noFill/>
          <a:ln w="0">
            <a:noFill/>
            <a:prstDash val="solid"/>
          </a:ln>
        </p:spPr>
        <p:txBody>
          <a:bodyPr wrap="square" lIns="0" tIns="0" rIns="0" bIns="0">
            <a:noAutofit/>
          </a:bodyPr>
          <a:lstStyle>
            <a:defPPr>
              <a:defRPr sz="2325" b="0">
                <a:solidFill>
                  <a:srgbClr val="18343A"/>
                </a:solidFill>
                <a:latin typeface="Arial"/>
                <a:ea typeface="Arial"/>
                <a:cs typeface="Arial"/>
              </a:defRPr>
            </a:defPPr>
          </a:lstStyle>
          <a:p>
            <a:pPr>
              <a:defRPr sz="2325" b="0">
                <a:solidFill>
                  <a:srgbClr val="18343A"/>
                </a:solidFill>
                <a:latin typeface="Arial"/>
                <a:ea typeface="Arial"/>
                <a:cs typeface="Arial"/>
              </a:defRPr>
            </a:pPr>
            <a:r>
              <a:rPr sz="2325" b="0">
                <a:solidFill>
                  <a:srgbClr val="18343A"/>
                </a:solidFill>
                <a:latin typeface="Arial"/>
                <a:ea typeface="Arial"/>
                <a:cs typeface="Arial"/>
              </a:rPr>
              <a:t>Una idea breve</a:t>
            </a:r>
          </a:p>
          <a:p>
            <a:pPr>
              <a:defRPr sz="2325" b="0">
                <a:solidFill>
                  <a:srgbClr val="18343A"/>
                </a:solidFill>
                <a:latin typeface="Arial"/>
                <a:ea typeface="Arial"/>
                <a:cs typeface="Arial"/>
              </a:defRPr>
            </a:pPr>
            <a:r>
              <a:rPr sz="2325" b="0">
                <a:solidFill>
                  <a:srgbClr val="18343A"/>
                </a:solidFill>
                <a:latin typeface="Arial"/>
                <a:ea typeface="Arial"/>
                <a:cs typeface="Arial"/>
              </a:rPr>
              <a:t>Un ejemplo, si ayuda</a:t>
            </a:r>
          </a:p>
          <a:p>
            <a:pPr>
              <a:defRPr sz="2325" b="0">
                <a:solidFill>
                  <a:srgbClr val="18343A"/>
                </a:solidFill>
                <a:latin typeface="Arial"/>
                <a:ea typeface="Arial"/>
                <a:cs typeface="Arial"/>
              </a:defRPr>
            </a:pPr>
            <a:r>
              <a:rPr sz="2325" b="0">
                <a:solidFill>
                  <a:srgbClr val="18343A"/>
                </a:solidFill>
                <a:latin typeface="Arial"/>
                <a:ea typeface="Arial"/>
                <a:cs typeface="Arial"/>
              </a:rPr>
              <a:t>Un siguiente paso posible</a:t>
            </a:r>
          </a:p>
        </p:txBody>
      </p:sp>
      <p:sp>
        <p:nvSpPr>
          <p:cNvPr id="5" name="obj-139">
            <a:extLst>
              <a:ext uri="{FF2B5EF4-FFF2-40B4-BE49-F238E27FC236}">
                <a16:creationId xmlns:a16="http://schemas.microsoft.com/office/drawing/2014/main" id="{9DEEFD22-413A-4848-9231-6154459B6DED}"/>
              </a:ext>
            </a:extLst>
          </p:cNvPr>
          <p:cNvSpPr>
            <a:spLocks noGrp="1"/>
          </p:cNvSpPr>
          <p:nvPr/>
        </p:nvSpPr>
        <p:spPr>
          <a:xfrm>
            <a:off x="609600" y="5972175"/>
            <a:ext cx="10668000" cy="381000"/>
          </a:xfrm>
          <a:prstGeom prst="rect">
            <a:avLst/>
          </a:prstGeom>
          <a:noFill/>
          <a:ln w="0">
            <a:noFill/>
            <a:prstDash val="solid"/>
          </a:ln>
        </p:spPr>
        <p:txBody>
          <a:bodyPr wrap="square" lIns="0" tIns="0" rIns="0" bIns="0">
            <a:noAutofit/>
          </a:bodyPr>
          <a:lstStyle>
            <a:defPPr>
              <a:defRPr sz="1725" b="0">
                <a:solidFill>
                  <a:srgbClr val="52656A"/>
                </a:solidFill>
                <a:latin typeface="Arial"/>
                <a:ea typeface="Arial"/>
                <a:cs typeface="Arial"/>
              </a:defRPr>
            </a:defPPr>
          </a:lstStyle>
          <a:p>
            <a:pPr>
              <a:defRPr sz="1725" b="0">
                <a:solidFill>
                  <a:srgbClr val="52656A"/>
                </a:solidFill>
                <a:latin typeface="Arial"/>
                <a:ea typeface="Arial"/>
                <a:cs typeface="Arial"/>
              </a:defRPr>
            </a:pPr>
            <a:r>
              <a:rPr sz="1725" b="0">
                <a:solidFill>
                  <a:srgbClr val="52656A"/>
                </a:solidFill>
                <a:latin typeface="Arial"/>
                <a:ea typeface="Arial"/>
                <a:cs typeface="Arial"/>
              </a:rPr>
              <a:t>Semillero del blog: fichas de hasta una página, con valoración del revisor y del didacta</a:t>
            </a:r>
          </a:p>
        </p:txBody>
      </p:sp>
    </p:spTree>
    <p:extLst>
      <p:ext uri="{BB962C8B-B14F-4D97-AF65-F5344CB8AC3E}">
        <p14:creationId xmlns:p14="http://schemas.microsoft.com/office/powerpoint/2010/main" val="571246939"/>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3771</Words>
  <Application>Microsoft Office PowerPoint</Application>
  <DocSecurity>0</DocSecurity>
  <PresentationFormat>Panorámica</PresentationFormat>
  <Paragraphs>234</Paragraphs>
  <Slides>17</Slides>
  <Notes>16</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16</vt:i4>
      </vt:variant>
    </vt:vector>
  </HeadingPairs>
  <TitlesOfParts>
    <vt:vector size="19" baseType="lpstr">
      <vt:lpstr>Aptos</vt:lpstr>
      <vt:lpstr>Arial</vt:lpstr>
      <vt:lpstr>ChatGPT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Miguel Eq</cp:lastModifiedBy>
  <cp:revision>2</cp:revision>
  <dcterms:created xsi:type="dcterms:W3CDTF">2026-10-10T01:14:19Z</dcterms:created>
  <dcterms:modified xsi:type="dcterms:W3CDTF">2026-10-13T02:07:26Z</dcterms:modified>
</cp:coreProperties>
</file>